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(10 s). Good morning. We studied what simple, explainable image statistics really measure when they separate real photographs from AI-generated images. Our title is our answer: the same score can tell very different stories.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(35 s). Simple features such as edge strength or spectral band energy are popular for spotting AI images because they are cheap and explainable. We used GenImage, a standard benchmark. Look at how its images arrive: real photos are JPEGs of varying size, and each generator gives PNGs of one fixed size: 128 pixels for BigGAN, 256 for ADM, 512 for Stable Diffusion. A classifier that only reads format and size already separates the classes perfectly. So a fair study must give every image the same size and format. But that means BigGAN is enlarged two times, Stable Diffusion is halved, and real photos are shrunk to about two thirds.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(30 s). Our question: with the same processing for both classes and a strict split, which simple feature set works best? We compare three sets: seven pixel-pattern features, seven frequency features, and all fourteen combined, each with the same simple classifier. Then we stress them in two realistic ways: JPEG compression applied equally to both classes, and a generator the classifier has never seen. Our goal is to measure what the features detect, not to build a new detector.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1 (45 s). This is our novelty. Earlier studies showed that whole detectors exploit format and size differences; one recent audit showed resizing changes the conclusions of training-free detectors. We go one level down, to fourteen named statistics, and we isolate the cause. When we give every image the same resampling history, the pooled score does not move, 0.796 before and 0.802 after. But per generator, results move by minus 0.17 to plus 0.30. Same score, different story. We can pin the cause down because the BigGAN images are pixel-identical in both versions; only the real photos changed. Member 2 will explain how we built the study.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(30 s). This is the pipeline we presented and had accepted, fixed before we processed any image. We sample 3,000 GenImage images, half real and half generated. Before splitting, we remove duplicates, near-copies and images with unusual colour profiles. Both classes then get exactly the same processing: 256 by 256 pixels, lossless PNG. From that we make three conditions: clean, JPEG at three qualities, and one deliberately unfair control. Every image group stays on one side of the split, and all experiments share one locked test set of 600 images.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(30 s). Each image becomes fourteen numbers. The pixel arm, in blue, looks at brightness statistics, edge strength from the Sobel gradient, fine detail from the Laplacian, and a high-pass residual. The frequency arm, in orange, looks at the power spectrum: how energy splits between low, mid and high bands, the top band near the Nyquist limit, the slope of the fall-off, directionality, and single peaks. The bottom row is the classifier: one L2 logistic regression for every arm, tuned on validation data only, and scored by AUROC with confidence intervals.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(30 s). Each experiment answers one question. E1: is there any signal on clean images? E2 is the unfair control where only the reals are compressed. E3 compresses both classes equally; top right you see the same patch at each JPEG quality. E4 removes Stable Diffusion from training to test an unseen generator, and E5 adds JPEG on top; that was our planned headline. R, in red, is a diagnostic we added after the results: every image is cropped at native size and enlarged by the same factor, so all images share one resampling history.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2 (45 s). Here are the results of the accepted pipeline. The combined set has the best pooled score, 0.793, and stays best in every experiment. On the unseen generator under JPEG it reaches 0.629. JPEG compression barely changes the scores, and the unseen generator costs about 0.08. The controls on the right pass: guessing, processed-file history and shuffled labels are at chance, while the original file facts separate perfectly, which is why identical processing matters. But look at the BigGAN column: almost perfect, 0.997 with frequency features, while the two diffusion generators stay between 0.58 and 0.71. Why is BigGAN so easy? Member 3 will show you.</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3 (30 s). This is the mechanism. The plot shows how much energy each class has at each spatial frequency. On the left, the accepted pipeline: BigGAN, in red, drops sharply in the high band, because it is the only class our resize enlarged, and bicubic enlargement cannot create fine detail. So high-frequency features find BigGAN almost perfectly, but they are detecting our resize, not the generator. On the right, every image gets the same resampling, and the three generators collapse onto one curve.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3 (35 s). Now the test. Open circles are the accepted pipeline, filled circles are the same-resampling version, on the same 599 test images. The pooled score does not move: 0.796 to 0.802. But BigGAN falls from 1.000 to 0.828 with frequency features, even though its images did not change at all. Stable Diffusion rises, and on the unseen generator the pixel arm goes from chance to 0.771. On the right, the features that found BigGAN almost perfectly lose most of that power. Resampling explains the near-perfect BigGAN result, though not all of it: the spectral slope still separates.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3 (30 s). This chart compares all changes side by side. JPEG moves scores within about 0.1, removing a generator spreads them over 0.22, and changing only the resampling spreads them over 0.40. It even changes which feature family looks stronger: frequency beats pixel under the accepted resize, but the difference disappears with matched resampling. One practical warning from JPEG: the ranking barely changes, but a clean pixel model flags more than half of the compressed real photos as fake.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3 (25 s). Our claims are bounded, and each limitation points to a planned extension. The resampling test was added after the results and also narrows the field of view, so next we would fix a native-resolution protocol in advance. We held out only one generator, the content of real and fake images is not matched, and we used one JPEG encoder, one dataset and one split. Each arrow is the step that removes that limitation.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MEMBER 3 (10 s). To conclude: combined features scored best, but a pooled score cannot tell you what simple features detect. Report the resampling history and report per generator. Thank you;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p:spPr>
        <p:txBody>
          <a:bodyPr rtlCol="0" anchor="ctr"/>
          <a:lstStyle/>
          <a:p>
            <a:pPr algn="ctr"/>
          </a:p>
        </p:txBody>
      </p:sp>
      <p:sp>
        <p:nvSpPr>
          <p:cNvPr id="3" name="TextBox 2"/>
          <p:cNvSpPr txBox="1"/>
          <p:nvPr/>
        </p:nvSpPr>
        <p:spPr>
          <a:xfrm>
            <a:off x="548640" y="1463040"/>
            <a:ext cx="10972800" cy="914400"/>
          </a:xfrm>
          <a:prstGeom prst="rect">
            <a:avLst/>
          </a:prstGeom>
          <a:noFill/>
        </p:spPr>
        <p:txBody>
          <a:bodyPr wrap="square" lIns="0" rIns="0" tIns="0" bIns="0">
            <a:spAutoFit/>
          </a:bodyPr>
          <a:lstStyle/>
          <a:p>
            <a:pPr algn="l"/>
            <a:r>
              <a:rPr sz="4800" b="1" i="0">
                <a:solidFill>
                  <a:srgbClr val="FFFFFF"/>
                </a:solidFill>
                <a:latin typeface="Georgia"/>
              </a:rPr>
              <a:t>Same score, different story</a:t>
            </a:r>
          </a:p>
        </p:txBody>
      </p:sp>
      <p:sp>
        <p:nvSpPr>
          <p:cNvPr id="4" name="TextBox 3"/>
          <p:cNvSpPr txBox="1"/>
          <p:nvPr/>
        </p:nvSpPr>
        <p:spPr>
          <a:xfrm>
            <a:off x="548640" y="2514600"/>
            <a:ext cx="10972800" cy="1005840"/>
          </a:xfrm>
          <a:prstGeom prst="rect">
            <a:avLst/>
          </a:prstGeom>
          <a:noFill/>
        </p:spPr>
        <p:txBody>
          <a:bodyPr wrap="square" lIns="0" rIns="0" tIns="0" bIns="0">
            <a:spAutoFit/>
          </a:bodyPr>
          <a:lstStyle/>
          <a:p>
            <a:pPr algn="l">
              <a:lnSpc>
                <a:spcPct val="110000"/>
              </a:lnSpc>
            </a:pPr>
            <a:r>
              <a:rPr sz="2200" b="0" i="0">
                <a:solidFill>
                  <a:srgbClr val="ABB7C4"/>
                </a:solidFill>
                <a:latin typeface="Arial"/>
              </a:rPr>
              <a:t>How resampling history shapes what spatial-frequency features</a:t>
            </a:r>
          </a:p>
          <a:p>
            <a:pPr algn="l">
              <a:lnSpc>
                <a:spcPct val="110000"/>
              </a:lnSpc>
            </a:pPr>
            <a:r>
              <a:rPr sz="2200" b="0" i="0">
                <a:solidFill>
                  <a:srgbClr val="ABB7C4"/>
                </a:solidFill>
                <a:latin typeface="Arial"/>
              </a:rPr>
              <a:t>detect in AI-generated images</a:t>
            </a:r>
          </a:p>
        </p:txBody>
      </p:sp>
      <p:sp>
        <p:nvSpPr>
          <p:cNvPr id="5" name="TextBox 4"/>
          <p:cNvSpPr txBox="1"/>
          <p:nvPr/>
        </p:nvSpPr>
        <p:spPr>
          <a:xfrm>
            <a:off x="548640" y="4892040"/>
            <a:ext cx="10972800" cy="1097280"/>
          </a:xfrm>
          <a:prstGeom prst="rect">
            <a:avLst/>
          </a:prstGeom>
          <a:noFill/>
        </p:spPr>
        <p:txBody>
          <a:bodyPr wrap="square" lIns="0" rIns="0" tIns="0" bIns="0">
            <a:spAutoFit/>
          </a:bodyPr>
          <a:lstStyle/>
          <a:p>
            <a:pPr algn="l">
              <a:lnSpc>
                <a:spcPct val="135000"/>
              </a:lnSpc>
            </a:pPr>
            <a:r>
              <a:rPr sz="1500" b="0" i="0">
                <a:solidFill>
                  <a:srgbClr val="ABB7C4"/>
                </a:solidFill>
                <a:latin typeface="Arial"/>
              </a:rPr>
              <a:t>CSE 4883 Digital Image Processing  ·  final presentation</a:t>
            </a:r>
          </a:p>
          <a:p>
            <a:pPr algn="l">
              <a:lnSpc>
                <a:spcPct val="135000"/>
              </a:lnSpc>
            </a:pPr>
            <a:r>
              <a:rPr sz="1500" b="0" i="0">
                <a:solidFill>
                  <a:srgbClr val="ABB7C4"/>
                </a:solidFill>
                <a:latin typeface="Arial"/>
              </a:rPr>
              <a:t>Member 1  ·  Member 2  ·  Member 3</a:t>
            </a:r>
          </a:p>
        </p:txBody>
      </p:sp>
      <p:sp>
        <p:nvSpPr>
          <p:cNvPr id="6" name="TextBox 5"/>
          <p:cNvSpPr txBox="1"/>
          <p:nvPr/>
        </p:nvSpPr>
        <p:spPr>
          <a:xfrm>
            <a:off x="548640" y="5989320"/>
            <a:ext cx="10972800" cy="365760"/>
          </a:xfrm>
          <a:prstGeom prst="rect">
            <a:avLst/>
          </a:prstGeom>
          <a:noFill/>
        </p:spPr>
        <p:txBody>
          <a:bodyPr wrap="square" lIns="0" rIns="0" tIns="0" bIns="0">
            <a:spAutoFit/>
          </a:bodyPr>
          <a:lstStyle/>
          <a:p>
            <a:pPr algn="l"/>
            <a:r>
              <a:rPr sz="1100" b="0" i="0">
                <a:solidFill>
                  <a:srgbClr val="ABB7C4"/>
                </a:solidFill>
                <a:latin typeface="Arial"/>
              </a:rPr>
              <a:t>Introduction   ·   Novelty   ·   Methodology   ·   Experiments   ·   Results   ·   Limitations   ·   Future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1" i="0">
                <a:solidFill>
                  <a:srgbClr val="B2182B"/>
                </a:solidFill>
                <a:latin typeface="Arial"/>
              </a:rPr>
              <a:t>INTRODUCTION</a:t>
            </a:r>
          </a:p>
        </p:txBody>
      </p:sp>
      <p:sp>
        <p:nvSpPr>
          <p:cNvPr id="3" name="Rectangle 2"/>
          <p:cNvSpPr/>
          <p:nvPr/>
        </p:nvSpPr>
        <p:spPr>
          <a:xfrm>
            <a:off x="777240" y="548640"/>
            <a:ext cx="1127716" cy="28575"/>
          </a:xfrm>
          <a:prstGeom prst="rect">
            <a:avLst/>
          </a:prstGeom>
          <a:solidFill>
            <a:srgbClr val="B2182B"/>
          </a:solidFill>
          <a:ln>
            <a:noFill/>
          </a:ln>
        </p:spPr>
        <p:txBody>
          <a:bodyPr rtlCol="0" anchor="ctr"/>
          <a:lstStyle/>
          <a:p>
            <a:pPr algn="ctr"/>
          </a:p>
        </p:txBody>
      </p:sp>
      <p:sp>
        <p:nvSpPr>
          <p:cNvPr id="4" name="TextBox 3"/>
          <p:cNvSpPr txBox="1"/>
          <p:nvPr/>
        </p:nvSpPr>
        <p:spPr>
          <a:xfrm>
            <a:off x="2133556" y="256032"/>
            <a:ext cx="1584916" cy="274320"/>
          </a:xfrm>
          <a:prstGeom prst="rect">
            <a:avLst/>
          </a:prstGeom>
          <a:noFill/>
        </p:spPr>
        <p:txBody>
          <a:bodyPr wrap="square" lIns="0" rIns="0" tIns="0" bIns="0">
            <a:spAutoFit/>
          </a:bodyPr>
          <a:lstStyle/>
          <a:p>
            <a:pPr algn="ctr"/>
            <a:r>
              <a:rPr sz="1050" b="0" i="0">
                <a:solidFill>
                  <a:srgbClr val="5D6D7E"/>
                </a:solidFill>
                <a:latin typeface="Arial"/>
              </a:rPr>
              <a:t>NOVELTY</a:t>
            </a:r>
          </a:p>
        </p:txBody>
      </p:sp>
      <p:sp>
        <p:nvSpPr>
          <p:cNvPr id="5" name="TextBox 4"/>
          <p:cNvSpPr txBox="1"/>
          <p:nvPr/>
        </p:nvSpPr>
        <p:spPr>
          <a:xfrm>
            <a:off x="3718472" y="256032"/>
            <a:ext cx="1584916" cy="274320"/>
          </a:xfrm>
          <a:prstGeom prst="rect">
            <a:avLst/>
          </a:prstGeom>
          <a:noFill/>
        </p:spPr>
        <p:txBody>
          <a:bodyPr wrap="square" lIns="0" rIns="0" tIns="0" bIns="0">
            <a:spAutoFit/>
          </a:bodyPr>
          <a:lstStyle/>
          <a:p>
            <a:pPr algn="ctr"/>
            <a:r>
              <a:rPr sz="1050" b="0" i="0">
                <a:solidFill>
                  <a:srgbClr val="5D6D7E"/>
                </a:solidFill>
                <a:latin typeface="Arial"/>
              </a:rPr>
              <a:t>METHODOLOGY</a:t>
            </a:r>
          </a:p>
        </p:txBody>
      </p:sp>
      <p:sp>
        <p:nvSpPr>
          <p:cNvPr id="6" name="TextBox 5"/>
          <p:cNvSpPr txBox="1"/>
          <p:nvPr/>
        </p:nvSpPr>
        <p:spPr>
          <a:xfrm>
            <a:off x="5303389" y="256032"/>
            <a:ext cx="1584916" cy="274320"/>
          </a:xfrm>
          <a:prstGeom prst="rect">
            <a:avLst/>
          </a:prstGeom>
          <a:noFill/>
        </p:spPr>
        <p:txBody>
          <a:bodyPr wrap="square" lIns="0" rIns="0" tIns="0" bIns="0">
            <a:spAutoFit/>
          </a:bodyPr>
          <a:lstStyle/>
          <a:p>
            <a:pPr algn="ctr"/>
            <a:r>
              <a:rPr sz="1050" b="0" i="0">
                <a:solidFill>
                  <a:srgbClr val="5D6D7E"/>
                </a:solidFill>
                <a:latin typeface="Arial"/>
              </a:rPr>
              <a:t>EXPERIMENTS</a:t>
            </a:r>
          </a:p>
        </p:txBody>
      </p:sp>
      <p:sp>
        <p:nvSpPr>
          <p:cNvPr id="7" name="TextBox 6"/>
          <p:cNvSpPr txBox="1"/>
          <p:nvPr/>
        </p:nvSpPr>
        <p:spPr>
          <a:xfrm>
            <a:off x="6888305" y="256032"/>
            <a:ext cx="1584916" cy="274320"/>
          </a:xfrm>
          <a:prstGeom prst="rect">
            <a:avLst/>
          </a:prstGeom>
          <a:noFill/>
        </p:spPr>
        <p:txBody>
          <a:bodyPr wrap="square" lIns="0" rIns="0" tIns="0" bIns="0">
            <a:spAutoFit/>
          </a:bodyPr>
          <a:lstStyle/>
          <a:p>
            <a:pPr algn="ctr"/>
            <a:r>
              <a:rPr sz="1050" b="0" i="0">
                <a:solidFill>
                  <a:srgbClr val="5D6D7E"/>
                </a:solidFill>
                <a:latin typeface="Arial"/>
              </a:rPr>
              <a:t>RESULTS</a:t>
            </a:r>
          </a:p>
        </p:txBody>
      </p:sp>
      <p:sp>
        <p:nvSpPr>
          <p:cNvPr id="8" name="TextBox 7"/>
          <p:cNvSpPr txBox="1"/>
          <p:nvPr/>
        </p:nvSpPr>
        <p:spPr>
          <a:xfrm>
            <a:off x="8473222" y="256032"/>
            <a:ext cx="1584916" cy="274320"/>
          </a:xfrm>
          <a:prstGeom prst="rect">
            <a:avLst/>
          </a:prstGeom>
          <a:noFill/>
        </p:spPr>
        <p:txBody>
          <a:bodyPr wrap="square" lIns="0" rIns="0" tIns="0" bIns="0">
            <a:spAutoFit/>
          </a:bodyPr>
          <a:lstStyle/>
          <a:p>
            <a:pPr algn="ctr"/>
            <a:r>
              <a:rPr sz="1050" b="0" i="0">
                <a:solidFill>
                  <a:srgbClr val="5D6D7E"/>
                </a:solidFill>
                <a:latin typeface="Arial"/>
              </a:rPr>
              <a:t>LIMITATIONS</a:t>
            </a: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0" i="0">
                <a:solidFill>
                  <a:srgbClr val="5D6D7E"/>
                </a:solidFill>
                <a:latin typeface="Arial"/>
              </a:rPr>
              <a:t>FUTURE</a:t>
            </a:r>
          </a:p>
        </p:txBody>
      </p:sp>
      <p:sp>
        <p:nvSpPr>
          <p:cNvPr id="10" name="Rectangle 9"/>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1" name="TextBox 10"/>
          <p:cNvSpPr txBox="1"/>
          <p:nvPr/>
        </p:nvSpPr>
        <p:spPr>
          <a:xfrm>
            <a:off x="548640" y="713232"/>
            <a:ext cx="9418320" cy="548640"/>
          </a:xfrm>
          <a:prstGeom prst="rect">
            <a:avLst/>
          </a:prstGeom>
          <a:noFill/>
        </p:spPr>
        <p:txBody>
          <a:bodyPr wrap="square" lIns="0" rIns="0" tIns="0" bIns="0">
            <a:spAutoFit/>
          </a:bodyPr>
          <a:lstStyle/>
          <a:p>
            <a:pPr algn="l"/>
            <a:r>
              <a:rPr sz="2700" b="1" i="0">
                <a:solidFill>
                  <a:srgbClr val="1F3A5F"/>
                </a:solidFill>
                <a:latin typeface="Georgia"/>
              </a:rPr>
              <a:t>Real and fake images arrive differently</a:t>
            </a:r>
          </a:p>
        </p:txBody>
      </p:sp>
      <p:sp>
        <p:nvSpPr>
          <p:cNvPr id="12" name="TextBox 11"/>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1</a:t>
            </a:r>
          </a:p>
        </p:txBody>
      </p:sp>
      <p:pic>
        <p:nvPicPr>
          <p:cNvPr id="13" name="Picture 12" descr="classes_at_native_scale.png"/>
          <p:cNvPicPr>
            <a:picLocks noChangeAspect="1"/>
          </p:cNvPicPr>
          <p:nvPr/>
        </p:nvPicPr>
        <p:blipFill>
          <a:blip r:embed="rId2"/>
          <a:stretch>
            <a:fillRect/>
          </a:stretch>
        </p:blipFill>
        <p:spPr>
          <a:xfrm>
            <a:off x="1097280" y="1391827"/>
            <a:ext cx="9997135" cy="4120065"/>
          </a:xfrm>
          <a:prstGeom prst="rect">
            <a:avLst/>
          </a:prstGeom>
          <a:ln w="9525">
            <a:solidFill>
              <a:srgbClr val="D5DBDB"/>
            </a:solidFill>
          </a:ln>
        </p:spPr>
      </p:pic>
      <p:sp>
        <p:nvSpPr>
          <p:cNvPr id="14" name="TextBox 13"/>
          <p:cNvSpPr txBox="1"/>
          <p:nvPr/>
        </p:nvSpPr>
        <p:spPr>
          <a:xfrm>
            <a:off x="548640" y="5669280"/>
            <a:ext cx="11094415" cy="731520"/>
          </a:xfrm>
          <a:prstGeom prst="rect">
            <a:avLst/>
          </a:prstGeom>
          <a:noFill/>
        </p:spPr>
        <p:txBody>
          <a:bodyPr wrap="square" lIns="0" rIns="0" tIns="0" bIns="0">
            <a:spAutoFit/>
          </a:bodyPr>
          <a:lstStyle/>
          <a:p>
            <a:pPr algn="ctr">
              <a:lnSpc>
                <a:spcPct val="120000"/>
              </a:lnSpc>
            </a:pPr>
            <a:r>
              <a:rPr sz="1700" b="0">
                <a:solidFill>
                  <a:srgbClr val="1C2833"/>
                </a:solidFill>
                <a:latin typeface="Arial"/>
              </a:rPr>
              <a:t>File format and size alone separate the classes (AUROC </a:t>
            </a:r>
            <a:r>
              <a:rPr sz="1700" b="1">
                <a:solidFill>
                  <a:srgbClr val="B2182B"/>
                </a:solidFill>
                <a:latin typeface="Arial"/>
              </a:rPr>
              <a:t>1.000</a:t>
            </a:r>
            <a:r>
              <a:rPr sz="1700" b="0">
                <a:solidFill>
                  <a:srgbClr val="1C2833"/>
                </a:solidFill>
                <a:latin typeface="Arial"/>
              </a:rPr>
              <a:t>). A fair pipeline gives every image 256 × 256 px, but </a:t>
            </a:r>
            <a:r>
              <a:rPr sz="1700" b="1">
                <a:solidFill>
                  <a:srgbClr val="B2182B"/>
                </a:solidFill>
                <a:latin typeface="Arial"/>
              </a:rPr>
              <a:t>each class is resized by a different factor.</a:t>
            </a:r>
          </a:p>
        </p:txBody>
      </p:sp>
      <p:sp>
        <p:nvSpPr>
          <p:cNvPr id="15" name="TextBox 14"/>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16" name="TextBox 15"/>
          <p:cNvSpPr txBox="1"/>
          <p:nvPr/>
        </p:nvSpPr>
        <p:spPr>
          <a:xfrm>
            <a:off x="10362895" y="6510528"/>
            <a:ext cx="1280160" cy="237744"/>
          </a:xfrm>
          <a:prstGeom prst="rect">
            <a:avLst/>
          </a:prstGeom>
          <a:noFill/>
        </p:spPr>
        <p:txBody>
          <a:bodyPr wrap="square" lIns="0" rIns="0" tIns="0" bIns="0">
            <a:spAutoFit/>
          </a:bodyPr>
          <a:lstStyle/>
          <a:p>
            <a:pPr algn="r"/>
            <a:r>
              <a:rPr sz="1000" b="0" i="0">
                <a:solidFill>
                  <a:srgbClr val="5D6D7E"/>
                </a:solidFill>
                <a:latin typeface="Arial"/>
              </a:rPr>
              <a:t>2 / 13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1" i="0">
                <a:solidFill>
                  <a:srgbClr val="B2182B"/>
                </a:solidFill>
                <a:latin typeface="Arial"/>
              </a:rPr>
              <a:t>INTRODUCTION</a:t>
            </a:r>
          </a:p>
        </p:txBody>
      </p:sp>
      <p:sp>
        <p:nvSpPr>
          <p:cNvPr id="3" name="Rectangle 2"/>
          <p:cNvSpPr/>
          <p:nvPr/>
        </p:nvSpPr>
        <p:spPr>
          <a:xfrm>
            <a:off x="777240" y="548640"/>
            <a:ext cx="1127716" cy="28575"/>
          </a:xfrm>
          <a:prstGeom prst="rect">
            <a:avLst/>
          </a:prstGeom>
          <a:solidFill>
            <a:srgbClr val="B2182B"/>
          </a:solidFill>
          <a:ln>
            <a:noFill/>
          </a:ln>
        </p:spPr>
        <p:txBody>
          <a:bodyPr rtlCol="0" anchor="ctr"/>
          <a:lstStyle/>
          <a:p>
            <a:pPr algn="ctr"/>
          </a:p>
        </p:txBody>
      </p:sp>
      <p:sp>
        <p:nvSpPr>
          <p:cNvPr id="4" name="TextBox 3"/>
          <p:cNvSpPr txBox="1"/>
          <p:nvPr/>
        </p:nvSpPr>
        <p:spPr>
          <a:xfrm>
            <a:off x="2133556" y="256032"/>
            <a:ext cx="1584916" cy="274320"/>
          </a:xfrm>
          <a:prstGeom prst="rect">
            <a:avLst/>
          </a:prstGeom>
          <a:noFill/>
        </p:spPr>
        <p:txBody>
          <a:bodyPr wrap="square" lIns="0" rIns="0" tIns="0" bIns="0">
            <a:spAutoFit/>
          </a:bodyPr>
          <a:lstStyle/>
          <a:p>
            <a:pPr algn="ctr"/>
            <a:r>
              <a:rPr sz="1050" b="0" i="0">
                <a:solidFill>
                  <a:srgbClr val="5D6D7E"/>
                </a:solidFill>
                <a:latin typeface="Arial"/>
              </a:rPr>
              <a:t>NOVELTY</a:t>
            </a:r>
          </a:p>
        </p:txBody>
      </p:sp>
      <p:sp>
        <p:nvSpPr>
          <p:cNvPr id="5" name="TextBox 4"/>
          <p:cNvSpPr txBox="1"/>
          <p:nvPr/>
        </p:nvSpPr>
        <p:spPr>
          <a:xfrm>
            <a:off x="3718472" y="256032"/>
            <a:ext cx="1584916" cy="274320"/>
          </a:xfrm>
          <a:prstGeom prst="rect">
            <a:avLst/>
          </a:prstGeom>
          <a:noFill/>
        </p:spPr>
        <p:txBody>
          <a:bodyPr wrap="square" lIns="0" rIns="0" tIns="0" bIns="0">
            <a:spAutoFit/>
          </a:bodyPr>
          <a:lstStyle/>
          <a:p>
            <a:pPr algn="ctr"/>
            <a:r>
              <a:rPr sz="1050" b="0" i="0">
                <a:solidFill>
                  <a:srgbClr val="5D6D7E"/>
                </a:solidFill>
                <a:latin typeface="Arial"/>
              </a:rPr>
              <a:t>METHODOLOGY</a:t>
            </a:r>
          </a:p>
        </p:txBody>
      </p:sp>
      <p:sp>
        <p:nvSpPr>
          <p:cNvPr id="6" name="TextBox 5"/>
          <p:cNvSpPr txBox="1"/>
          <p:nvPr/>
        </p:nvSpPr>
        <p:spPr>
          <a:xfrm>
            <a:off x="5303389" y="256032"/>
            <a:ext cx="1584916" cy="274320"/>
          </a:xfrm>
          <a:prstGeom prst="rect">
            <a:avLst/>
          </a:prstGeom>
          <a:noFill/>
        </p:spPr>
        <p:txBody>
          <a:bodyPr wrap="square" lIns="0" rIns="0" tIns="0" bIns="0">
            <a:spAutoFit/>
          </a:bodyPr>
          <a:lstStyle/>
          <a:p>
            <a:pPr algn="ctr"/>
            <a:r>
              <a:rPr sz="1050" b="0" i="0">
                <a:solidFill>
                  <a:srgbClr val="5D6D7E"/>
                </a:solidFill>
                <a:latin typeface="Arial"/>
              </a:rPr>
              <a:t>EXPERIMENTS</a:t>
            </a:r>
          </a:p>
        </p:txBody>
      </p:sp>
      <p:sp>
        <p:nvSpPr>
          <p:cNvPr id="7" name="TextBox 6"/>
          <p:cNvSpPr txBox="1"/>
          <p:nvPr/>
        </p:nvSpPr>
        <p:spPr>
          <a:xfrm>
            <a:off x="6888305" y="256032"/>
            <a:ext cx="1584916" cy="274320"/>
          </a:xfrm>
          <a:prstGeom prst="rect">
            <a:avLst/>
          </a:prstGeom>
          <a:noFill/>
        </p:spPr>
        <p:txBody>
          <a:bodyPr wrap="square" lIns="0" rIns="0" tIns="0" bIns="0">
            <a:spAutoFit/>
          </a:bodyPr>
          <a:lstStyle/>
          <a:p>
            <a:pPr algn="ctr"/>
            <a:r>
              <a:rPr sz="1050" b="0" i="0">
                <a:solidFill>
                  <a:srgbClr val="5D6D7E"/>
                </a:solidFill>
                <a:latin typeface="Arial"/>
              </a:rPr>
              <a:t>RESULTS</a:t>
            </a:r>
          </a:p>
        </p:txBody>
      </p:sp>
      <p:sp>
        <p:nvSpPr>
          <p:cNvPr id="8" name="TextBox 7"/>
          <p:cNvSpPr txBox="1"/>
          <p:nvPr/>
        </p:nvSpPr>
        <p:spPr>
          <a:xfrm>
            <a:off x="8473222" y="256032"/>
            <a:ext cx="1584916" cy="274320"/>
          </a:xfrm>
          <a:prstGeom prst="rect">
            <a:avLst/>
          </a:prstGeom>
          <a:noFill/>
        </p:spPr>
        <p:txBody>
          <a:bodyPr wrap="square" lIns="0" rIns="0" tIns="0" bIns="0">
            <a:spAutoFit/>
          </a:bodyPr>
          <a:lstStyle/>
          <a:p>
            <a:pPr algn="ctr"/>
            <a:r>
              <a:rPr sz="1050" b="0" i="0">
                <a:solidFill>
                  <a:srgbClr val="5D6D7E"/>
                </a:solidFill>
                <a:latin typeface="Arial"/>
              </a:rPr>
              <a:t>LIMITATIONS</a:t>
            </a: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0" i="0">
                <a:solidFill>
                  <a:srgbClr val="5D6D7E"/>
                </a:solidFill>
                <a:latin typeface="Arial"/>
              </a:rPr>
              <a:t>FUTURE</a:t>
            </a:r>
          </a:p>
        </p:txBody>
      </p:sp>
      <p:sp>
        <p:nvSpPr>
          <p:cNvPr id="10" name="Rectangle 9"/>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1" name="TextBox 10"/>
          <p:cNvSpPr txBox="1"/>
          <p:nvPr/>
        </p:nvSpPr>
        <p:spPr>
          <a:xfrm>
            <a:off x="548640" y="713232"/>
            <a:ext cx="9418320" cy="548640"/>
          </a:xfrm>
          <a:prstGeom prst="rect">
            <a:avLst/>
          </a:prstGeom>
          <a:noFill/>
        </p:spPr>
        <p:txBody>
          <a:bodyPr wrap="square" lIns="0" rIns="0" tIns="0" bIns="0">
            <a:spAutoFit/>
          </a:bodyPr>
          <a:lstStyle/>
          <a:p>
            <a:pPr algn="l"/>
            <a:r>
              <a:rPr sz="2700" b="1" i="0">
                <a:solidFill>
                  <a:srgbClr val="1F3A5F"/>
                </a:solidFill>
                <a:latin typeface="Georgia"/>
              </a:rPr>
              <a:t>Our research question</a:t>
            </a:r>
          </a:p>
        </p:txBody>
      </p:sp>
      <p:sp>
        <p:nvSpPr>
          <p:cNvPr id="12" name="TextBox 11"/>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1</a:t>
            </a:r>
          </a:p>
        </p:txBody>
      </p:sp>
      <p:sp>
        <p:nvSpPr>
          <p:cNvPr id="13" name="Rounded Rectangle 12"/>
          <p:cNvSpPr/>
          <p:nvPr/>
        </p:nvSpPr>
        <p:spPr>
          <a:xfrm>
            <a:off x="2011680" y="1463040"/>
            <a:ext cx="8138160" cy="868680"/>
          </a:xfrm>
          <a:prstGeom prst="roundRect">
            <a:avLst>
              <a:gd name="adj" fmla="val 12000"/>
            </a:avLst>
          </a:prstGeom>
          <a:solidFill>
            <a:srgbClr val="F2F5F8"/>
          </a:solidFill>
          <a:ln w="12700">
            <a:solidFill>
              <a:srgbClr val="F2F5F8"/>
            </a:solidFill>
          </a:ln>
          <a:effectLst/>
        </p:spPr>
        <p:txBody>
          <a:bodyPr rtlCol="0" anchor="ctr" wrap="square" lIns="73152" rIns="73152" tIns="27432" bIns="27432"/>
          <a:lstStyle/>
          <a:p>
            <a:pPr algn="ctr"/>
            <a:r>
              <a:rPr sz="1800" b="1">
                <a:solidFill>
                  <a:srgbClr val="1F3A5F"/>
                </a:solidFill>
                <a:latin typeface="Arial"/>
              </a:rPr>
              <a:t>Which simple feature set separates real from AI-generated images best?</a:t>
            </a:r>
          </a:p>
          <a:p>
            <a:pPr algn="ctr"/>
            <a:r>
              <a:rPr sz="1300" b="0">
                <a:solidFill>
                  <a:srgbClr val="5D6D7E"/>
                </a:solidFill>
                <a:latin typeface="Arial"/>
              </a:rPr>
              <a:t>same processing for both classes  ·  strict split by image group</a:t>
            </a:r>
          </a:p>
        </p:txBody>
      </p:sp>
      <p:cxnSp>
        <p:nvCxnSpPr>
          <p:cNvPr id="14" name="Connector 13"/>
          <p:cNvCxnSpPr/>
          <p:nvPr/>
        </p:nvCxnSpPr>
        <p:spPr>
          <a:xfrm flipH="1">
            <a:off x="2606040" y="2331720"/>
            <a:ext cx="3474720" cy="457200"/>
          </a:xfrm>
          <a:prstGeom prst="line">
            <a:avLst/>
          </a:prstGeom>
          <a:ln w="22225">
            <a:solidFill>
              <a:srgbClr val="5D6D7E"/>
            </a:solidFill>
            <a:tailEnd type="triangle" w="med" len="med"/>
          </a:ln>
        </p:spPr>
      </p:cxnSp>
      <p:sp>
        <p:nvSpPr>
          <p:cNvPr id="15" name="Rounded Rectangle 14"/>
          <p:cNvSpPr/>
          <p:nvPr/>
        </p:nvSpPr>
        <p:spPr>
          <a:xfrm>
            <a:off x="1280160" y="2834640"/>
            <a:ext cx="2651760" cy="822960"/>
          </a:xfrm>
          <a:prstGeom prst="roundRect">
            <a:avLst>
              <a:gd name="adj" fmla="val 12000"/>
            </a:avLst>
          </a:prstGeom>
          <a:solidFill>
            <a:srgbClr val="FFFFFF"/>
          </a:solidFill>
          <a:ln w="25400">
            <a:solidFill>
              <a:srgbClr val="2A78D6"/>
            </a:solidFill>
          </a:ln>
          <a:effectLst/>
        </p:spPr>
        <p:txBody>
          <a:bodyPr rtlCol="0" anchor="ctr" wrap="square" lIns="73152" rIns="73152" tIns="27432" bIns="27432"/>
          <a:lstStyle/>
          <a:p>
            <a:pPr algn="ctr"/>
            <a:r>
              <a:rPr sz="1700" b="1">
                <a:solidFill>
                  <a:srgbClr val="1F63B8"/>
                </a:solidFill>
                <a:latin typeface="Arial"/>
              </a:rPr>
              <a:t>Pixel-pattern</a:t>
            </a:r>
          </a:p>
          <a:p>
            <a:pPr algn="ctr"/>
            <a:r>
              <a:rPr sz="1300" b="0">
                <a:solidFill>
                  <a:srgbClr val="5D6D7E"/>
                </a:solidFill>
                <a:latin typeface="Arial"/>
              </a:rPr>
              <a:t>7 features</a:t>
            </a:r>
          </a:p>
        </p:txBody>
      </p:sp>
      <p:cxnSp>
        <p:nvCxnSpPr>
          <p:cNvPr id="16" name="Connector 15"/>
          <p:cNvCxnSpPr/>
          <p:nvPr/>
        </p:nvCxnSpPr>
        <p:spPr>
          <a:xfrm>
            <a:off x="2606040" y="3657600"/>
            <a:ext cx="3474720" cy="411480"/>
          </a:xfrm>
          <a:prstGeom prst="line">
            <a:avLst/>
          </a:prstGeom>
          <a:ln w="22225">
            <a:solidFill>
              <a:srgbClr val="5D6D7E"/>
            </a:solidFill>
            <a:tailEnd type="triangle" w="med" len="med"/>
          </a:ln>
        </p:spPr>
      </p:cxnSp>
      <p:cxnSp>
        <p:nvCxnSpPr>
          <p:cNvPr id="17" name="Connector 16"/>
          <p:cNvCxnSpPr/>
          <p:nvPr/>
        </p:nvCxnSpPr>
        <p:spPr>
          <a:xfrm>
            <a:off x="6080760" y="2331720"/>
            <a:ext cx="0" cy="457200"/>
          </a:xfrm>
          <a:prstGeom prst="line">
            <a:avLst/>
          </a:prstGeom>
          <a:ln w="22225">
            <a:solidFill>
              <a:srgbClr val="5D6D7E"/>
            </a:solidFill>
            <a:tailEnd type="triangle" w="med" len="med"/>
          </a:ln>
        </p:spPr>
      </p:cxnSp>
      <p:sp>
        <p:nvSpPr>
          <p:cNvPr id="18" name="Rounded Rectangle 17"/>
          <p:cNvSpPr/>
          <p:nvPr/>
        </p:nvSpPr>
        <p:spPr>
          <a:xfrm>
            <a:off x="4754880" y="2834640"/>
            <a:ext cx="2651760" cy="822960"/>
          </a:xfrm>
          <a:prstGeom prst="roundRect">
            <a:avLst>
              <a:gd name="adj" fmla="val 12000"/>
            </a:avLst>
          </a:prstGeom>
          <a:solidFill>
            <a:srgbClr val="FFFFFF"/>
          </a:solidFill>
          <a:ln w="25400">
            <a:solidFill>
              <a:srgbClr val="EB6834"/>
            </a:solidFill>
          </a:ln>
          <a:effectLst/>
        </p:spPr>
        <p:txBody>
          <a:bodyPr rtlCol="0" anchor="ctr" wrap="square" lIns="73152" rIns="73152" tIns="27432" bIns="27432"/>
          <a:lstStyle/>
          <a:p>
            <a:pPr algn="ctr"/>
            <a:r>
              <a:rPr sz="1700" b="1">
                <a:solidFill>
                  <a:srgbClr val="B54819"/>
                </a:solidFill>
                <a:latin typeface="Arial"/>
              </a:rPr>
              <a:t>Frequency</a:t>
            </a:r>
          </a:p>
          <a:p>
            <a:pPr algn="ctr"/>
            <a:r>
              <a:rPr sz="1300" b="0">
                <a:solidFill>
                  <a:srgbClr val="5D6D7E"/>
                </a:solidFill>
                <a:latin typeface="Arial"/>
              </a:rPr>
              <a:t>7 features</a:t>
            </a:r>
          </a:p>
        </p:txBody>
      </p:sp>
      <p:cxnSp>
        <p:nvCxnSpPr>
          <p:cNvPr id="19" name="Connector 18"/>
          <p:cNvCxnSpPr/>
          <p:nvPr/>
        </p:nvCxnSpPr>
        <p:spPr>
          <a:xfrm>
            <a:off x="6080760" y="3657600"/>
            <a:ext cx="0" cy="411480"/>
          </a:xfrm>
          <a:prstGeom prst="line">
            <a:avLst/>
          </a:prstGeom>
          <a:ln w="22225">
            <a:solidFill>
              <a:srgbClr val="5D6D7E"/>
            </a:solidFill>
            <a:tailEnd type="triangle" w="med" len="med"/>
          </a:ln>
        </p:spPr>
      </p:cxnSp>
      <p:cxnSp>
        <p:nvCxnSpPr>
          <p:cNvPr id="20" name="Connector 19"/>
          <p:cNvCxnSpPr/>
          <p:nvPr/>
        </p:nvCxnSpPr>
        <p:spPr>
          <a:xfrm>
            <a:off x="6080760" y="2331720"/>
            <a:ext cx="3474720" cy="457200"/>
          </a:xfrm>
          <a:prstGeom prst="line">
            <a:avLst/>
          </a:prstGeom>
          <a:ln w="22225">
            <a:solidFill>
              <a:srgbClr val="5D6D7E"/>
            </a:solidFill>
            <a:tailEnd type="triangle" w="med" len="med"/>
          </a:ln>
        </p:spPr>
      </p:cxnSp>
      <p:sp>
        <p:nvSpPr>
          <p:cNvPr id="21" name="Rounded Rectangle 20"/>
          <p:cNvSpPr/>
          <p:nvPr/>
        </p:nvSpPr>
        <p:spPr>
          <a:xfrm>
            <a:off x="8229600" y="2834640"/>
            <a:ext cx="2651760" cy="822960"/>
          </a:xfrm>
          <a:prstGeom prst="roundRect">
            <a:avLst>
              <a:gd name="adj" fmla="val 12000"/>
            </a:avLst>
          </a:prstGeom>
          <a:solidFill>
            <a:srgbClr val="FFFFFF"/>
          </a:solidFill>
          <a:ln w="25400">
            <a:solidFill>
              <a:srgbClr val="1BAF7A"/>
            </a:solidFill>
          </a:ln>
          <a:effectLst/>
        </p:spPr>
        <p:txBody>
          <a:bodyPr rtlCol="0" anchor="ctr" wrap="square" lIns="73152" rIns="73152" tIns="27432" bIns="27432"/>
          <a:lstStyle/>
          <a:p>
            <a:pPr algn="ctr"/>
            <a:r>
              <a:rPr sz="1700" b="1">
                <a:solidFill>
                  <a:srgbClr val="0E7A53"/>
                </a:solidFill>
                <a:latin typeface="Arial"/>
              </a:rPr>
              <a:t>Combined</a:t>
            </a:r>
          </a:p>
          <a:p>
            <a:pPr algn="ctr"/>
            <a:r>
              <a:rPr sz="1300" b="0">
                <a:solidFill>
                  <a:srgbClr val="5D6D7E"/>
                </a:solidFill>
                <a:latin typeface="Arial"/>
              </a:rPr>
              <a:t>14 features</a:t>
            </a:r>
          </a:p>
        </p:txBody>
      </p:sp>
      <p:cxnSp>
        <p:nvCxnSpPr>
          <p:cNvPr id="22" name="Connector 21"/>
          <p:cNvCxnSpPr/>
          <p:nvPr/>
        </p:nvCxnSpPr>
        <p:spPr>
          <a:xfrm flipH="1">
            <a:off x="6080760" y="3657600"/>
            <a:ext cx="3474720" cy="411480"/>
          </a:xfrm>
          <a:prstGeom prst="line">
            <a:avLst/>
          </a:prstGeom>
          <a:ln w="22225">
            <a:solidFill>
              <a:srgbClr val="5D6D7E"/>
            </a:solidFill>
            <a:tailEnd type="triangle" w="med" len="med"/>
          </a:ln>
        </p:spPr>
      </p:cxnSp>
      <p:sp>
        <p:nvSpPr>
          <p:cNvPr id="23" name="Rounded Rectangle 22"/>
          <p:cNvSpPr/>
          <p:nvPr/>
        </p:nvSpPr>
        <p:spPr>
          <a:xfrm>
            <a:off x="4023360" y="4114800"/>
            <a:ext cx="4114800" cy="566928"/>
          </a:xfrm>
          <a:prstGeom prst="roundRect">
            <a:avLst>
              <a:gd name="adj" fmla="val 12000"/>
            </a:avLst>
          </a:prstGeom>
          <a:solidFill>
            <a:srgbClr val="F2F5F8"/>
          </a:solidFill>
          <a:ln w="12700">
            <a:solidFill>
              <a:srgbClr val="F2F5F8"/>
            </a:solidFill>
          </a:ln>
          <a:effectLst/>
        </p:spPr>
        <p:txBody>
          <a:bodyPr rtlCol="0" anchor="ctr" wrap="square" lIns="73152" rIns="73152" tIns="27432" bIns="27432"/>
          <a:lstStyle/>
          <a:p>
            <a:pPr algn="ctr"/>
            <a:r>
              <a:rPr sz="1400" b="1">
                <a:solidFill>
                  <a:srgbClr val="1C2833"/>
                </a:solidFill>
                <a:latin typeface="Arial"/>
              </a:rPr>
              <a:t>one simple classifier for all three</a:t>
            </a:r>
          </a:p>
        </p:txBody>
      </p:sp>
      <p:cxnSp>
        <p:nvCxnSpPr>
          <p:cNvPr id="24" name="Connector 23"/>
          <p:cNvCxnSpPr/>
          <p:nvPr/>
        </p:nvCxnSpPr>
        <p:spPr>
          <a:xfrm flipH="1">
            <a:off x="3291840" y="4681728"/>
            <a:ext cx="1828800" cy="438912"/>
          </a:xfrm>
          <a:prstGeom prst="line">
            <a:avLst/>
          </a:prstGeom>
          <a:ln w="22225">
            <a:solidFill>
              <a:srgbClr val="5D6D7E"/>
            </a:solidFill>
            <a:tailEnd type="triangle" w="med" len="med"/>
          </a:ln>
        </p:spPr>
      </p:cxnSp>
      <p:cxnSp>
        <p:nvCxnSpPr>
          <p:cNvPr id="25" name="Connector 24"/>
          <p:cNvCxnSpPr/>
          <p:nvPr/>
        </p:nvCxnSpPr>
        <p:spPr>
          <a:xfrm>
            <a:off x="7040880" y="4681728"/>
            <a:ext cx="1828800" cy="438912"/>
          </a:xfrm>
          <a:prstGeom prst="line">
            <a:avLst/>
          </a:prstGeom>
          <a:ln w="22225">
            <a:solidFill>
              <a:srgbClr val="5D6D7E"/>
            </a:solidFill>
            <a:tailEnd type="triangle" w="med" len="med"/>
          </a:ln>
        </p:spPr>
      </p:cxnSp>
      <p:sp>
        <p:nvSpPr>
          <p:cNvPr id="26" name="Rounded Rectangle 25"/>
          <p:cNvSpPr/>
          <p:nvPr/>
        </p:nvSpPr>
        <p:spPr>
          <a:xfrm>
            <a:off x="1280160" y="5138928"/>
            <a:ext cx="4023360" cy="822960"/>
          </a:xfrm>
          <a:prstGeom prst="roundRect">
            <a:avLst>
              <a:gd name="adj" fmla="val 12000"/>
            </a:avLst>
          </a:prstGeom>
          <a:solidFill>
            <a:srgbClr val="FFFFFF"/>
          </a:solidFill>
          <a:ln w="19050">
            <a:solidFill>
              <a:srgbClr val="1F3A5F"/>
            </a:solidFill>
          </a:ln>
          <a:effectLst/>
        </p:spPr>
        <p:txBody>
          <a:bodyPr rtlCol="0" anchor="ctr" wrap="square" lIns="73152" rIns="73152" tIns="27432" bIns="27432"/>
          <a:lstStyle/>
          <a:p>
            <a:pPr algn="ctr"/>
            <a:r>
              <a:rPr sz="1600" b="1">
                <a:solidFill>
                  <a:srgbClr val="1F3A5F"/>
                </a:solidFill>
                <a:latin typeface="Arial"/>
              </a:rPr>
              <a:t>Stress 1: matched JPEG</a:t>
            </a:r>
          </a:p>
          <a:p>
            <a:pPr algn="ctr"/>
            <a:r>
              <a:rPr sz="1300" b="0">
                <a:solidFill>
                  <a:srgbClr val="5D6D7E"/>
                </a:solidFill>
                <a:latin typeface="Arial"/>
              </a:rPr>
              <a:t>both classes at quality 90 / 75 / 50</a:t>
            </a:r>
          </a:p>
        </p:txBody>
      </p:sp>
      <p:sp>
        <p:nvSpPr>
          <p:cNvPr id="27" name="Rounded Rectangle 26"/>
          <p:cNvSpPr/>
          <p:nvPr/>
        </p:nvSpPr>
        <p:spPr>
          <a:xfrm>
            <a:off x="6858000" y="5138928"/>
            <a:ext cx="4023360" cy="822960"/>
          </a:xfrm>
          <a:prstGeom prst="roundRect">
            <a:avLst>
              <a:gd name="adj" fmla="val 12000"/>
            </a:avLst>
          </a:prstGeom>
          <a:solidFill>
            <a:srgbClr val="FFFFFF"/>
          </a:solidFill>
          <a:ln w="19050">
            <a:solidFill>
              <a:srgbClr val="1F3A5F"/>
            </a:solidFill>
          </a:ln>
          <a:effectLst/>
        </p:spPr>
        <p:txBody>
          <a:bodyPr rtlCol="0" anchor="ctr" wrap="square" lIns="73152" rIns="73152" tIns="27432" bIns="27432"/>
          <a:lstStyle/>
          <a:p>
            <a:pPr algn="ctr"/>
            <a:r>
              <a:rPr sz="1600" b="1">
                <a:solidFill>
                  <a:srgbClr val="1F3A5F"/>
                </a:solidFill>
                <a:latin typeface="Arial"/>
              </a:rPr>
              <a:t>Stress 2: unseen generator</a:t>
            </a:r>
          </a:p>
          <a:p>
            <a:pPr algn="ctr"/>
            <a:r>
              <a:rPr sz="1300" b="0">
                <a:solidFill>
                  <a:srgbClr val="5D6D7E"/>
                </a:solidFill>
                <a:latin typeface="Arial"/>
              </a:rPr>
              <a:t>SD v1.4 never seen in training</a:t>
            </a:r>
          </a:p>
        </p:txBody>
      </p:sp>
      <p:sp>
        <p:nvSpPr>
          <p:cNvPr id="28" name="TextBox 27"/>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29" name="TextBox 28"/>
          <p:cNvSpPr txBox="1"/>
          <p:nvPr/>
        </p:nvSpPr>
        <p:spPr>
          <a:xfrm>
            <a:off x="10362895" y="6510528"/>
            <a:ext cx="1280160" cy="237744"/>
          </a:xfrm>
          <a:prstGeom prst="rect">
            <a:avLst/>
          </a:prstGeom>
          <a:noFill/>
        </p:spPr>
        <p:txBody>
          <a:bodyPr wrap="square" lIns="0" rIns="0" tIns="0" bIns="0">
            <a:spAutoFit/>
          </a:bodyPr>
          <a:lstStyle/>
          <a:p>
            <a:pPr algn="r"/>
            <a:r>
              <a:rPr sz="1000" b="0" i="0">
                <a:solidFill>
                  <a:srgbClr val="5D6D7E"/>
                </a:solidFill>
                <a:latin typeface="Arial"/>
              </a:rPr>
              <a:t>3 /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EEF0"/>
          </a:solidFill>
          <a:ln>
            <a:noFill/>
          </a:ln>
        </p:spPr>
        <p:txBody>
          <a:bodyPr rtlCol="0" anchor="ctr"/>
          <a:lstStyle/>
          <a:p>
            <a:pPr algn="ctr"/>
          </a:p>
        </p:txBody>
      </p:sp>
      <p:sp>
        <p:nvSpPr>
          <p:cNvPr id="3" name="TextBox 2"/>
          <p:cNvSpPr txBox="1"/>
          <p:nvPr/>
        </p:nvSpPr>
        <p:spPr>
          <a:xfrm>
            <a:off x="548640" y="256032"/>
            <a:ext cx="1584916" cy="274320"/>
          </a:xfrm>
          <a:prstGeom prst="rect">
            <a:avLst/>
          </a:prstGeom>
          <a:noFill/>
        </p:spPr>
        <p:txBody>
          <a:bodyPr wrap="square" lIns="0" rIns="0" tIns="0" bIns="0">
            <a:spAutoFit/>
          </a:bodyPr>
          <a:lstStyle/>
          <a:p>
            <a:pPr algn="ctr"/>
            <a:r>
              <a:rPr sz="1050" b="0" i="0">
                <a:solidFill>
                  <a:srgbClr val="5D6D7E"/>
                </a:solidFill>
                <a:latin typeface="Arial"/>
              </a:rPr>
              <a:t>INTRODUCTION</a:t>
            </a:r>
          </a:p>
        </p:txBody>
      </p:sp>
      <p:sp>
        <p:nvSpPr>
          <p:cNvPr id="4" name="TextBox 3"/>
          <p:cNvSpPr txBox="1"/>
          <p:nvPr/>
        </p:nvSpPr>
        <p:spPr>
          <a:xfrm>
            <a:off x="2133556" y="256032"/>
            <a:ext cx="1584916" cy="274320"/>
          </a:xfrm>
          <a:prstGeom prst="rect">
            <a:avLst/>
          </a:prstGeom>
          <a:noFill/>
        </p:spPr>
        <p:txBody>
          <a:bodyPr wrap="square" lIns="0" rIns="0" tIns="0" bIns="0">
            <a:spAutoFit/>
          </a:bodyPr>
          <a:lstStyle/>
          <a:p>
            <a:pPr algn="ctr"/>
            <a:r>
              <a:rPr sz="1050" b="1" i="0">
                <a:solidFill>
                  <a:srgbClr val="B2182B"/>
                </a:solidFill>
                <a:latin typeface="Arial"/>
              </a:rPr>
              <a:t>NOVELTY</a:t>
            </a:r>
          </a:p>
        </p:txBody>
      </p:sp>
      <p:sp>
        <p:nvSpPr>
          <p:cNvPr id="5" name="Rectangle 4"/>
          <p:cNvSpPr/>
          <p:nvPr/>
        </p:nvSpPr>
        <p:spPr>
          <a:xfrm>
            <a:off x="2362156" y="548640"/>
            <a:ext cx="1127716" cy="28575"/>
          </a:xfrm>
          <a:prstGeom prst="rect">
            <a:avLst/>
          </a:prstGeom>
          <a:solidFill>
            <a:srgbClr val="B2182B"/>
          </a:solidFill>
          <a:ln>
            <a:noFill/>
          </a:ln>
        </p:spPr>
        <p:txBody>
          <a:bodyPr rtlCol="0" anchor="ctr"/>
          <a:lstStyle/>
          <a:p>
            <a:pPr algn="ctr"/>
          </a:p>
        </p:txBody>
      </p:sp>
      <p:sp>
        <p:nvSpPr>
          <p:cNvPr id="6" name="TextBox 5"/>
          <p:cNvSpPr txBox="1"/>
          <p:nvPr/>
        </p:nvSpPr>
        <p:spPr>
          <a:xfrm>
            <a:off x="3718472" y="256032"/>
            <a:ext cx="1584916" cy="274320"/>
          </a:xfrm>
          <a:prstGeom prst="rect">
            <a:avLst/>
          </a:prstGeom>
          <a:noFill/>
        </p:spPr>
        <p:txBody>
          <a:bodyPr wrap="square" lIns="0" rIns="0" tIns="0" bIns="0">
            <a:spAutoFit/>
          </a:bodyPr>
          <a:lstStyle/>
          <a:p>
            <a:pPr algn="ctr"/>
            <a:r>
              <a:rPr sz="1050" b="0" i="0">
                <a:solidFill>
                  <a:srgbClr val="5D6D7E"/>
                </a:solidFill>
                <a:latin typeface="Arial"/>
              </a:rPr>
              <a:t>METHODOLOGY</a:t>
            </a:r>
          </a:p>
        </p:txBody>
      </p:sp>
      <p:sp>
        <p:nvSpPr>
          <p:cNvPr id="7" name="TextBox 6"/>
          <p:cNvSpPr txBox="1"/>
          <p:nvPr/>
        </p:nvSpPr>
        <p:spPr>
          <a:xfrm>
            <a:off x="5303389" y="256032"/>
            <a:ext cx="1584916" cy="274320"/>
          </a:xfrm>
          <a:prstGeom prst="rect">
            <a:avLst/>
          </a:prstGeom>
          <a:noFill/>
        </p:spPr>
        <p:txBody>
          <a:bodyPr wrap="square" lIns="0" rIns="0" tIns="0" bIns="0">
            <a:spAutoFit/>
          </a:bodyPr>
          <a:lstStyle/>
          <a:p>
            <a:pPr algn="ctr"/>
            <a:r>
              <a:rPr sz="1050" b="0" i="0">
                <a:solidFill>
                  <a:srgbClr val="5D6D7E"/>
                </a:solidFill>
                <a:latin typeface="Arial"/>
              </a:rPr>
              <a:t>EXPERIMENTS</a:t>
            </a:r>
          </a:p>
        </p:txBody>
      </p:sp>
      <p:sp>
        <p:nvSpPr>
          <p:cNvPr id="8" name="TextBox 7"/>
          <p:cNvSpPr txBox="1"/>
          <p:nvPr/>
        </p:nvSpPr>
        <p:spPr>
          <a:xfrm>
            <a:off x="6888305" y="256032"/>
            <a:ext cx="1584916" cy="274320"/>
          </a:xfrm>
          <a:prstGeom prst="rect">
            <a:avLst/>
          </a:prstGeom>
          <a:noFill/>
        </p:spPr>
        <p:txBody>
          <a:bodyPr wrap="square" lIns="0" rIns="0" tIns="0" bIns="0">
            <a:spAutoFit/>
          </a:bodyPr>
          <a:lstStyle/>
          <a:p>
            <a:pPr algn="ctr"/>
            <a:r>
              <a:rPr sz="1050" b="0" i="0">
                <a:solidFill>
                  <a:srgbClr val="5D6D7E"/>
                </a:solidFill>
                <a:latin typeface="Arial"/>
              </a:rPr>
              <a:t>RESULTS</a:t>
            </a:r>
          </a:p>
        </p:txBody>
      </p:sp>
      <p:sp>
        <p:nvSpPr>
          <p:cNvPr id="9" name="TextBox 8"/>
          <p:cNvSpPr txBox="1"/>
          <p:nvPr/>
        </p:nvSpPr>
        <p:spPr>
          <a:xfrm>
            <a:off x="8473222" y="256032"/>
            <a:ext cx="1584916" cy="274320"/>
          </a:xfrm>
          <a:prstGeom prst="rect">
            <a:avLst/>
          </a:prstGeom>
          <a:noFill/>
        </p:spPr>
        <p:txBody>
          <a:bodyPr wrap="square" lIns="0" rIns="0" tIns="0" bIns="0">
            <a:spAutoFit/>
          </a:bodyPr>
          <a:lstStyle/>
          <a:p>
            <a:pPr algn="ctr"/>
            <a:r>
              <a:rPr sz="1050" b="0" i="0">
                <a:solidFill>
                  <a:srgbClr val="5D6D7E"/>
                </a:solidFill>
                <a:latin typeface="Arial"/>
              </a:rPr>
              <a:t>LIMITATIONS</a:t>
            </a:r>
          </a:p>
        </p:txBody>
      </p:sp>
      <p:sp>
        <p:nvSpPr>
          <p:cNvPr id="10" name="TextBox 9"/>
          <p:cNvSpPr txBox="1"/>
          <p:nvPr/>
        </p:nvSpPr>
        <p:spPr>
          <a:xfrm>
            <a:off x="10058138" y="256032"/>
            <a:ext cx="1584916" cy="274320"/>
          </a:xfrm>
          <a:prstGeom prst="rect">
            <a:avLst/>
          </a:prstGeom>
          <a:noFill/>
        </p:spPr>
        <p:txBody>
          <a:bodyPr wrap="square" lIns="0" rIns="0" tIns="0" bIns="0">
            <a:spAutoFit/>
          </a:bodyPr>
          <a:lstStyle/>
          <a:p>
            <a:pPr algn="ctr"/>
            <a:r>
              <a:rPr sz="1050" b="0" i="0">
                <a:solidFill>
                  <a:srgbClr val="5D6D7E"/>
                </a:solidFill>
                <a:latin typeface="Arial"/>
              </a:rPr>
              <a:t>FUTURE</a:t>
            </a:r>
          </a:p>
        </p:txBody>
      </p:sp>
      <p:sp>
        <p:nvSpPr>
          <p:cNvPr id="11" name="Rectangle 10"/>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2" name="TextBox 11"/>
          <p:cNvSpPr txBox="1"/>
          <p:nvPr/>
        </p:nvSpPr>
        <p:spPr>
          <a:xfrm>
            <a:off x="548640" y="713232"/>
            <a:ext cx="9418320" cy="548640"/>
          </a:xfrm>
          <a:prstGeom prst="rect">
            <a:avLst/>
          </a:prstGeom>
          <a:noFill/>
        </p:spPr>
        <p:txBody>
          <a:bodyPr wrap="square" lIns="0" rIns="0" tIns="0" bIns="0">
            <a:spAutoFit/>
          </a:bodyPr>
          <a:lstStyle/>
          <a:p>
            <a:pPr algn="l"/>
            <a:r>
              <a:rPr sz="2700" b="1" i="0">
                <a:solidFill>
                  <a:srgbClr val="1F3A5F"/>
                </a:solidFill>
                <a:latin typeface="Georgia"/>
              </a:rPr>
              <a:t>Novelty: same score, different story</a:t>
            </a:r>
          </a:p>
        </p:txBody>
      </p:sp>
      <p:sp>
        <p:nvSpPr>
          <p:cNvPr id="13" name="TextBox 12"/>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1</a:t>
            </a:r>
          </a:p>
        </p:txBody>
      </p:sp>
      <p:sp>
        <p:nvSpPr>
          <p:cNvPr id="14" name="TextBox 13"/>
          <p:cNvSpPr txBox="1"/>
          <p:nvPr/>
        </p:nvSpPr>
        <p:spPr>
          <a:xfrm>
            <a:off x="548640" y="1600200"/>
            <a:ext cx="4754880" cy="2651760"/>
          </a:xfrm>
          <a:prstGeom prst="rect">
            <a:avLst/>
          </a:prstGeom>
          <a:noFill/>
        </p:spPr>
        <p:txBody>
          <a:bodyPr wrap="square" lIns="0" rIns="0" tIns="0" bIns="0">
            <a:spAutoFit/>
          </a:bodyPr>
          <a:lstStyle/>
          <a:p>
            <a:pPr algn="l">
              <a:lnSpc>
                <a:spcPct val="125000"/>
              </a:lnSpc>
            </a:pPr>
            <a:r>
              <a:rPr sz="2400" b="0">
                <a:solidFill>
                  <a:srgbClr val="1C2833"/>
                </a:solidFill>
                <a:latin typeface="Georgia"/>
              </a:rPr>
              <a:t>Give every image the same resampling. The pooled AUROC barely moves (</a:t>
            </a:r>
            <a:r>
              <a:rPr sz="2400" b="1">
                <a:solidFill>
                  <a:srgbClr val="1F3A5F"/>
                </a:solidFill>
                <a:latin typeface="Arial"/>
              </a:rPr>
              <a:t>0.796 → 0.802</a:t>
            </a:r>
            <a:r>
              <a:rPr sz="2400" b="0">
                <a:solidFill>
                  <a:srgbClr val="1C2833"/>
                </a:solidFill>
                <a:latin typeface="Georgia"/>
              </a:rPr>
              <a:t>), but per-generator AUROC shifts by </a:t>
            </a:r>
            <a:r>
              <a:rPr sz="2400" b="1">
                <a:solidFill>
                  <a:srgbClr val="B2182B"/>
                </a:solidFill>
                <a:latin typeface="Arial"/>
              </a:rPr>
              <a:t>−0.17 to +0.30</a:t>
            </a:r>
            <a:r>
              <a:rPr sz="2400" b="0">
                <a:solidFill>
                  <a:srgbClr val="1C2833"/>
                </a:solidFill>
                <a:latin typeface="Georgia"/>
              </a:rPr>
              <a:t>.</a:t>
            </a:r>
          </a:p>
        </p:txBody>
      </p:sp>
      <p:sp>
        <p:nvSpPr>
          <p:cNvPr id="15" name="Rectangle 14"/>
          <p:cNvSpPr/>
          <p:nvPr/>
        </p:nvSpPr>
        <p:spPr>
          <a:xfrm>
            <a:off x="548640" y="4343400"/>
            <a:ext cx="4754880" cy="9525"/>
          </a:xfrm>
          <a:prstGeom prst="rect">
            <a:avLst/>
          </a:prstGeom>
          <a:solidFill>
            <a:srgbClr val="D5DBDB"/>
          </a:solidFill>
          <a:ln>
            <a:noFill/>
          </a:ln>
        </p:spPr>
        <p:txBody>
          <a:bodyPr rtlCol="0" anchor="ctr"/>
          <a:lstStyle/>
          <a:p>
            <a:pPr algn="ctr"/>
          </a:p>
        </p:txBody>
      </p:sp>
      <p:sp>
        <p:nvSpPr>
          <p:cNvPr id="16" name="TextBox 15"/>
          <p:cNvSpPr txBox="1"/>
          <p:nvPr/>
        </p:nvSpPr>
        <p:spPr>
          <a:xfrm>
            <a:off x="548640" y="4526280"/>
            <a:ext cx="4754880" cy="1188720"/>
          </a:xfrm>
          <a:prstGeom prst="rect">
            <a:avLst/>
          </a:prstGeom>
          <a:noFill/>
        </p:spPr>
        <p:txBody>
          <a:bodyPr wrap="square" lIns="0" rIns="0" tIns="0" bIns="0">
            <a:spAutoFit/>
          </a:bodyPr>
          <a:lstStyle/>
          <a:p>
            <a:pPr algn="l">
              <a:lnSpc>
                <a:spcPct val="120000"/>
              </a:lnSpc>
            </a:pPr>
            <a:r>
              <a:rPr sz="1500" b="0" i="0">
                <a:solidFill>
                  <a:srgbClr val="1C2833"/>
                </a:solidFill>
                <a:latin typeface="Arial"/>
              </a:rPr>
              <a:t>BigGAN images are pixel-identical in both versions, so any change in BigGAN comes from the real photos' processing alone.</a:t>
            </a:r>
          </a:p>
        </p:txBody>
      </p:sp>
      <p:graphicFrame>
        <p:nvGraphicFramePr>
          <p:cNvPr id="17" name="Table 16"/>
          <p:cNvGraphicFramePr>
            <a:graphicFrameLocks noGrp="1"/>
          </p:cNvGraphicFramePr>
          <p:nvPr/>
        </p:nvGraphicFramePr>
        <p:xfrm>
          <a:off x="5577840" y="1600200"/>
          <a:ext cx="6062472" cy="2834640"/>
        </p:xfrm>
        <a:graphic>
          <a:graphicData uri="http://schemas.openxmlformats.org/drawingml/2006/table">
            <a:tbl>
              <a:tblPr firstRow="1" bandRow="1">
                <a:tableStyleId>{5C22544A-7EE6-4342-B048-85BDC9FD1C3A}</a:tableStyleId>
              </a:tblPr>
              <a:tblGrid>
                <a:gridCol w="1463040"/>
                <a:gridCol w="1737360"/>
                <a:gridCol w="2862072"/>
              </a:tblGrid>
              <a:tr h="566928">
                <a:tc>
                  <a:txBody>
                    <a:bodyPr wrap="square"/>
                    <a:lstStyle/>
                    <a:p>
                      <a:pPr algn="l"/>
                      <a:r>
                        <a:rPr sz="1150" b="1">
                          <a:solidFill>
                            <a:srgbClr val="5D6D7E"/>
                          </a:solidFill>
                          <a:latin typeface="Arial"/>
                        </a:rPr>
                        <a:t>Work</a:t>
                      </a:r>
                    </a:p>
                  </a:txBody>
                  <a:tcPr marL="109728" marR="109728" marT="54864" marB="54864" anchor="ctr">
                    <a:lnB w="9525" cap="flat">
                      <a:solidFill>
                        <a:srgbClr val="D5DBDB"/>
                      </a:solidFill>
                    </a:lnB>
                    <a:solidFill>
                      <a:srgbClr val="F2F5F8"/>
                    </a:solidFill>
                  </a:tcPr>
                </a:tc>
                <a:tc>
                  <a:txBody>
                    <a:bodyPr wrap="square"/>
                    <a:lstStyle/>
                    <a:p>
                      <a:pPr algn="l"/>
                      <a:r>
                        <a:rPr sz="1150" b="1">
                          <a:solidFill>
                            <a:srgbClr val="5D6D7E"/>
                          </a:solidFill>
                          <a:latin typeface="Arial"/>
                        </a:rPr>
                        <a:t>Level</a:t>
                      </a:r>
                    </a:p>
                  </a:txBody>
                  <a:tcPr marL="109728" marR="109728" marT="54864" marB="54864" anchor="ctr">
                    <a:lnB w="9525" cap="flat">
                      <a:solidFill>
                        <a:srgbClr val="D5DBDB"/>
                      </a:solidFill>
                    </a:lnB>
                    <a:solidFill>
                      <a:srgbClr val="F2F5F8"/>
                    </a:solidFill>
                  </a:tcPr>
                </a:tc>
                <a:tc>
                  <a:txBody>
                    <a:bodyPr wrap="square"/>
                    <a:lstStyle/>
                    <a:p>
                      <a:pPr algn="l"/>
                      <a:r>
                        <a:rPr sz="1150" b="1">
                          <a:solidFill>
                            <a:srgbClr val="5D6D7E"/>
                          </a:solidFill>
                          <a:latin typeface="Arial"/>
                        </a:rPr>
                        <a:t>What it varies</a:t>
                      </a:r>
                    </a:p>
                  </a:txBody>
                  <a:tcPr marL="109728" marR="109728" marT="54864" marB="54864" anchor="ctr">
                    <a:lnB w="9525" cap="flat">
                      <a:solidFill>
                        <a:srgbClr val="D5DBDB"/>
                      </a:solidFill>
                    </a:lnB>
                    <a:solidFill>
                      <a:srgbClr val="F2F5F8"/>
                    </a:solidFill>
                  </a:tcPr>
                </a:tc>
              </a:tr>
              <a:tr h="566928">
                <a:tc>
                  <a:txBody>
                    <a:bodyPr wrap="square"/>
                    <a:lstStyle/>
                    <a:p>
                      <a:pPr algn="l"/>
                      <a:r>
                        <a:rPr sz="1250" b="0">
                          <a:solidFill>
                            <a:srgbClr val="1C2833"/>
                          </a:solidFill>
                          <a:latin typeface="Arial"/>
                        </a:rPr>
                        <a:t>Grommelt et al. 2024</a:t>
                      </a:r>
                    </a:p>
                  </a:txBody>
                  <a:tcPr marL="109728" marR="109728" marT="54864" marB="54864" anchor="ctr">
                    <a:lnB w="9525" cap="flat">
                      <a:solidFill>
                        <a:srgbClr val="D5DBDB"/>
                      </a:solidFill>
                    </a:lnB>
                    <a:solidFill>
                      <a:srgbClr val="FFFFFF"/>
                    </a:solidFill>
                  </a:tcPr>
                </a:tc>
                <a:tc>
                  <a:txBody>
                    <a:bodyPr wrap="square"/>
                    <a:lstStyle/>
                    <a:p>
                      <a:pPr algn="l"/>
                      <a:r>
                        <a:rPr sz="1250" b="0">
                          <a:solidFill>
                            <a:srgbClr val="1C2833"/>
                          </a:solidFill>
                          <a:latin typeface="Arial"/>
                        </a:rPr>
                        <a:t>whole detector</a:t>
                      </a:r>
                    </a:p>
                  </a:txBody>
                  <a:tcPr marL="109728" marR="109728" marT="54864" marB="54864" anchor="ctr">
                    <a:lnB w="9525" cap="flat">
                      <a:solidFill>
                        <a:srgbClr val="D5DBDB"/>
                      </a:solidFill>
                    </a:lnB>
                    <a:solidFill>
                      <a:srgbClr val="FFFFFF"/>
                    </a:solidFill>
                  </a:tcPr>
                </a:tc>
                <a:tc>
                  <a:txBody>
                    <a:bodyPr wrap="square"/>
                    <a:lstStyle/>
                    <a:p>
                      <a:pPr algn="l"/>
                      <a:r>
                        <a:rPr sz="1250" b="0">
                          <a:solidFill>
                            <a:srgbClr val="1C2833"/>
                          </a:solidFill>
                          <a:latin typeface="Arial"/>
                        </a:rPr>
                        <a:t>JPEG and size bias</a:t>
                      </a:r>
                    </a:p>
                  </a:txBody>
                  <a:tcPr marL="109728" marR="109728" marT="54864" marB="54864" anchor="ctr">
                    <a:lnB w="9525" cap="flat">
                      <a:solidFill>
                        <a:srgbClr val="D5DBDB"/>
                      </a:solidFill>
                    </a:lnB>
                    <a:solidFill>
                      <a:srgbClr val="FFFFFF"/>
                    </a:solidFill>
                  </a:tcPr>
                </a:tc>
              </a:tr>
              <a:tr h="566928">
                <a:tc>
                  <a:txBody>
                    <a:bodyPr wrap="square"/>
                    <a:lstStyle/>
                    <a:p>
                      <a:pPr algn="l"/>
                      <a:r>
                        <a:rPr sz="1250" b="0">
                          <a:solidFill>
                            <a:srgbClr val="1C2833"/>
                          </a:solidFill>
                          <a:latin typeface="Arial"/>
                        </a:rPr>
                        <a:t>B-Free 2025</a:t>
                      </a:r>
                    </a:p>
                  </a:txBody>
                  <a:tcPr marL="109728" marR="109728" marT="54864" marB="54864" anchor="ctr">
                    <a:lnB w="9525" cap="flat">
                      <a:solidFill>
                        <a:srgbClr val="D5DBDB"/>
                      </a:solidFill>
                    </a:lnB>
                    <a:solidFill>
                      <a:srgbClr val="FFFFFF"/>
                    </a:solidFill>
                  </a:tcPr>
                </a:tc>
                <a:tc>
                  <a:txBody>
                    <a:bodyPr wrap="square"/>
                    <a:lstStyle/>
                    <a:p>
                      <a:pPr algn="l"/>
                      <a:r>
                        <a:rPr sz="1250" b="0">
                          <a:solidFill>
                            <a:srgbClr val="1C2833"/>
                          </a:solidFill>
                          <a:latin typeface="Arial"/>
                        </a:rPr>
                        <a:t>whole detector</a:t>
                      </a:r>
                    </a:p>
                  </a:txBody>
                  <a:tcPr marL="109728" marR="109728" marT="54864" marB="54864" anchor="ctr">
                    <a:lnB w="9525" cap="flat">
                      <a:solidFill>
                        <a:srgbClr val="D5DBDB"/>
                      </a:solidFill>
                    </a:lnB>
                    <a:solidFill>
                      <a:srgbClr val="FFFFFF"/>
                    </a:solidFill>
                  </a:tcPr>
                </a:tc>
                <a:tc>
                  <a:txBody>
                    <a:bodyPr wrap="square"/>
                    <a:lstStyle/>
                    <a:p>
                      <a:pPr algn="l"/>
                      <a:r>
                        <a:rPr sz="1250" b="0">
                          <a:solidFill>
                            <a:srgbClr val="1C2833"/>
                          </a:solidFill>
                          <a:latin typeface="Arial"/>
                        </a:rPr>
                        <a:t>content, format, size</a:t>
                      </a:r>
                    </a:p>
                  </a:txBody>
                  <a:tcPr marL="109728" marR="109728" marT="54864" marB="54864" anchor="ctr">
                    <a:lnB w="9525" cap="flat">
                      <a:solidFill>
                        <a:srgbClr val="D5DBDB"/>
                      </a:solidFill>
                    </a:lnB>
                    <a:solidFill>
                      <a:srgbClr val="FFFFFF"/>
                    </a:solidFill>
                  </a:tcPr>
                </a:tc>
              </a:tr>
              <a:tr h="566928">
                <a:tc>
                  <a:txBody>
                    <a:bodyPr wrap="square"/>
                    <a:lstStyle/>
                    <a:p>
                      <a:pPr algn="l"/>
                      <a:r>
                        <a:rPr sz="1250" b="0">
                          <a:solidFill>
                            <a:srgbClr val="1C2833"/>
                          </a:solidFill>
                          <a:latin typeface="Arial"/>
                        </a:rPr>
                        <a:t>Zhou &amp; Wang 2026</a:t>
                      </a:r>
                    </a:p>
                  </a:txBody>
                  <a:tcPr marL="109728" marR="109728" marT="54864" marB="54864" anchor="ctr">
                    <a:lnB w="9525" cap="flat">
                      <a:solidFill>
                        <a:srgbClr val="D5DBDB"/>
                      </a:solidFill>
                    </a:lnB>
                    <a:solidFill>
                      <a:srgbClr val="FFFFFF"/>
                    </a:solidFill>
                  </a:tcPr>
                </a:tc>
                <a:tc>
                  <a:txBody>
                    <a:bodyPr wrap="square"/>
                    <a:lstStyle/>
                    <a:p>
                      <a:pPr algn="l"/>
                      <a:r>
                        <a:rPr sz="1250" b="0">
                          <a:solidFill>
                            <a:srgbClr val="1C2833"/>
                          </a:solidFill>
                          <a:latin typeface="Arial"/>
                        </a:rPr>
                        <a:t>training-free detectors</a:t>
                      </a:r>
                    </a:p>
                  </a:txBody>
                  <a:tcPr marL="109728" marR="109728" marT="54864" marB="54864" anchor="ctr">
                    <a:lnB w="9525" cap="flat">
                      <a:solidFill>
                        <a:srgbClr val="D5DBDB"/>
                      </a:solidFill>
                    </a:lnB>
                    <a:solidFill>
                      <a:srgbClr val="FFFFFF"/>
                    </a:solidFill>
                  </a:tcPr>
                </a:tc>
                <a:tc>
                  <a:txBody>
                    <a:bodyPr wrap="square"/>
                    <a:lstStyle/>
                    <a:p>
                      <a:pPr algn="l"/>
                      <a:r>
                        <a:rPr sz="1250" b="0">
                          <a:solidFill>
                            <a:srgbClr val="1C2833"/>
                          </a:solidFill>
                          <a:latin typeface="Arial"/>
                        </a:rPr>
                        <a:t>resize vs native, JPEG</a:t>
                      </a:r>
                    </a:p>
                  </a:txBody>
                  <a:tcPr marL="109728" marR="109728" marT="54864" marB="54864" anchor="ctr">
                    <a:lnB w="9525" cap="flat">
                      <a:solidFill>
                        <a:srgbClr val="D5DBDB"/>
                      </a:solidFill>
                    </a:lnB>
                    <a:solidFill>
                      <a:srgbClr val="FFFFFF"/>
                    </a:solidFill>
                  </a:tcPr>
                </a:tc>
              </a:tr>
              <a:tr h="566928">
                <a:tc>
                  <a:txBody>
                    <a:bodyPr wrap="square"/>
                    <a:lstStyle/>
                    <a:p>
                      <a:pPr algn="l"/>
                      <a:r>
                        <a:rPr sz="1250" b="1">
                          <a:solidFill>
                            <a:srgbClr val="B2182B"/>
                          </a:solidFill>
                          <a:latin typeface="Arial"/>
                        </a:rPr>
                        <a:t>This work</a:t>
                      </a:r>
                    </a:p>
                  </a:txBody>
                  <a:tcPr marL="109728" marR="109728" marT="54864" marB="54864" anchor="ctr">
                    <a:lnB w="9525" cap="flat">
                      <a:solidFill>
                        <a:srgbClr val="D5DBDB"/>
                      </a:solidFill>
                    </a:lnB>
                    <a:solidFill>
                      <a:srgbClr val="FFFFFF"/>
                    </a:solidFill>
                  </a:tcPr>
                </a:tc>
                <a:tc>
                  <a:txBody>
                    <a:bodyPr wrap="square"/>
                    <a:lstStyle/>
                    <a:p>
                      <a:pPr algn="l"/>
                      <a:r>
                        <a:rPr sz="1250" b="1">
                          <a:solidFill>
                            <a:srgbClr val="B2182B"/>
                          </a:solidFill>
                          <a:latin typeface="Arial"/>
                        </a:rPr>
                        <a:t>14 named features</a:t>
                      </a:r>
                    </a:p>
                  </a:txBody>
                  <a:tcPr marL="109728" marR="109728" marT="54864" marB="54864" anchor="ctr">
                    <a:lnB w="9525" cap="flat">
                      <a:solidFill>
                        <a:srgbClr val="D5DBDB"/>
                      </a:solidFill>
                    </a:lnB>
                    <a:solidFill>
                      <a:srgbClr val="FFFFFF"/>
                    </a:solidFill>
                  </a:tcPr>
                </a:tc>
                <a:tc>
                  <a:txBody>
                    <a:bodyPr wrap="square"/>
                    <a:lstStyle/>
                    <a:p>
                      <a:pPr algn="l"/>
                      <a:r>
                        <a:rPr sz="1250" b="1">
                          <a:solidFill>
                            <a:srgbClr val="B2182B"/>
                          </a:solidFill>
                          <a:latin typeface="Arial"/>
                        </a:rPr>
                        <a:t>resampling (isolated), matched JPEG, unseen generator</a:t>
                      </a:r>
                    </a:p>
                  </a:txBody>
                  <a:tcPr marL="109728" marR="109728" marT="54864" marB="54864" anchor="ctr">
                    <a:lnB w="9525" cap="flat">
                      <a:solidFill>
                        <a:srgbClr val="D5DBDB"/>
                      </a:solidFill>
                    </a:lnB>
                    <a:solidFill>
                      <a:srgbClr val="FFFFFF"/>
                    </a:solidFill>
                  </a:tcPr>
                </a:tc>
              </a:tr>
            </a:tbl>
          </a:graphicData>
        </a:graphic>
      </p:graphicFrame>
      <p:sp>
        <p:nvSpPr>
          <p:cNvPr id="18" name="TextBox 17"/>
          <p:cNvSpPr txBox="1"/>
          <p:nvPr/>
        </p:nvSpPr>
        <p:spPr>
          <a:xfrm>
            <a:off x="5577840" y="4846320"/>
            <a:ext cx="6062472" cy="548640"/>
          </a:xfrm>
          <a:prstGeom prst="rect">
            <a:avLst/>
          </a:prstGeom>
          <a:noFill/>
        </p:spPr>
        <p:txBody>
          <a:bodyPr wrap="square" lIns="0" rIns="0" tIns="0" bIns="0">
            <a:spAutoFit/>
          </a:bodyPr>
          <a:lstStyle/>
          <a:p>
            <a:pPr algn="l">
              <a:lnSpc>
                <a:spcPct val="115000"/>
              </a:lnSpc>
            </a:pPr>
            <a:r>
              <a:rPr sz="1300" b="0" i="0">
                <a:solidFill>
                  <a:srgbClr val="5D6D7E"/>
                </a:solidFill>
                <a:latin typeface="Arial"/>
              </a:rPr>
              <a:t>We found no report of this feature-level protocol; we say “not found”, not “first”.</a:t>
            </a:r>
          </a:p>
        </p:txBody>
      </p:sp>
      <p:sp>
        <p:nvSpPr>
          <p:cNvPr id="19" name="TextBox 18"/>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20" name="TextBox 19"/>
          <p:cNvSpPr txBox="1"/>
          <p:nvPr/>
        </p:nvSpPr>
        <p:spPr>
          <a:xfrm>
            <a:off x="10362895" y="6510528"/>
            <a:ext cx="1280160" cy="237744"/>
          </a:xfrm>
          <a:prstGeom prst="rect">
            <a:avLst/>
          </a:prstGeom>
          <a:noFill/>
        </p:spPr>
        <p:txBody>
          <a:bodyPr wrap="square" lIns="0" rIns="0" tIns="0" bIns="0">
            <a:spAutoFit/>
          </a:bodyPr>
          <a:lstStyle/>
          <a:p>
            <a:pPr algn="r"/>
            <a:r>
              <a:rPr sz="1000" b="0" i="0">
                <a:solidFill>
                  <a:srgbClr val="5D6D7E"/>
                </a:solidFill>
                <a:latin typeface="Arial"/>
              </a:rPr>
              <a:t>4 / 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0" i="0">
                <a:solidFill>
                  <a:srgbClr val="5D6D7E"/>
                </a:solidFill>
                <a:latin typeface="Arial"/>
              </a:rPr>
              <a:t>INTRODUCTION</a:t>
            </a:r>
          </a:p>
        </p:txBody>
      </p:sp>
      <p:sp>
        <p:nvSpPr>
          <p:cNvPr id="3" name="TextBox 2"/>
          <p:cNvSpPr txBox="1"/>
          <p:nvPr/>
        </p:nvSpPr>
        <p:spPr>
          <a:xfrm>
            <a:off x="2133556" y="256032"/>
            <a:ext cx="1584916" cy="274320"/>
          </a:xfrm>
          <a:prstGeom prst="rect">
            <a:avLst/>
          </a:prstGeom>
          <a:noFill/>
        </p:spPr>
        <p:txBody>
          <a:bodyPr wrap="square" lIns="0" rIns="0" tIns="0" bIns="0">
            <a:spAutoFit/>
          </a:bodyPr>
          <a:lstStyle/>
          <a:p>
            <a:pPr algn="ctr"/>
            <a:r>
              <a:rPr sz="1050" b="0" i="0">
                <a:solidFill>
                  <a:srgbClr val="5D6D7E"/>
                </a:solidFill>
                <a:latin typeface="Arial"/>
              </a:rPr>
              <a:t>NOVELTY</a:t>
            </a:r>
          </a:p>
        </p:txBody>
      </p:sp>
      <p:sp>
        <p:nvSpPr>
          <p:cNvPr id="4" name="TextBox 3"/>
          <p:cNvSpPr txBox="1"/>
          <p:nvPr/>
        </p:nvSpPr>
        <p:spPr>
          <a:xfrm>
            <a:off x="3718472" y="256032"/>
            <a:ext cx="1584916" cy="274320"/>
          </a:xfrm>
          <a:prstGeom prst="rect">
            <a:avLst/>
          </a:prstGeom>
          <a:noFill/>
        </p:spPr>
        <p:txBody>
          <a:bodyPr wrap="square" lIns="0" rIns="0" tIns="0" bIns="0">
            <a:spAutoFit/>
          </a:bodyPr>
          <a:lstStyle/>
          <a:p>
            <a:pPr algn="ctr"/>
            <a:r>
              <a:rPr sz="1050" b="1" i="0">
                <a:solidFill>
                  <a:srgbClr val="B2182B"/>
                </a:solidFill>
                <a:latin typeface="Arial"/>
              </a:rPr>
              <a:t>METHODOLOGY</a:t>
            </a:r>
          </a:p>
        </p:txBody>
      </p:sp>
      <p:sp>
        <p:nvSpPr>
          <p:cNvPr id="5" name="Rectangle 4"/>
          <p:cNvSpPr/>
          <p:nvPr/>
        </p:nvSpPr>
        <p:spPr>
          <a:xfrm>
            <a:off x="3947072" y="548640"/>
            <a:ext cx="1127716" cy="28575"/>
          </a:xfrm>
          <a:prstGeom prst="rect">
            <a:avLst/>
          </a:prstGeom>
          <a:solidFill>
            <a:srgbClr val="B2182B"/>
          </a:solidFill>
          <a:ln>
            <a:noFill/>
          </a:ln>
        </p:spPr>
        <p:txBody>
          <a:bodyPr rtlCol="0" anchor="ctr"/>
          <a:lstStyle/>
          <a:p>
            <a:pPr algn="ctr"/>
          </a:p>
        </p:txBody>
      </p:sp>
      <p:sp>
        <p:nvSpPr>
          <p:cNvPr id="6" name="TextBox 5"/>
          <p:cNvSpPr txBox="1"/>
          <p:nvPr/>
        </p:nvSpPr>
        <p:spPr>
          <a:xfrm>
            <a:off x="5303389" y="256032"/>
            <a:ext cx="1584916" cy="274320"/>
          </a:xfrm>
          <a:prstGeom prst="rect">
            <a:avLst/>
          </a:prstGeom>
          <a:noFill/>
        </p:spPr>
        <p:txBody>
          <a:bodyPr wrap="square" lIns="0" rIns="0" tIns="0" bIns="0">
            <a:spAutoFit/>
          </a:bodyPr>
          <a:lstStyle/>
          <a:p>
            <a:pPr algn="ctr"/>
            <a:r>
              <a:rPr sz="1050" b="0" i="0">
                <a:solidFill>
                  <a:srgbClr val="5D6D7E"/>
                </a:solidFill>
                <a:latin typeface="Arial"/>
              </a:rPr>
              <a:t>EXPERIMENTS</a:t>
            </a:r>
          </a:p>
        </p:txBody>
      </p:sp>
      <p:sp>
        <p:nvSpPr>
          <p:cNvPr id="7" name="TextBox 6"/>
          <p:cNvSpPr txBox="1"/>
          <p:nvPr/>
        </p:nvSpPr>
        <p:spPr>
          <a:xfrm>
            <a:off x="6888305" y="256032"/>
            <a:ext cx="1584916" cy="274320"/>
          </a:xfrm>
          <a:prstGeom prst="rect">
            <a:avLst/>
          </a:prstGeom>
          <a:noFill/>
        </p:spPr>
        <p:txBody>
          <a:bodyPr wrap="square" lIns="0" rIns="0" tIns="0" bIns="0">
            <a:spAutoFit/>
          </a:bodyPr>
          <a:lstStyle/>
          <a:p>
            <a:pPr algn="ctr"/>
            <a:r>
              <a:rPr sz="1050" b="0" i="0">
                <a:solidFill>
                  <a:srgbClr val="5D6D7E"/>
                </a:solidFill>
                <a:latin typeface="Arial"/>
              </a:rPr>
              <a:t>RESULTS</a:t>
            </a:r>
          </a:p>
        </p:txBody>
      </p:sp>
      <p:sp>
        <p:nvSpPr>
          <p:cNvPr id="8" name="TextBox 7"/>
          <p:cNvSpPr txBox="1"/>
          <p:nvPr/>
        </p:nvSpPr>
        <p:spPr>
          <a:xfrm>
            <a:off x="8473222" y="256032"/>
            <a:ext cx="1584916" cy="274320"/>
          </a:xfrm>
          <a:prstGeom prst="rect">
            <a:avLst/>
          </a:prstGeom>
          <a:noFill/>
        </p:spPr>
        <p:txBody>
          <a:bodyPr wrap="square" lIns="0" rIns="0" tIns="0" bIns="0">
            <a:spAutoFit/>
          </a:bodyPr>
          <a:lstStyle/>
          <a:p>
            <a:pPr algn="ctr"/>
            <a:r>
              <a:rPr sz="1050" b="0" i="0">
                <a:solidFill>
                  <a:srgbClr val="5D6D7E"/>
                </a:solidFill>
                <a:latin typeface="Arial"/>
              </a:rPr>
              <a:t>LIMITATIONS</a:t>
            </a: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0" i="0">
                <a:solidFill>
                  <a:srgbClr val="5D6D7E"/>
                </a:solidFill>
                <a:latin typeface="Arial"/>
              </a:rPr>
              <a:t>FUTURE</a:t>
            </a:r>
          </a:p>
        </p:txBody>
      </p:sp>
      <p:sp>
        <p:nvSpPr>
          <p:cNvPr id="10" name="Rectangle 9"/>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1" name="TextBox 10"/>
          <p:cNvSpPr txBox="1"/>
          <p:nvPr/>
        </p:nvSpPr>
        <p:spPr>
          <a:xfrm>
            <a:off x="548640" y="713232"/>
            <a:ext cx="9418320" cy="548640"/>
          </a:xfrm>
          <a:prstGeom prst="rect">
            <a:avLst/>
          </a:prstGeom>
          <a:noFill/>
        </p:spPr>
        <p:txBody>
          <a:bodyPr wrap="square" lIns="0" rIns="0" tIns="0" bIns="0">
            <a:spAutoFit/>
          </a:bodyPr>
          <a:lstStyle/>
          <a:p>
            <a:pPr algn="l"/>
            <a:r>
              <a:rPr sz="2700" b="1" i="0">
                <a:solidFill>
                  <a:srgbClr val="1F3A5F"/>
                </a:solidFill>
                <a:latin typeface="Georgia"/>
              </a:rPr>
              <a:t>Pipeline, fixed before any image was processed</a:t>
            </a:r>
          </a:p>
        </p:txBody>
      </p:sp>
      <p:sp>
        <p:nvSpPr>
          <p:cNvPr id="12" name="TextBox 11"/>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2</a:t>
            </a:r>
          </a:p>
        </p:txBody>
      </p:sp>
      <p:pic>
        <p:nvPicPr>
          <p:cNvPr id="13" name="Picture 12" descr="pipeline-diagram.png"/>
          <p:cNvPicPr>
            <a:picLocks noChangeAspect="1"/>
          </p:cNvPicPr>
          <p:nvPr/>
        </p:nvPicPr>
        <p:blipFill>
          <a:blip r:embed="rId2"/>
          <a:stretch>
            <a:fillRect/>
          </a:stretch>
        </p:blipFill>
        <p:spPr>
          <a:xfrm>
            <a:off x="713822" y="1371600"/>
            <a:ext cx="3601556" cy="5074920"/>
          </a:xfrm>
          <a:prstGeom prst="rect">
            <a:avLst/>
          </a:prstGeom>
          <a:ln w="9525">
            <a:solidFill>
              <a:srgbClr val="D5DBDB"/>
            </a:solidFill>
          </a:ln>
        </p:spPr>
      </p:pic>
      <p:sp>
        <p:nvSpPr>
          <p:cNvPr id="14" name="Oval 13"/>
          <p:cNvSpPr/>
          <p:nvPr/>
        </p:nvSpPr>
        <p:spPr>
          <a:xfrm>
            <a:off x="4937760" y="1554480"/>
            <a:ext cx="457200" cy="457200"/>
          </a:xfrm>
          <a:prstGeom prst="ellipse">
            <a:avLst/>
          </a:prstGeom>
          <a:solidFill>
            <a:srgbClr val="1F3A5F"/>
          </a:solidFill>
          <a:ln>
            <a:noFill/>
          </a:ln>
          <a:effectLst/>
        </p:spPr>
        <p:txBody>
          <a:bodyPr rtlCol="0" anchor="ctr"/>
          <a:lstStyle/>
          <a:p>
            <a:pPr algn="ctr"/>
            <a:r>
              <a:rPr sz="1500" b="1">
                <a:solidFill>
                  <a:srgbClr val="FFFFFF"/>
                </a:solidFill>
              </a:rPr>
              <a:t>1</a:t>
            </a:r>
          </a:p>
        </p:txBody>
      </p:sp>
      <p:sp>
        <p:nvSpPr>
          <p:cNvPr id="15" name="TextBox 14"/>
          <p:cNvSpPr txBox="1"/>
          <p:nvPr/>
        </p:nvSpPr>
        <p:spPr>
          <a:xfrm>
            <a:off x="5577840" y="1536192"/>
            <a:ext cx="6035040" cy="292608"/>
          </a:xfrm>
          <a:prstGeom prst="rect">
            <a:avLst/>
          </a:prstGeom>
          <a:noFill/>
        </p:spPr>
        <p:txBody>
          <a:bodyPr wrap="square" lIns="0" rIns="0" tIns="0" bIns="0">
            <a:spAutoFit/>
          </a:bodyPr>
          <a:lstStyle/>
          <a:p>
            <a:pPr algn="l"/>
            <a:r>
              <a:rPr sz="1600" b="1" i="0">
                <a:solidFill>
                  <a:srgbClr val="1C2833"/>
                </a:solidFill>
                <a:latin typeface="Arial"/>
              </a:rPr>
              <a:t>3,000 GenImage images</a:t>
            </a:r>
          </a:p>
        </p:txBody>
      </p:sp>
      <p:sp>
        <p:nvSpPr>
          <p:cNvPr id="16" name="TextBox 15"/>
          <p:cNvSpPr txBox="1"/>
          <p:nvPr/>
        </p:nvSpPr>
        <p:spPr>
          <a:xfrm>
            <a:off x="5577840" y="1847088"/>
            <a:ext cx="6035040" cy="274320"/>
          </a:xfrm>
          <a:prstGeom prst="rect">
            <a:avLst/>
          </a:prstGeom>
          <a:noFill/>
        </p:spPr>
        <p:txBody>
          <a:bodyPr wrap="square" lIns="0" rIns="0" tIns="0" bIns="0">
            <a:spAutoFit/>
          </a:bodyPr>
          <a:lstStyle/>
          <a:p>
            <a:pPr algn="l"/>
            <a:r>
              <a:rPr sz="1300" b="0" i="0">
                <a:solidFill>
                  <a:srgbClr val="5D6D7E"/>
                </a:solidFill>
                <a:latin typeface="Arial"/>
              </a:rPr>
              <a:t>1,500 real  ·  500 each: BigGAN, SD v1.4, ADM</a:t>
            </a:r>
          </a:p>
        </p:txBody>
      </p:sp>
      <p:sp>
        <p:nvSpPr>
          <p:cNvPr id="17" name="Oval 16"/>
          <p:cNvSpPr/>
          <p:nvPr/>
        </p:nvSpPr>
        <p:spPr>
          <a:xfrm>
            <a:off x="4937760" y="2468880"/>
            <a:ext cx="457200" cy="457200"/>
          </a:xfrm>
          <a:prstGeom prst="ellipse">
            <a:avLst/>
          </a:prstGeom>
          <a:solidFill>
            <a:srgbClr val="1F3A5F"/>
          </a:solidFill>
          <a:ln>
            <a:noFill/>
          </a:ln>
          <a:effectLst/>
        </p:spPr>
        <p:txBody>
          <a:bodyPr rtlCol="0" anchor="ctr"/>
          <a:lstStyle/>
          <a:p>
            <a:pPr algn="ctr"/>
            <a:r>
              <a:rPr sz="1500" b="1">
                <a:solidFill>
                  <a:srgbClr val="FFFFFF"/>
                </a:solidFill>
              </a:rPr>
              <a:t>2</a:t>
            </a:r>
          </a:p>
        </p:txBody>
      </p:sp>
      <p:sp>
        <p:nvSpPr>
          <p:cNvPr id="18" name="TextBox 17"/>
          <p:cNvSpPr txBox="1"/>
          <p:nvPr/>
        </p:nvSpPr>
        <p:spPr>
          <a:xfrm>
            <a:off x="5577840" y="2450592"/>
            <a:ext cx="6035040" cy="292608"/>
          </a:xfrm>
          <a:prstGeom prst="rect">
            <a:avLst/>
          </a:prstGeom>
          <a:noFill/>
        </p:spPr>
        <p:txBody>
          <a:bodyPr wrap="square" lIns="0" rIns="0" tIns="0" bIns="0">
            <a:spAutoFit/>
          </a:bodyPr>
          <a:lstStyle/>
          <a:p>
            <a:pPr algn="l"/>
            <a:r>
              <a:rPr sz="1600" b="1" i="0">
                <a:solidFill>
                  <a:srgbClr val="1C2833"/>
                </a:solidFill>
                <a:latin typeface="Arial"/>
              </a:rPr>
              <a:t>Clean before splitting</a:t>
            </a:r>
          </a:p>
        </p:txBody>
      </p:sp>
      <p:sp>
        <p:nvSpPr>
          <p:cNvPr id="19" name="TextBox 18"/>
          <p:cNvSpPr txBox="1"/>
          <p:nvPr/>
        </p:nvSpPr>
        <p:spPr>
          <a:xfrm>
            <a:off x="5577840" y="2761488"/>
            <a:ext cx="6035040" cy="274320"/>
          </a:xfrm>
          <a:prstGeom prst="rect">
            <a:avLst/>
          </a:prstGeom>
          <a:noFill/>
        </p:spPr>
        <p:txBody>
          <a:bodyPr wrap="square" lIns="0" rIns="0" tIns="0" bIns="0">
            <a:spAutoFit/>
          </a:bodyPr>
          <a:lstStyle/>
          <a:p>
            <a:pPr algn="l"/>
            <a:r>
              <a:rPr sz="1300" b="0" i="0">
                <a:solidFill>
                  <a:srgbClr val="5D6D7E"/>
                </a:solidFill>
                <a:latin typeface="Arial"/>
              </a:rPr>
              <a:t>duplicates, near-copies, odd colour profiles removed</a:t>
            </a:r>
          </a:p>
        </p:txBody>
      </p:sp>
      <p:sp>
        <p:nvSpPr>
          <p:cNvPr id="20" name="Oval 19"/>
          <p:cNvSpPr/>
          <p:nvPr/>
        </p:nvSpPr>
        <p:spPr>
          <a:xfrm>
            <a:off x="4937760" y="3383280"/>
            <a:ext cx="457200" cy="457200"/>
          </a:xfrm>
          <a:prstGeom prst="ellipse">
            <a:avLst/>
          </a:prstGeom>
          <a:solidFill>
            <a:srgbClr val="1F3A5F"/>
          </a:solidFill>
          <a:ln>
            <a:noFill/>
          </a:ln>
          <a:effectLst/>
        </p:spPr>
        <p:txBody>
          <a:bodyPr rtlCol="0" anchor="ctr"/>
          <a:lstStyle/>
          <a:p>
            <a:pPr algn="ctr"/>
            <a:r>
              <a:rPr sz="1500" b="1">
                <a:solidFill>
                  <a:srgbClr val="FFFFFF"/>
                </a:solidFill>
              </a:rPr>
              <a:t>3</a:t>
            </a:r>
          </a:p>
        </p:txBody>
      </p:sp>
      <p:sp>
        <p:nvSpPr>
          <p:cNvPr id="21" name="TextBox 20"/>
          <p:cNvSpPr txBox="1"/>
          <p:nvPr/>
        </p:nvSpPr>
        <p:spPr>
          <a:xfrm>
            <a:off x="5577840" y="3364992"/>
            <a:ext cx="6035040" cy="292608"/>
          </a:xfrm>
          <a:prstGeom prst="rect">
            <a:avLst/>
          </a:prstGeom>
          <a:noFill/>
        </p:spPr>
        <p:txBody>
          <a:bodyPr wrap="square" lIns="0" rIns="0" tIns="0" bIns="0">
            <a:spAutoFit/>
          </a:bodyPr>
          <a:lstStyle/>
          <a:p>
            <a:pPr algn="l"/>
            <a:r>
              <a:rPr sz="1600" b="1" i="0">
                <a:solidFill>
                  <a:srgbClr val="1C2833"/>
                </a:solidFill>
                <a:latin typeface="Arial"/>
              </a:rPr>
              <a:t>Same processing for both classes</a:t>
            </a:r>
          </a:p>
        </p:txBody>
      </p:sp>
      <p:sp>
        <p:nvSpPr>
          <p:cNvPr id="22" name="TextBox 21"/>
          <p:cNvSpPr txBox="1"/>
          <p:nvPr/>
        </p:nvSpPr>
        <p:spPr>
          <a:xfrm>
            <a:off x="5577840" y="3675888"/>
            <a:ext cx="6035040" cy="274320"/>
          </a:xfrm>
          <a:prstGeom prst="rect">
            <a:avLst/>
          </a:prstGeom>
          <a:noFill/>
        </p:spPr>
        <p:txBody>
          <a:bodyPr wrap="square" lIns="0" rIns="0" tIns="0" bIns="0">
            <a:spAutoFit/>
          </a:bodyPr>
          <a:lstStyle/>
          <a:p>
            <a:pPr algn="l"/>
            <a:r>
              <a:rPr sz="1300" b="0" i="0">
                <a:solidFill>
                  <a:srgbClr val="5D6D7E"/>
                </a:solidFill>
                <a:latin typeface="Arial"/>
              </a:rPr>
              <a:t>resize to 256 × 256, lossless PNG</a:t>
            </a:r>
          </a:p>
        </p:txBody>
      </p:sp>
      <p:sp>
        <p:nvSpPr>
          <p:cNvPr id="23" name="Oval 22"/>
          <p:cNvSpPr/>
          <p:nvPr/>
        </p:nvSpPr>
        <p:spPr>
          <a:xfrm>
            <a:off x="4937760" y="4297680"/>
            <a:ext cx="457200" cy="457200"/>
          </a:xfrm>
          <a:prstGeom prst="ellipse">
            <a:avLst/>
          </a:prstGeom>
          <a:solidFill>
            <a:srgbClr val="1F3A5F"/>
          </a:solidFill>
          <a:ln>
            <a:noFill/>
          </a:ln>
          <a:effectLst/>
        </p:spPr>
        <p:txBody>
          <a:bodyPr rtlCol="0" anchor="ctr"/>
          <a:lstStyle/>
          <a:p>
            <a:pPr algn="ctr"/>
            <a:r>
              <a:rPr sz="1500" b="1">
                <a:solidFill>
                  <a:srgbClr val="FFFFFF"/>
                </a:solidFill>
              </a:rPr>
              <a:t>4</a:t>
            </a:r>
          </a:p>
        </p:txBody>
      </p:sp>
      <p:sp>
        <p:nvSpPr>
          <p:cNvPr id="24" name="TextBox 23"/>
          <p:cNvSpPr txBox="1"/>
          <p:nvPr/>
        </p:nvSpPr>
        <p:spPr>
          <a:xfrm>
            <a:off x="5577840" y="4279392"/>
            <a:ext cx="6035040" cy="292608"/>
          </a:xfrm>
          <a:prstGeom prst="rect">
            <a:avLst/>
          </a:prstGeom>
          <a:noFill/>
        </p:spPr>
        <p:txBody>
          <a:bodyPr wrap="square" lIns="0" rIns="0" tIns="0" bIns="0">
            <a:spAutoFit/>
          </a:bodyPr>
          <a:lstStyle/>
          <a:p>
            <a:pPr algn="l"/>
            <a:r>
              <a:rPr sz="1600" b="1" i="0">
                <a:solidFill>
                  <a:srgbClr val="1C2833"/>
                </a:solidFill>
                <a:latin typeface="Arial"/>
              </a:rPr>
              <a:t>Three conditions</a:t>
            </a:r>
          </a:p>
        </p:txBody>
      </p:sp>
      <p:sp>
        <p:nvSpPr>
          <p:cNvPr id="25" name="TextBox 24"/>
          <p:cNvSpPr txBox="1"/>
          <p:nvPr/>
        </p:nvSpPr>
        <p:spPr>
          <a:xfrm>
            <a:off x="5577840" y="4590288"/>
            <a:ext cx="6035040" cy="274320"/>
          </a:xfrm>
          <a:prstGeom prst="rect">
            <a:avLst/>
          </a:prstGeom>
          <a:noFill/>
        </p:spPr>
        <p:txBody>
          <a:bodyPr wrap="square" lIns="0" rIns="0" tIns="0" bIns="0">
            <a:spAutoFit/>
          </a:bodyPr>
          <a:lstStyle/>
          <a:p>
            <a:pPr algn="l"/>
            <a:r>
              <a:rPr sz="1300" b="0" i="0">
                <a:solidFill>
                  <a:srgbClr val="5D6D7E"/>
                </a:solidFill>
                <a:latin typeface="Arial"/>
              </a:rPr>
              <a:t>C0 clean  ·  C1 JPEG 90 / 75 / 50  ·  C2 unfair control</a:t>
            </a:r>
          </a:p>
        </p:txBody>
      </p:sp>
      <p:sp>
        <p:nvSpPr>
          <p:cNvPr id="26" name="Oval 25"/>
          <p:cNvSpPr/>
          <p:nvPr/>
        </p:nvSpPr>
        <p:spPr>
          <a:xfrm>
            <a:off x="4937760" y="5212080"/>
            <a:ext cx="457200" cy="457200"/>
          </a:xfrm>
          <a:prstGeom prst="ellipse">
            <a:avLst/>
          </a:prstGeom>
          <a:solidFill>
            <a:srgbClr val="1F3A5F"/>
          </a:solidFill>
          <a:ln>
            <a:noFill/>
          </a:ln>
          <a:effectLst/>
        </p:spPr>
        <p:txBody>
          <a:bodyPr rtlCol="0" anchor="ctr"/>
          <a:lstStyle/>
          <a:p>
            <a:pPr algn="ctr"/>
            <a:r>
              <a:rPr sz="1500" b="1">
                <a:solidFill>
                  <a:srgbClr val="FFFFFF"/>
                </a:solidFill>
              </a:rPr>
              <a:t>5</a:t>
            </a:r>
          </a:p>
        </p:txBody>
      </p:sp>
      <p:sp>
        <p:nvSpPr>
          <p:cNvPr id="27" name="TextBox 26"/>
          <p:cNvSpPr txBox="1"/>
          <p:nvPr/>
        </p:nvSpPr>
        <p:spPr>
          <a:xfrm>
            <a:off x="5577840" y="5193792"/>
            <a:ext cx="6035040" cy="292608"/>
          </a:xfrm>
          <a:prstGeom prst="rect">
            <a:avLst/>
          </a:prstGeom>
          <a:noFill/>
        </p:spPr>
        <p:txBody>
          <a:bodyPr wrap="square" lIns="0" rIns="0" tIns="0" bIns="0">
            <a:spAutoFit/>
          </a:bodyPr>
          <a:lstStyle/>
          <a:p>
            <a:pPr algn="l"/>
            <a:r>
              <a:rPr sz="1600" b="1" i="0">
                <a:solidFill>
                  <a:srgbClr val="1C2833"/>
                </a:solidFill>
                <a:latin typeface="Arial"/>
              </a:rPr>
              <a:t>Strict statistics</a:t>
            </a:r>
          </a:p>
        </p:txBody>
      </p:sp>
      <p:sp>
        <p:nvSpPr>
          <p:cNvPr id="28" name="TextBox 27"/>
          <p:cNvSpPr txBox="1"/>
          <p:nvPr/>
        </p:nvSpPr>
        <p:spPr>
          <a:xfrm>
            <a:off x="5577840" y="5504688"/>
            <a:ext cx="6035040" cy="274320"/>
          </a:xfrm>
          <a:prstGeom prst="rect">
            <a:avLst/>
          </a:prstGeom>
          <a:noFill/>
        </p:spPr>
        <p:txBody>
          <a:bodyPr wrap="square" lIns="0" rIns="0" tIns="0" bIns="0">
            <a:spAutoFit/>
          </a:bodyPr>
          <a:lstStyle/>
          <a:p>
            <a:pPr algn="l"/>
            <a:r>
              <a:rPr sz="1300" b="0" i="0">
                <a:solidFill>
                  <a:srgbClr val="5D6D7E"/>
                </a:solidFill>
                <a:latin typeface="Arial"/>
              </a:rPr>
              <a:t>split by image group  ·  one locked 600-image test set  ·  95% CIs</a:t>
            </a:r>
          </a:p>
        </p:txBody>
      </p:sp>
      <p:sp>
        <p:nvSpPr>
          <p:cNvPr id="29" name="TextBox 28"/>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30" name="TextBox 29"/>
          <p:cNvSpPr txBox="1"/>
          <p:nvPr/>
        </p:nvSpPr>
        <p:spPr>
          <a:xfrm>
            <a:off x="10362895" y="6510528"/>
            <a:ext cx="1280160" cy="237744"/>
          </a:xfrm>
          <a:prstGeom prst="rect">
            <a:avLst/>
          </a:prstGeom>
          <a:noFill/>
        </p:spPr>
        <p:txBody>
          <a:bodyPr wrap="square" lIns="0" rIns="0" tIns="0" bIns="0">
            <a:spAutoFit/>
          </a:bodyPr>
          <a:lstStyle/>
          <a:p>
            <a:pPr algn="r"/>
            <a:r>
              <a:rPr sz="1000" b="0" i="0">
                <a:solidFill>
                  <a:srgbClr val="5D6D7E"/>
                </a:solidFill>
                <a:latin typeface="Arial"/>
              </a:rPr>
              <a:t>5 / 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0" i="0">
                <a:solidFill>
                  <a:srgbClr val="5D6D7E"/>
                </a:solidFill>
                <a:latin typeface="Arial"/>
              </a:rPr>
              <a:t>INTRODUCTION</a:t>
            </a:r>
          </a:p>
        </p:txBody>
      </p:sp>
      <p:sp>
        <p:nvSpPr>
          <p:cNvPr id="3" name="TextBox 2"/>
          <p:cNvSpPr txBox="1"/>
          <p:nvPr/>
        </p:nvSpPr>
        <p:spPr>
          <a:xfrm>
            <a:off x="2133556" y="256032"/>
            <a:ext cx="1584916" cy="274320"/>
          </a:xfrm>
          <a:prstGeom prst="rect">
            <a:avLst/>
          </a:prstGeom>
          <a:noFill/>
        </p:spPr>
        <p:txBody>
          <a:bodyPr wrap="square" lIns="0" rIns="0" tIns="0" bIns="0">
            <a:spAutoFit/>
          </a:bodyPr>
          <a:lstStyle/>
          <a:p>
            <a:pPr algn="ctr"/>
            <a:r>
              <a:rPr sz="1050" b="0" i="0">
                <a:solidFill>
                  <a:srgbClr val="5D6D7E"/>
                </a:solidFill>
                <a:latin typeface="Arial"/>
              </a:rPr>
              <a:t>NOVELTY</a:t>
            </a:r>
          </a:p>
        </p:txBody>
      </p:sp>
      <p:sp>
        <p:nvSpPr>
          <p:cNvPr id="4" name="TextBox 3"/>
          <p:cNvSpPr txBox="1"/>
          <p:nvPr/>
        </p:nvSpPr>
        <p:spPr>
          <a:xfrm>
            <a:off x="3718472" y="256032"/>
            <a:ext cx="1584916" cy="274320"/>
          </a:xfrm>
          <a:prstGeom prst="rect">
            <a:avLst/>
          </a:prstGeom>
          <a:noFill/>
        </p:spPr>
        <p:txBody>
          <a:bodyPr wrap="square" lIns="0" rIns="0" tIns="0" bIns="0">
            <a:spAutoFit/>
          </a:bodyPr>
          <a:lstStyle/>
          <a:p>
            <a:pPr algn="ctr"/>
            <a:r>
              <a:rPr sz="1050" b="1" i="0">
                <a:solidFill>
                  <a:srgbClr val="B2182B"/>
                </a:solidFill>
                <a:latin typeface="Arial"/>
              </a:rPr>
              <a:t>METHODOLOGY</a:t>
            </a:r>
          </a:p>
        </p:txBody>
      </p:sp>
      <p:sp>
        <p:nvSpPr>
          <p:cNvPr id="5" name="Rectangle 4"/>
          <p:cNvSpPr/>
          <p:nvPr/>
        </p:nvSpPr>
        <p:spPr>
          <a:xfrm>
            <a:off x="3947072" y="548640"/>
            <a:ext cx="1127716" cy="28575"/>
          </a:xfrm>
          <a:prstGeom prst="rect">
            <a:avLst/>
          </a:prstGeom>
          <a:solidFill>
            <a:srgbClr val="B2182B"/>
          </a:solidFill>
          <a:ln>
            <a:noFill/>
          </a:ln>
        </p:spPr>
        <p:txBody>
          <a:bodyPr rtlCol="0" anchor="ctr"/>
          <a:lstStyle/>
          <a:p>
            <a:pPr algn="ctr"/>
          </a:p>
        </p:txBody>
      </p:sp>
      <p:sp>
        <p:nvSpPr>
          <p:cNvPr id="6" name="TextBox 5"/>
          <p:cNvSpPr txBox="1"/>
          <p:nvPr/>
        </p:nvSpPr>
        <p:spPr>
          <a:xfrm>
            <a:off x="5303389" y="256032"/>
            <a:ext cx="1584916" cy="274320"/>
          </a:xfrm>
          <a:prstGeom prst="rect">
            <a:avLst/>
          </a:prstGeom>
          <a:noFill/>
        </p:spPr>
        <p:txBody>
          <a:bodyPr wrap="square" lIns="0" rIns="0" tIns="0" bIns="0">
            <a:spAutoFit/>
          </a:bodyPr>
          <a:lstStyle/>
          <a:p>
            <a:pPr algn="ctr"/>
            <a:r>
              <a:rPr sz="1050" b="0" i="0">
                <a:solidFill>
                  <a:srgbClr val="5D6D7E"/>
                </a:solidFill>
                <a:latin typeface="Arial"/>
              </a:rPr>
              <a:t>EXPERIMENTS</a:t>
            </a:r>
          </a:p>
        </p:txBody>
      </p:sp>
      <p:sp>
        <p:nvSpPr>
          <p:cNvPr id="7" name="TextBox 6"/>
          <p:cNvSpPr txBox="1"/>
          <p:nvPr/>
        </p:nvSpPr>
        <p:spPr>
          <a:xfrm>
            <a:off x="6888305" y="256032"/>
            <a:ext cx="1584916" cy="274320"/>
          </a:xfrm>
          <a:prstGeom prst="rect">
            <a:avLst/>
          </a:prstGeom>
          <a:noFill/>
        </p:spPr>
        <p:txBody>
          <a:bodyPr wrap="square" lIns="0" rIns="0" tIns="0" bIns="0">
            <a:spAutoFit/>
          </a:bodyPr>
          <a:lstStyle/>
          <a:p>
            <a:pPr algn="ctr"/>
            <a:r>
              <a:rPr sz="1050" b="0" i="0">
                <a:solidFill>
                  <a:srgbClr val="5D6D7E"/>
                </a:solidFill>
                <a:latin typeface="Arial"/>
              </a:rPr>
              <a:t>RESULTS</a:t>
            </a:r>
          </a:p>
        </p:txBody>
      </p:sp>
      <p:sp>
        <p:nvSpPr>
          <p:cNvPr id="8" name="TextBox 7"/>
          <p:cNvSpPr txBox="1"/>
          <p:nvPr/>
        </p:nvSpPr>
        <p:spPr>
          <a:xfrm>
            <a:off x="8473222" y="256032"/>
            <a:ext cx="1584916" cy="274320"/>
          </a:xfrm>
          <a:prstGeom prst="rect">
            <a:avLst/>
          </a:prstGeom>
          <a:noFill/>
        </p:spPr>
        <p:txBody>
          <a:bodyPr wrap="square" lIns="0" rIns="0" tIns="0" bIns="0">
            <a:spAutoFit/>
          </a:bodyPr>
          <a:lstStyle/>
          <a:p>
            <a:pPr algn="ctr"/>
            <a:r>
              <a:rPr sz="1050" b="0" i="0">
                <a:solidFill>
                  <a:srgbClr val="5D6D7E"/>
                </a:solidFill>
                <a:latin typeface="Arial"/>
              </a:rPr>
              <a:t>LIMITATIONS</a:t>
            </a: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0" i="0">
                <a:solidFill>
                  <a:srgbClr val="5D6D7E"/>
                </a:solidFill>
                <a:latin typeface="Arial"/>
              </a:rPr>
              <a:t>FUTURE</a:t>
            </a:r>
          </a:p>
        </p:txBody>
      </p:sp>
      <p:sp>
        <p:nvSpPr>
          <p:cNvPr id="10" name="Rectangle 9"/>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1" name="TextBox 10"/>
          <p:cNvSpPr txBox="1"/>
          <p:nvPr/>
        </p:nvSpPr>
        <p:spPr>
          <a:xfrm>
            <a:off x="548640" y="713232"/>
            <a:ext cx="9418320" cy="548640"/>
          </a:xfrm>
          <a:prstGeom prst="rect">
            <a:avLst/>
          </a:prstGeom>
          <a:noFill/>
        </p:spPr>
        <p:txBody>
          <a:bodyPr wrap="square" lIns="0" rIns="0" tIns="0" bIns="0">
            <a:spAutoFit/>
          </a:bodyPr>
          <a:lstStyle/>
          <a:p>
            <a:pPr algn="l"/>
            <a:r>
              <a:rPr sz="2700" b="1" i="0">
                <a:solidFill>
                  <a:srgbClr val="1F3A5F"/>
                </a:solidFill>
                <a:latin typeface="Georgia"/>
              </a:rPr>
              <a:t>14 explainable features, one simple classifier</a:t>
            </a:r>
          </a:p>
        </p:txBody>
      </p:sp>
      <p:sp>
        <p:nvSpPr>
          <p:cNvPr id="12" name="TextBox 11"/>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2</a:t>
            </a:r>
          </a:p>
        </p:txBody>
      </p:sp>
      <p:pic>
        <p:nvPicPr>
          <p:cNvPr id="13" name="Picture 12" descr="feature_anatomy.png"/>
          <p:cNvPicPr>
            <a:picLocks noChangeAspect="1"/>
          </p:cNvPicPr>
          <p:nvPr/>
        </p:nvPicPr>
        <p:blipFill>
          <a:blip r:embed="rId2"/>
          <a:stretch>
            <a:fillRect/>
          </a:stretch>
        </p:blipFill>
        <p:spPr>
          <a:xfrm>
            <a:off x="548640" y="1615713"/>
            <a:ext cx="11094415" cy="2849333"/>
          </a:xfrm>
          <a:prstGeom prst="rect">
            <a:avLst/>
          </a:prstGeom>
          <a:ln w="9525">
            <a:solidFill>
              <a:srgbClr val="D5DBDB"/>
            </a:solidFill>
          </a:ln>
        </p:spPr>
      </p:pic>
      <p:sp>
        <p:nvSpPr>
          <p:cNvPr id="14" name="Rounded Rectangle 13"/>
          <p:cNvSpPr/>
          <p:nvPr/>
        </p:nvSpPr>
        <p:spPr>
          <a:xfrm>
            <a:off x="548640" y="5029200"/>
            <a:ext cx="1965960" cy="777240"/>
          </a:xfrm>
          <a:prstGeom prst="roundRect">
            <a:avLst>
              <a:gd name="adj" fmla="val 12000"/>
            </a:avLst>
          </a:prstGeom>
          <a:solidFill>
            <a:srgbClr val="F2F5F8"/>
          </a:solidFill>
          <a:ln w="19050">
            <a:solidFill>
              <a:srgbClr val="F2F5F8"/>
            </a:solidFill>
          </a:ln>
          <a:effectLst/>
        </p:spPr>
        <p:txBody>
          <a:bodyPr rtlCol="0" anchor="ctr" wrap="square" lIns="73152" rIns="73152" tIns="27432" bIns="27432"/>
          <a:lstStyle/>
          <a:p>
            <a:pPr algn="ctr"/>
            <a:r>
              <a:rPr sz="1500" b="1">
                <a:solidFill>
                  <a:srgbClr val="1F3A5F"/>
                </a:solidFill>
                <a:latin typeface="Arial"/>
              </a:rPr>
              <a:t>14 features</a:t>
            </a:r>
          </a:p>
          <a:p>
            <a:pPr algn="ctr"/>
            <a:r>
              <a:rPr sz="1200" b="0">
                <a:solidFill>
                  <a:srgbClr val="5D6D7E"/>
                </a:solidFill>
                <a:latin typeface="Arial"/>
              </a:rPr>
              <a:t>per image</a:t>
            </a:r>
          </a:p>
        </p:txBody>
      </p:sp>
      <p:cxnSp>
        <p:nvCxnSpPr>
          <p:cNvPr id="15" name="Connector 14"/>
          <p:cNvCxnSpPr/>
          <p:nvPr/>
        </p:nvCxnSpPr>
        <p:spPr>
          <a:xfrm>
            <a:off x="2542032" y="5417820"/>
            <a:ext cx="265176" cy="0"/>
          </a:xfrm>
          <a:prstGeom prst="line">
            <a:avLst/>
          </a:prstGeom>
          <a:ln w="22225">
            <a:solidFill>
              <a:srgbClr val="5D6D7E"/>
            </a:solidFill>
            <a:tailEnd type="triangle" w="med" len="med"/>
          </a:ln>
        </p:spPr>
      </p:cxnSp>
      <p:sp>
        <p:nvSpPr>
          <p:cNvPr id="16" name="Rounded Rectangle 15"/>
          <p:cNvSpPr/>
          <p:nvPr/>
        </p:nvSpPr>
        <p:spPr>
          <a:xfrm>
            <a:off x="2834640" y="5029200"/>
            <a:ext cx="1965960" cy="777240"/>
          </a:xfrm>
          <a:prstGeom prst="roundRect">
            <a:avLst>
              <a:gd name="adj" fmla="val 12000"/>
            </a:avLst>
          </a:prstGeom>
          <a:solidFill>
            <a:srgbClr val="F2F5F8"/>
          </a:solidFill>
          <a:ln w="19050">
            <a:solidFill>
              <a:srgbClr val="F2F5F8"/>
            </a:solidFill>
          </a:ln>
          <a:effectLst/>
        </p:spPr>
        <p:txBody>
          <a:bodyPr rtlCol="0" anchor="ctr" wrap="square" lIns="73152" rIns="73152" tIns="27432" bIns="27432"/>
          <a:lstStyle/>
          <a:p>
            <a:pPr algn="ctr"/>
            <a:r>
              <a:rPr sz="1500" b="1">
                <a:solidFill>
                  <a:srgbClr val="1F3A5F"/>
                </a:solidFill>
                <a:latin typeface="Arial"/>
              </a:rPr>
              <a:t>Standardise</a:t>
            </a:r>
          </a:p>
          <a:p>
            <a:pPr algn="ctr"/>
            <a:r>
              <a:rPr sz="1200" b="0">
                <a:solidFill>
                  <a:srgbClr val="5D6D7E"/>
                </a:solidFill>
                <a:latin typeface="Arial"/>
              </a:rPr>
              <a:t>fit on train only</a:t>
            </a:r>
          </a:p>
        </p:txBody>
      </p:sp>
      <p:cxnSp>
        <p:nvCxnSpPr>
          <p:cNvPr id="17" name="Connector 16"/>
          <p:cNvCxnSpPr/>
          <p:nvPr/>
        </p:nvCxnSpPr>
        <p:spPr>
          <a:xfrm>
            <a:off x="4828032" y="5417820"/>
            <a:ext cx="265176" cy="0"/>
          </a:xfrm>
          <a:prstGeom prst="line">
            <a:avLst/>
          </a:prstGeom>
          <a:ln w="22225">
            <a:solidFill>
              <a:srgbClr val="5D6D7E"/>
            </a:solidFill>
            <a:tailEnd type="triangle" w="med" len="med"/>
          </a:ln>
        </p:spPr>
      </p:cxnSp>
      <p:sp>
        <p:nvSpPr>
          <p:cNvPr id="18" name="Rounded Rectangle 17"/>
          <p:cNvSpPr/>
          <p:nvPr/>
        </p:nvSpPr>
        <p:spPr>
          <a:xfrm>
            <a:off x="5120640" y="5029200"/>
            <a:ext cx="1965960" cy="777240"/>
          </a:xfrm>
          <a:prstGeom prst="roundRect">
            <a:avLst>
              <a:gd name="adj" fmla="val 12000"/>
            </a:avLst>
          </a:prstGeom>
          <a:solidFill>
            <a:srgbClr val="F2F5F8"/>
          </a:solidFill>
          <a:ln w="19050">
            <a:solidFill>
              <a:srgbClr val="F2F5F8"/>
            </a:solidFill>
          </a:ln>
          <a:effectLst/>
        </p:spPr>
        <p:txBody>
          <a:bodyPr rtlCol="0" anchor="ctr" wrap="square" lIns="73152" rIns="73152" tIns="27432" bIns="27432"/>
          <a:lstStyle/>
          <a:p>
            <a:pPr algn="ctr"/>
            <a:r>
              <a:rPr sz="1500" b="1">
                <a:solidFill>
                  <a:srgbClr val="1F3A5F"/>
                </a:solidFill>
                <a:latin typeface="Arial"/>
              </a:rPr>
              <a:t>Logistic regression</a:t>
            </a:r>
          </a:p>
          <a:p>
            <a:pPr algn="ctr"/>
            <a:r>
              <a:rPr sz="1200" b="0">
                <a:solidFill>
                  <a:srgbClr val="5D6D7E"/>
                </a:solidFill>
                <a:latin typeface="Arial"/>
              </a:rPr>
              <a:t>L2, C chosen on val</a:t>
            </a:r>
          </a:p>
        </p:txBody>
      </p:sp>
      <p:cxnSp>
        <p:nvCxnSpPr>
          <p:cNvPr id="19" name="Connector 18"/>
          <p:cNvCxnSpPr/>
          <p:nvPr/>
        </p:nvCxnSpPr>
        <p:spPr>
          <a:xfrm>
            <a:off x="7114032" y="5417820"/>
            <a:ext cx="265176" cy="0"/>
          </a:xfrm>
          <a:prstGeom prst="line">
            <a:avLst/>
          </a:prstGeom>
          <a:ln w="22225">
            <a:solidFill>
              <a:srgbClr val="5D6D7E"/>
            </a:solidFill>
            <a:tailEnd type="triangle" w="med" len="med"/>
          </a:ln>
        </p:spPr>
      </p:cxnSp>
      <p:sp>
        <p:nvSpPr>
          <p:cNvPr id="20" name="Rounded Rectangle 19"/>
          <p:cNvSpPr/>
          <p:nvPr/>
        </p:nvSpPr>
        <p:spPr>
          <a:xfrm>
            <a:off x="7406640" y="5029200"/>
            <a:ext cx="1965960" cy="777240"/>
          </a:xfrm>
          <a:prstGeom prst="roundRect">
            <a:avLst>
              <a:gd name="adj" fmla="val 12000"/>
            </a:avLst>
          </a:prstGeom>
          <a:solidFill>
            <a:srgbClr val="F2F5F8"/>
          </a:solidFill>
          <a:ln w="19050">
            <a:solidFill>
              <a:srgbClr val="F2F5F8"/>
            </a:solidFill>
          </a:ln>
          <a:effectLst/>
        </p:spPr>
        <p:txBody>
          <a:bodyPr rtlCol="0" anchor="ctr" wrap="square" lIns="73152" rIns="73152" tIns="27432" bIns="27432"/>
          <a:lstStyle/>
          <a:p>
            <a:pPr algn="ctr"/>
            <a:r>
              <a:rPr sz="1500" b="1">
                <a:solidFill>
                  <a:srgbClr val="1F3A5F"/>
                </a:solidFill>
                <a:latin typeface="Arial"/>
              </a:rPr>
              <a:t>Threshold</a:t>
            </a:r>
          </a:p>
          <a:p>
            <a:pPr algn="ctr"/>
            <a:r>
              <a:rPr sz="1200" b="0">
                <a:solidFill>
                  <a:srgbClr val="5D6D7E"/>
                </a:solidFill>
                <a:latin typeface="Arial"/>
              </a:rPr>
              <a:t>best val balanced acc.</a:t>
            </a:r>
          </a:p>
        </p:txBody>
      </p:sp>
      <p:cxnSp>
        <p:nvCxnSpPr>
          <p:cNvPr id="21" name="Connector 20"/>
          <p:cNvCxnSpPr/>
          <p:nvPr/>
        </p:nvCxnSpPr>
        <p:spPr>
          <a:xfrm>
            <a:off x="9400032" y="5417820"/>
            <a:ext cx="265176" cy="0"/>
          </a:xfrm>
          <a:prstGeom prst="line">
            <a:avLst/>
          </a:prstGeom>
          <a:ln w="22225">
            <a:solidFill>
              <a:srgbClr val="5D6D7E"/>
            </a:solidFill>
            <a:tailEnd type="triangle" w="med" len="med"/>
          </a:ln>
        </p:spPr>
      </p:cxnSp>
      <p:sp>
        <p:nvSpPr>
          <p:cNvPr id="22" name="Rounded Rectangle 21"/>
          <p:cNvSpPr/>
          <p:nvPr/>
        </p:nvSpPr>
        <p:spPr>
          <a:xfrm>
            <a:off x="9692640" y="5029200"/>
            <a:ext cx="1965960" cy="777240"/>
          </a:xfrm>
          <a:prstGeom prst="roundRect">
            <a:avLst>
              <a:gd name="adj" fmla="val 12000"/>
            </a:avLst>
          </a:prstGeom>
          <a:solidFill>
            <a:srgbClr val="FFFFFF"/>
          </a:solidFill>
          <a:ln w="19050">
            <a:solidFill>
              <a:srgbClr val="B2182B"/>
            </a:solidFill>
          </a:ln>
          <a:effectLst/>
        </p:spPr>
        <p:txBody>
          <a:bodyPr rtlCol="0" anchor="ctr" wrap="square" lIns="73152" rIns="73152" tIns="27432" bIns="27432"/>
          <a:lstStyle/>
          <a:p>
            <a:pPr algn="ctr"/>
            <a:r>
              <a:rPr sz="1500" b="1">
                <a:solidFill>
                  <a:srgbClr val="1F3A5F"/>
                </a:solidFill>
                <a:latin typeface="Arial"/>
              </a:rPr>
              <a:t>Test AUROC</a:t>
            </a:r>
          </a:p>
          <a:p>
            <a:pPr algn="ctr"/>
            <a:r>
              <a:rPr sz="1200" b="0">
                <a:solidFill>
                  <a:srgbClr val="5D6D7E"/>
                </a:solidFill>
                <a:latin typeface="Arial"/>
              </a:rPr>
              <a:t>+ 95% bootstrap CI</a:t>
            </a:r>
          </a:p>
        </p:txBody>
      </p:sp>
      <p:sp>
        <p:nvSpPr>
          <p:cNvPr id="23" name="TextBox 22"/>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24" name="TextBox 23"/>
          <p:cNvSpPr txBox="1"/>
          <p:nvPr/>
        </p:nvSpPr>
        <p:spPr>
          <a:xfrm>
            <a:off x="10362895" y="6510528"/>
            <a:ext cx="1280160" cy="237744"/>
          </a:xfrm>
          <a:prstGeom prst="rect">
            <a:avLst/>
          </a:prstGeom>
          <a:noFill/>
        </p:spPr>
        <p:txBody>
          <a:bodyPr wrap="square" lIns="0" rIns="0" tIns="0" bIns="0">
            <a:spAutoFit/>
          </a:bodyPr>
          <a:lstStyle/>
          <a:p>
            <a:pPr algn="r"/>
            <a:r>
              <a:rPr sz="1000" b="0" i="0">
                <a:solidFill>
                  <a:srgbClr val="5D6D7E"/>
                </a:solidFill>
                <a:latin typeface="Arial"/>
              </a:rPr>
              <a:t>6 /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0" i="0">
                <a:solidFill>
                  <a:srgbClr val="5D6D7E"/>
                </a:solidFill>
                <a:latin typeface="Arial"/>
              </a:rPr>
              <a:t>INTRODUCTION</a:t>
            </a:r>
          </a:p>
        </p:txBody>
      </p:sp>
      <p:sp>
        <p:nvSpPr>
          <p:cNvPr id="3" name="TextBox 2"/>
          <p:cNvSpPr txBox="1"/>
          <p:nvPr/>
        </p:nvSpPr>
        <p:spPr>
          <a:xfrm>
            <a:off x="2133556" y="256032"/>
            <a:ext cx="1584916" cy="274320"/>
          </a:xfrm>
          <a:prstGeom prst="rect">
            <a:avLst/>
          </a:prstGeom>
          <a:noFill/>
        </p:spPr>
        <p:txBody>
          <a:bodyPr wrap="square" lIns="0" rIns="0" tIns="0" bIns="0">
            <a:spAutoFit/>
          </a:bodyPr>
          <a:lstStyle/>
          <a:p>
            <a:pPr algn="ctr"/>
            <a:r>
              <a:rPr sz="1050" b="0" i="0">
                <a:solidFill>
                  <a:srgbClr val="5D6D7E"/>
                </a:solidFill>
                <a:latin typeface="Arial"/>
              </a:rPr>
              <a:t>NOVELTY</a:t>
            </a:r>
          </a:p>
        </p:txBody>
      </p:sp>
      <p:sp>
        <p:nvSpPr>
          <p:cNvPr id="4" name="TextBox 3"/>
          <p:cNvSpPr txBox="1"/>
          <p:nvPr/>
        </p:nvSpPr>
        <p:spPr>
          <a:xfrm>
            <a:off x="3718472" y="256032"/>
            <a:ext cx="1584916" cy="274320"/>
          </a:xfrm>
          <a:prstGeom prst="rect">
            <a:avLst/>
          </a:prstGeom>
          <a:noFill/>
        </p:spPr>
        <p:txBody>
          <a:bodyPr wrap="square" lIns="0" rIns="0" tIns="0" bIns="0">
            <a:spAutoFit/>
          </a:bodyPr>
          <a:lstStyle/>
          <a:p>
            <a:pPr algn="ctr"/>
            <a:r>
              <a:rPr sz="1050" b="0" i="0">
                <a:solidFill>
                  <a:srgbClr val="5D6D7E"/>
                </a:solidFill>
                <a:latin typeface="Arial"/>
              </a:rPr>
              <a:t>METHODOLOGY</a:t>
            </a:r>
          </a:p>
        </p:txBody>
      </p:sp>
      <p:sp>
        <p:nvSpPr>
          <p:cNvPr id="5" name="TextBox 4"/>
          <p:cNvSpPr txBox="1"/>
          <p:nvPr/>
        </p:nvSpPr>
        <p:spPr>
          <a:xfrm>
            <a:off x="5303389" y="256032"/>
            <a:ext cx="1584916" cy="274320"/>
          </a:xfrm>
          <a:prstGeom prst="rect">
            <a:avLst/>
          </a:prstGeom>
          <a:noFill/>
        </p:spPr>
        <p:txBody>
          <a:bodyPr wrap="square" lIns="0" rIns="0" tIns="0" bIns="0">
            <a:spAutoFit/>
          </a:bodyPr>
          <a:lstStyle/>
          <a:p>
            <a:pPr algn="ctr"/>
            <a:r>
              <a:rPr sz="1050" b="1" i="0">
                <a:solidFill>
                  <a:srgbClr val="B2182B"/>
                </a:solidFill>
                <a:latin typeface="Arial"/>
              </a:rPr>
              <a:t>EXPERIMENTS</a:t>
            </a:r>
          </a:p>
        </p:txBody>
      </p:sp>
      <p:sp>
        <p:nvSpPr>
          <p:cNvPr id="6" name="Rectangle 5"/>
          <p:cNvSpPr/>
          <p:nvPr/>
        </p:nvSpPr>
        <p:spPr>
          <a:xfrm>
            <a:off x="5531989" y="548640"/>
            <a:ext cx="1127716" cy="28575"/>
          </a:xfrm>
          <a:prstGeom prst="rect">
            <a:avLst/>
          </a:prstGeom>
          <a:solidFill>
            <a:srgbClr val="B2182B"/>
          </a:solidFill>
          <a:ln>
            <a:noFill/>
          </a:ln>
        </p:spPr>
        <p:txBody>
          <a:bodyPr rtlCol="0" anchor="ctr"/>
          <a:lstStyle/>
          <a:p>
            <a:pPr algn="ctr"/>
          </a:p>
        </p:txBody>
      </p:sp>
      <p:sp>
        <p:nvSpPr>
          <p:cNvPr id="7" name="TextBox 6"/>
          <p:cNvSpPr txBox="1"/>
          <p:nvPr/>
        </p:nvSpPr>
        <p:spPr>
          <a:xfrm>
            <a:off x="6888305" y="256032"/>
            <a:ext cx="1584916" cy="274320"/>
          </a:xfrm>
          <a:prstGeom prst="rect">
            <a:avLst/>
          </a:prstGeom>
          <a:noFill/>
        </p:spPr>
        <p:txBody>
          <a:bodyPr wrap="square" lIns="0" rIns="0" tIns="0" bIns="0">
            <a:spAutoFit/>
          </a:bodyPr>
          <a:lstStyle/>
          <a:p>
            <a:pPr algn="ctr"/>
            <a:r>
              <a:rPr sz="1050" b="0" i="0">
                <a:solidFill>
                  <a:srgbClr val="5D6D7E"/>
                </a:solidFill>
                <a:latin typeface="Arial"/>
              </a:rPr>
              <a:t>RESULTS</a:t>
            </a:r>
          </a:p>
        </p:txBody>
      </p:sp>
      <p:sp>
        <p:nvSpPr>
          <p:cNvPr id="8" name="TextBox 7"/>
          <p:cNvSpPr txBox="1"/>
          <p:nvPr/>
        </p:nvSpPr>
        <p:spPr>
          <a:xfrm>
            <a:off x="8473222" y="256032"/>
            <a:ext cx="1584916" cy="274320"/>
          </a:xfrm>
          <a:prstGeom prst="rect">
            <a:avLst/>
          </a:prstGeom>
          <a:noFill/>
        </p:spPr>
        <p:txBody>
          <a:bodyPr wrap="square" lIns="0" rIns="0" tIns="0" bIns="0">
            <a:spAutoFit/>
          </a:bodyPr>
          <a:lstStyle/>
          <a:p>
            <a:pPr algn="ctr"/>
            <a:r>
              <a:rPr sz="1050" b="0" i="0">
                <a:solidFill>
                  <a:srgbClr val="5D6D7E"/>
                </a:solidFill>
                <a:latin typeface="Arial"/>
              </a:rPr>
              <a:t>LIMITATIONS</a:t>
            </a: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0" i="0">
                <a:solidFill>
                  <a:srgbClr val="5D6D7E"/>
                </a:solidFill>
                <a:latin typeface="Arial"/>
              </a:rPr>
              <a:t>FUTURE</a:t>
            </a:r>
          </a:p>
        </p:txBody>
      </p:sp>
      <p:sp>
        <p:nvSpPr>
          <p:cNvPr id="10" name="Rectangle 9"/>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1" name="TextBox 10"/>
          <p:cNvSpPr txBox="1"/>
          <p:nvPr/>
        </p:nvSpPr>
        <p:spPr>
          <a:xfrm>
            <a:off x="548640" y="713232"/>
            <a:ext cx="9418320" cy="548640"/>
          </a:xfrm>
          <a:prstGeom prst="rect">
            <a:avLst/>
          </a:prstGeom>
          <a:noFill/>
        </p:spPr>
        <p:txBody>
          <a:bodyPr wrap="square" lIns="0" rIns="0" tIns="0" bIns="0">
            <a:spAutoFit/>
          </a:bodyPr>
          <a:lstStyle/>
          <a:p>
            <a:pPr algn="l"/>
            <a:r>
              <a:rPr sz="2700" b="1" i="0">
                <a:solidFill>
                  <a:srgbClr val="1F3A5F"/>
                </a:solidFill>
                <a:latin typeface="Georgia"/>
              </a:rPr>
              <a:t>Experiments: what each one tests</a:t>
            </a:r>
          </a:p>
        </p:txBody>
      </p:sp>
      <p:sp>
        <p:nvSpPr>
          <p:cNvPr id="12" name="TextBox 11"/>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2</a:t>
            </a:r>
          </a:p>
        </p:txBody>
      </p:sp>
      <p:graphicFrame>
        <p:nvGraphicFramePr>
          <p:cNvPr id="13" name="Table 12"/>
          <p:cNvGraphicFramePr>
            <a:graphicFrameLocks noGrp="1"/>
          </p:cNvGraphicFramePr>
          <p:nvPr/>
        </p:nvGraphicFramePr>
        <p:xfrm>
          <a:off x="548640" y="1371600"/>
          <a:ext cx="6949440" cy="3008376"/>
        </p:xfrm>
        <a:graphic>
          <a:graphicData uri="http://schemas.openxmlformats.org/drawingml/2006/table">
            <a:tbl>
              <a:tblPr firstRow="1" bandRow="1">
                <a:tableStyleId>{5C22544A-7EE6-4342-B048-85BDC9FD1C3A}</a:tableStyleId>
              </a:tblPr>
              <a:tblGrid>
                <a:gridCol w="548640"/>
                <a:gridCol w="2057400"/>
                <a:gridCol w="1737360"/>
                <a:gridCol w="2606040"/>
              </a:tblGrid>
              <a:tr h="429768">
                <a:tc>
                  <a:txBody>
                    <a:bodyPr wrap="square"/>
                    <a:lstStyle/>
                    <a:p>
                      <a:pPr algn="l"/>
                    </a:p>
                  </a:txBody>
                  <a:tcPr marL="109728" marR="109728" marT="54864" marB="54864" anchor="ctr">
                    <a:lnB w="9525" cap="flat">
                      <a:solidFill>
                        <a:srgbClr val="D5DBDB"/>
                      </a:solidFill>
                    </a:lnB>
                    <a:solidFill>
                      <a:srgbClr val="F2F5F8"/>
                    </a:solidFill>
                  </a:tcPr>
                </a:tc>
                <a:tc>
                  <a:txBody>
                    <a:bodyPr wrap="square"/>
                    <a:lstStyle/>
                    <a:p>
                      <a:pPr algn="l"/>
                      <a:r>
                        <a:rPr sz="1250" b="1">
                          <a:solidFill>
                            <a:srgbClr val="5D6D7E"/>
                          </a:solidFill>
                          <a:latin typeface="Arial"/>
                        </a:rPr>
                        <a:t>Images</a:t>
                      </a:r>
                    </a:p>
                  </a:txBody>
                  <a:tcPr marL="109728" marR="109728" marT="54864" marB="54864" anchor="ctr">
                    <a:lnB w="9525" cap="flat">
                      <a:solidFill>
                        <a:srgbClr val="D5DBDB"/>
                      </a:solidFill>
                    </a:lnB>
                    <a:solidFill>
                      <a:srgbClr val="F2F5F8"/>
                    </a:solidFill>
                  </a:tcPr>
                </a:tc>
                <a:tc>
                  <a:txBody>
                    <a:bodyPr wrap="square"/>
                    <a:lstStyle/>
                    <a:p>
                      <a:pPr algn="l"/>
                      <a:r>
                        <a:rPr sz="1250" b="1">
                          <a:solidFill>
                            <a:srgbClr val="5D6D7E"/>
                          </a:solidFill>
                          <a:latin typeface="Arial"/>
                        </a:rPr>
                        <a:t>Trained on</a:t>
                      </a:r>
                    </a:p>
                  </a:txBody>
                  <a:tcPr marL="109728" marR="109728" marT="54864" marB="54864" anchor="ctr">
                    <a:lnB w="9525" cap="flat">
                      <a:solidFill>
                        <a:srgbClr val="D5DBDB"/>
                      </a:solidFill>
                    </a:lnB>
                    <a:solidFill>
                      <a:srgbClr val="F2F5F8"/>
                    </a:solidFill>
                  </a:tcPr>
                </a:tc>
                <a:tc>
                  <a:txBody>
                    <a:bodyPr wrap="square"/>
                    <a:lstStyle/>
                    <a:p>
                      <a:pPr algn="l"/>
                      <a:r>
                        <a:rPr sz="1250" b="1">
                          <a:solidFill>
                            <a:srgbClr val="5D6D7E"/>
                          </a:solidFill>
                          <a:latin typeface="Arial"/>
                        </a:rPr>
                        <a:t>Why it matters</a:t>
                      </a:r>
                    </a:p>
                  </a:txBody>
                  <a:tcPr marL="109728" marR="109728" marT="54864" marB="54864" anchor="ctr">
                    <a:lnB w="9525" cap="flat">
                      <a:solidFill>
                        <a:srgbClr val="D5DBDB"/>
                      </a:solidFill>
                    </a:lnB>
                    <a:solidFill>
                      <a:srgbClr val="F2F5F8"/>
                    </a:solidFill>
                  </a:tcPr>
                </a:tc>
              </a:tr>
              <a:tr h="429768">
                <a:tc>
                  <a:txBody>
                    <a:bodyPr wrap="square"/>
                    <a:lstStyle/>
                    <a:p>
                      <a:pPr algn="l"/>
                      <a:r>
                        <a:rPr sz="1350" b="1">
                          <a:solidFill>
                            <a:srgbClr val="1C2833"/>
                          </a:solidFill>
                          <a:latin typeface="Arial"/>
                        </a:rPr>
                        <a:t>E1</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clean (C0)</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all 3 generators</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is there any signal?</a:t>
                      </a:r>
                    </a:p>
                  </a:txBody>
                  <a:tcPr marL="109728" marR="109728" marT="54864" marB="54864" anchor="ctr">
                    <a:lnB w="9525" cap="flat">
                      <a:solidFill>
                        <a:srgbClr val="D5DBDB"/>
                      </a:solidFill>
                    </a:lnB>
                    <a:solidFill>
                      <a:srgbClr val="FFFFFF"/>
                    </a:solidFill>
                  </a:tcPr>
                </a:tc>
              </a:tr>
              <a:tr h="429768">
                <a:tc>
                  <a:txBody>
                    <a:bodyPr wrap="square"/>
                    <a:lstStyle/>
                    <a:p>
                      <a:pPr algn="l"/>
                      <a:r>
                        <a:rPr sz="1350" b="1">
                          <a:solidFill>
                            <a:srgbClr val="1C2833"/>
                          </a:solidFill>
                          <a:latin typeface="Arial"/>
                        </a:rPr>
                        <a:t>E2</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reals JPEG, fakes PNG</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all 3</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how an unfair pipeline cheats</a:t>
                      </a:r>
                    </a:p>
                  </a:txBody>
                  <a:tcPr marL="109728" marR="109728" marT="54864" marB="54864" anchor="ctr">
                    <a:lnB w="9525" cap="flat">
                      <a:solidFill>
                        <a:srgbClr val="D5DBDB"/>
                      </a:solidFill>
                    </a:lnB>
                    <a:solidFill>
                      <a:srgbClr val="FFFFFF"/>
                    </a:solidFill>
                  </a:tcPr>
                </a:tc>
              </a:tr>
              <a:tr h="429768">
                <a:tc>
                  <a:txBody>
                    <a:bodyPr wrap="square"/>
                    <a:lstStyle/>
                    <a:p>
                      <a:pPr algn="l"/>
                      <a:r>
                        <a:rPr sz="1350" b="1">
                          <a:solidFill>
                            <a:srgbClr val="1C2833"/>
                          </a:solidFill>
                          <a:latin typeface="Arial"/>
                        </a:rPr>
                        <a:t>E3</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both JPEG 90 / 75 / 50</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all 3</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real images are compressed</a:t>
                      </a:r>
                    </a:p>
                  </a:txBody>
                  <a:tcPr marL="109728" marR="109728" marT="54864" marB="54864" anchor="ctr">
                    <a:lnB w="9525" cap="flat">
                      <a:solidFill>
                        <a:srgbClr val="D5DBDB"/>
                      </a:solidFill>
                    </a:lnB>
                    <a:solidFill>
                      <a:srgbClr val="FFFFFF"/>
                    </a:solidFill>
                  </a:tcPr>
                </a:tc>
              </a:tr>
              <a:tr h="429768">
                <a:tc>
                  <a:txBody>
                    <a:bodyPr wrap="square"/>
                    <a:lstStyle/>
                    <a:p>
                      <a:pPr algn="l"/>
                      <a:r>
                        <a:rPr sz="1350" b="1">
                          <a:solidFill>
                            <a:srgbClr val="1C2833"/>
                          </a:solidFill>
                          <a:latin typeface="Arial"/>
                        </a:rPr>
                        <a:t>E4</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clean (C0)</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SD v1.4 held out</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a generator never seen</a:t>
                      </a:r>
                    </a:p>
                  </a:txBody>
                  <a:tcPr marL="109728" marR="109728" marT="54864" marB="54864" anchor="ctr">
                    <a:lnB w="9525" cap="flat">
                      <a:solidFill>
                        <a:srgbClr val="D5DBDB"/>
                      </a:solidFill>
                    </a:lnB>
                    <a:solidFill>
                      <a:srgbClr val="FFFFFF"/>
                    </a:solidFill>
                  </a:tcPr>
                </a:tc>
              </a:tr>
              <a:tr h="429768">
                <a:tc>
                  <a:txBody>
                    <a:bodyPr wrap="square"/>
                    <a:lstStyle/>
                    <a:p>
                      <a:pPr algn="l"/>
                      <a:r>
                        <a:rPr sz="1350" b="1">
                          <a:solidFill>
                            <a:srgbClr val="1C2833"/>
                          </a:solidFill>
                          <a:latin typeface="Arial"/>
                        </a:rPr>
                        <a:t>E5</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JPEG 75</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SD v1.4 held out</a:t>
                      </a:r>
                    </a:p>
                  </a:txBody>
                  <a:tcPr marL="109728" marR="109728" marT="54864" marB="54864" anchor="ctr">
                    <a:lnB w="9525" cap="flat">
                      <a:solidFill>
                        <a:srgbClr val="D5DBDB"/>
                      </a:solidFill>
                    </a:lnB>
                    <a:solidFill>
                      <a:srgbClr val="FFFFFF"/>
                    </a:solidFill>
                  </a:tcPr>
                </a:tc>
                <a:tc>
                  <a:txBody>
                    <a:bodyPr wrap="square"/>
                    <a:lstStyle/>
                    <a:p>
                      <a:pPr algn="l"/>
                      <a:r>
                        <a:rPr sz="1350" b="0">
                          <a:solidFill>
                            <a:srgbClr val="1C2833"/>
                          </a:solidFill>
                          <a:latin typeface="Arial"/>
                        </a:rPr>
                        <a:t>both stresses (headline)</a:t>
                      </a:r>
                    </a:p>
                  </a:txBody>
                  <a:tcPr marL="109728" marR="109728" marT="54864" marB="54864" anchor="ctr">
                    <a:lnB w="9525" cap="flat">
                      <a:solidFill>
                        <a:srgbClr val="D5DBDB"/>
                      </a:solidFill>
                    </a:lnB>
                    <a:solidFill>
                      <a:srgbClr val="FFFFFF"/>
                    </a:solidFill>
                  </a:tcPr>
                </a:tc>
              </a:tr>
              <a:tr h="429768">
                <a:tc>
                  <a:txBody>
                    <a:bodyPr wrap="square"/>
                    <a:lstStyle/>
                    <a:p>
                      <a:pPr algn="l"/>
                      <a:r>
                        <a:rPr sz="1350" b="1">
                          <a:solidFill>
                            <a:srgbClr val="B2182B"/>
                          </a:solidFill>
                          <a:latin typeface="Arial"/>
                        </a:rPr>
                        <a:t>R</a:t>
                      </a:r>
                    </a:p>
                  </a:txBody>
                  <a:tcPr marL="109728" marR="109728" marT="54864" marB="54864" anchor="ctr">
                    <a:lnB w="9525" cap="flat">
                      <a:solidFill>
                        <a:srgbClr val="D5DBDB"/>
                      </a:solidFill>
                    </a:lnB>
                    <a:solidFill>
                      <a:srgbClr val="FBEEF0"/>
                    </a:solidFill>
                  </a:tcPr>
                </a:tc>
                <a:tc>
                  <a:txBody>
                    <a:bodyPr wrap="square"/>
                    <a:lstStyle/>
                    <a:p>
                      <a:pPr algn="l"/>
                      <a:r>
                        <a:rPr sz="1350" b="0">
                          <a:solidFill>
                            <a:srgbClr val="B2182B"/>
                          </a:solidFill>
                          <a:latin typeface="Arial"/>
                        </a:rPr>
                        <a:t>same resampling for all</a:t>
                      </a:r>
                    </a:p>
                  </a:txBody>
                  <a:tcPr marL="109728" marR="109728" marT="54864" marB="54864" anchor="ctr">
                    <a:lnB w="9525" cap="flat">
                      <a:solidFill>
                        <a:srgbClr val="D5DBDB"/>
                      </a:solidFill>
                    </a:lnB>
                    <a:solidFill>
                      <a:srgbClr val="FBEEF0"/>
                    </a:solidFill>
                  </a:tcPr>
                </a:tc>
                <a:tc>
                  <a:txBody>
                    <a:bodyPr wrap="square"/>
                    <a:lstStyle/>
                    <a:p>
                      <a:pPr algn="l"/>
                      <a:r>
                        <a:rPr sz="1350" b="0">
                          <a:solidFill>
                            <a:srgbClr val="B2182B"/>
                          </a:solidFill>
                          <a:latin typeface="Arial"/>
                        </a:rPr>
                        <a:t>as E1 and E4</a:t>
                      </a:r>
                    </a:p>
                  </a:txBody>
                  <a:tcPr marL="109728" marR="109728" marT="54864" marB="54864" anchor="ctr">
                    <a:lnB w="9525" cap="flat">
                      <a:solidFill>
                        <a:srgbClr val="D5DBDB"/>
                      </a:solidFill>
                    </a:lnB>
                    <a:solidFill>
                      <a:srgbClr val="FBEEF0"/>
                    </a:solidFill>
                  </a:tcPr>
                </a:tc>
                <a:tc>
                  <a:txBody>
                    <a:bodyPr wrap="square"/>
                    <a:lstStyle/>
                    <a:p>
                      <a:pPr algn="l"/>
                      <a:r>
                        <a:rPr sz="1350" b="0">
                          <a:solidFill>
                            <a:srgbClr val="B2182B"/>
                          </a:solidFill>
                          <a:latin typeface="Arial"/>
                        </a:rPr>
                        <a:t>is it resampling history?</a:t>
                      </a:r>
                    </a:p>
                  </a:txBody>
                  <a:tcPr marL="109728" marR="109728" marT="54864" marB="54864" anchor="ctr">
                    <a:lnB w="9525" cap="flat">
                      <a:solidFill>
                        <a:srgbClr val="D5DBDB"/>
                      </a:solidFill>
                    </a:lnB>
                    <a:solidFill>
                      <a:srgbClr val="FBEEF0"/>
                    </a:solidFill>
                  </a:tcPr>
                </a:tc>
              </a:tr>
            </a:tbl>
          </a:graphicData>
        </a:graphic>
      </p:graphicFrame>
      <p:pic>
        <p:nvPicPr>
          <p:cNvPr id="14" name="Picture 13" descr="jpeg_strip.png"/>
          <p:cNvPicPr>
            <a:picLocks noChangeAspect="1"/>
          </p:cNvPicPr>
          <p:nvPr/>
        </p:nvPicPr>
        <p:blipFill>
          <a:blip r:embed="rId2"/>
          <a:stretch>
            <a:fillRect/>
          </a:stretch>
        </p:blipFill>
        <p:spPr>
          <a:xfrm>
            <a:off x="1326442" y="4663440"/>
            <a:ext cx="5393835" cy="1691640"/>
          </a:xfrm>
          <a:prstGeom prst="rect">
            <a:avLst/>
          </a:prstGeom>
          <a:ln w="9525">
            <a:solidFill>
              <a:srgbClr val="D5DBDB"/>
            </a:solidFill>
          </a:ln>
        </p:spPr>
      </p:pic>
      <p:sp>
        <p:nvSpPr>
          <p:cNvPr id="15" name="TextBox 14"/>
          <p:cNvSpPr txBox="1"/>
          <p:nvPr/>
        </p:nvSpPr>
        <p:spPr>
          <a:xfrm>
            <a:off x="7772400" y="1417320"/>
            <a:ext cx="3886200" cy="274320"/>
          </a:xfrm>
          <a:prstGeom prst="rect">
            <a:avLst/>
          </a:prstGeom>
          <a:noFill/>
        </p:spPr>
        <p:txBody>
          <a:bodyPr wrap="square" lIns="0" rIns="0" tIns="0" bIns="0">
            <a:spAutoFit/>
          </a:bodyPr>
          <a:lstStyle/>
          <a:p>
            <a:pPr algn="l"/>
            <a:r>
              <a:rPr sz="1350" b="1" i="0">
                <a:solidFill>
                  <a:srgbClr val="B2182B"/>
                </a:solidFill>
                <a:latin typeface="Arial"/>
              </a:rPr>
              <a:t>R: how every image is resampled</a:t>
            </a:r>
          </a:p>
        </p:txBody>
      </p:sp>
      <p:sp>
        <p:nvSpPr>
          <p:cNvPr id="16" name="Rounded Rectangle 15"/>
          <p:cNvSpPr/>
          <p:nvPr/>
        </p:nvSpPr>
        <p:spPr>
          <a:xfrm>
            <a:off x="7772400" y="1828800"/>
            <a:ext cx="3886200" cy="530352"/>
          </a:xfrm>
          <a:prstGeom prst="roundRect">
            <a:avLst>
              <a:gd name="adj" fmla="val 12000"/>
            </a:avLst>
          </a:prstGeom>
          <a:solidFill>
            <a:srgbClr val="FFFFFF"/>
          </a:solidFill>
          <a:ln w="15875">
            <a:solidFill>
              <a:srgbClr val="D5DBDB"/>
            </a:solidFill>
          </a:ln>
          <a:effectLst/>
        </p:spPr>
        <p:txBody>
          <a:bodyPr rtlCol="0" anchor="ctr" wrap="square" lIns="73152" rIns="73152" tIns="27432" bIns="27432"/>
          <a:lstStyle/>
          <a:p>
            <a:pPr algn="ctr"/>
            <a:r>
              <a:rPr sz="1400" b="1">
                <a:solidFill>
                  <a:srgbClr val="1C2833"/>
                </a:solidFill>
                <a:latin typeface="Arial"/>
              </a:rPr>
              <a:t>native image</a:t>
            </a:r>
          </a:p>
          <a:p>
            <a:pPr algn="ctr"/>
            <a:r>
              <a:rPr sz="1150" b="0">
                <a:solidFill>
                  <a:srgbClr val="5D6D7E"/>
                </a:solidFill>
                <a:latin typeface="Arial"/>
              </a:rPr>
              <a:t>no resize</a:t>
            </a:r>
          </a:p>
        </p:txBody>
      </p:sp>
      <p:cxnSp>
        <p:nvCxnSpPr>
          <p:cNvPr id="17" name="Connector 16"/>
          <p:cNvCxnSpPr/>
          <p:nvPr/>
        </p:nvCxnSpPr>
        <p:spPr>
          <a:xfrm>
            <a:off x="9710928" y="2359152"/>
            <a:ext cx="0" cy="182880"/>
          </a:xfrm>
          <a:prstGeom prst="line">
            <a:avLst/>
          </a:prstGeom>
          <a:ln w="22225">
            <a:solidFill>
              <a:srgbClr val="5D6D7E"/>
            </a:solidFill>
            <a:tailEnd type="triangle" w="med" len="med"/>
          </a:ln>
        </p:spPr>
      </p:cxnSp>
      <p:sp>
        <p:nvSpPr>
          <p:cNvPr id="18" name="Rounded Rectangle 17"/>
          <p:cNvSpPr/>
          <p:nvPr/>
        </p:nvSpPr>
        <p:spPr>
          <a:xfrm>
            <a:off x="7772400" y="2542032"/>
            <a:ext cx="3886200" cy="530352"/>
          </a:xfrm>
          <a:prstGeom prst="roundRect">
            <a:avLst>
              <a:gd name="adj" fmla="val 12000"/>
            </a:avLst>
          </a:prstGeom>
          <a:solidFill>
            <a:srgbClr val="FFFFFF"/>
          </a:solidFill>
          <a:ln w="15875">
            <a:solidFill>
              <a:srgbClr val="D5DBDB"/>
            </a:solidFill>
          </a:ln>
          <a:effectLst/>
        </p:spPr>
        <p:txBody>
          <a:bodyPr rtlCol="0" anchor="ctr" wrap="square" lIns="73152" rIns="73152" tIns="27432" bIns="27432"/>
          <a:lstStyle/>
          <a:p>
            <a:pPr algn="ctr"/>
            <a:r>
              <a:rPr sz="1400" b="1">
                <a:solidFill>
                  <a:srgbClr val="1C2833"/>
                </a:solidFill>
                <a:latin typeface="Arial"/>
              </a:rPr>
              <a:t>crop 128 x 128</a:t>
            </a:r>
          </a:p>
          <a:p>
            <a:pPr algn="ctr"/>
            <a:r>
              <a:rPr sz="1150" b="0">
                <a:solidFill>
                  <a:srgbClr val="5D6D7E"/>
                </a:solidFill>
                <a:latin typeface="Arial"/>
              </a:rPr>
              <a:t>native pixels</a:t>
            </a:r>
          </a:p>
        </p:txBody>
      </p:sp>
      <p:cxnSp>
        <p:nvCxnSpPr>
          <p:cNvPr id="19" name="Connector 18"/>
          <p:cNvCxnSpPr/>
          <p:nvPr/>
        </p:nvCxnSpPr>
        <p:spPr>
          <a:xfrm>
            <a:off x="9710928" y="3072384"/>
            <a:ext cx="0" cy="182880"/>
          </a:xfrm>
          <a:prstGeom prst="line">
            <a:avLst/>
          </a:prstGeom>
          <a:ln w="22225">
            <a:solidFill>
              <a:srgbClr val="5D6D7E"/>
            </a:solidFill>
            <a:tailEnd type="triangle" w="med" len="med"/>
          </a:ln>
        </p:spPr>
      </p:cxnSp>
      <p:sp>
        <p:nvSpPr>
          <p:cNvPr id="20" name="Rounded Rectangle 19"/>
          <p:cNvSpPr/>
          <p:nvPr/>
        </p:nvSpPr>
        <p:spPr>
          <a:xfrm>
            <a:off x="7772400" y="3255264"/>
            <a:ext cx="3886200" cy="530352"/>
          </a:xfrm>
          <a:prstGeom prst="roundRect">
            <a:avLst>
              <a:gd name="adj" fmla="val 12000"/>
            </a:avLst>
          </a:prstGeom>
          <a:solidFill>
            <a:srgbClr val="FFFFFF"/>
          </a:solidFill>
          <a:ln w="15875">
            <a:solidFill>
              <a:srgbClr val="B2182B"/>
            </a:solidFill>
          </a:ln>
          <a:effectLst/>
        </p:spPr>
        <p:txBody>
          <a:bodyPr rtlCol="0" anchor="ctr" wrap="square" lIns="73152" rIns="73152" tIns="27432" bIns="27432"/>
          <a:lstStyle/>
          <a:p>
            <a:pPr algn="ctr"/>
            <a:r>
              <a:rPr sz="1400" b="1">
                <a:solidFill>
                  <a:srgbClr val="1C2833"/>
                </a:solidFill>
                <a:latin typeface="Arial"/>
              </a:rPr>
              <a:t>enlarge 2x</a:t>
            </a:r>
          </a:p>
          <a:p>
            <a:pPr algn="ctr"/>
            <a:r>
              <a:rPr sz="1150" b="0">
                <a:solidFill>
                  <a:srgbClr val="5D6D7E"/>
                </a:solidFill>
                <a:latin typeface="Arial"/>
              </a:rPr>
              <a:t>bicubic, all classes</a:t>
            </a:r>
          </a:p>
        </p:txBody>
      </p:sp>
      <p:sp>
        <p:nvSpPr>
          <p:cNvPr id="21" name="TextBox 20"/>
          <p:cNvSpPr txBox="1"/>
          <p:nvPr/>
        </p:nvSpPr>
        <p:spPr>
          <a:xfrm>
            <a:off x="7772400" y="4114800"/>
            <a:ext cx="3886200" cy="1463040"/>
          </a:xfrm>
          <a:prstGeom prst="rect">
            <a:avLst/>
          </a:prstGeom>
          <a:noFill/>
        </p:spPr>
        <p:txBody>
          <a:bodyPr wrap="square" lIns="0" rIns="0" tIns="0" bIns="0">
            <a:spAutoFit/>
          </a:bodyPr>
          <a:lstStyle/>
          <a:p>
            <a:pPr algn="l">
              <a:lnSpc>
                <a:spcPct val="120000"/>
              </a:lnSpc>
            </a:pPr>
            <a:r>
              <a:rPr sz="1300" b="0" i="0">
                <a:solidFill>
                  <a:srgbClr val="5D6D7E"/>
                </a:solidFill>
                <a:latin typeface="Arial"/>
              </a:rPr>
              <a:t>E1–E5 were fixed in advance.</a:t>
            </a:r>
          </a:p>
          <a:p>
            <a:pPr algn="l">
              <a:lnSpc>
                <a:spcPct val="120000"/>
              </a:lnSpc>
            </a:pPr>
            <a:r>
              <a:rPr sz="1300" b="0" i="0">
                <a:solidFill>
                  <a:srgbClr val="5D6D7E"/>
                </a:solidFill>
                <a:latin typeface="Arial"/>
              </a:rPr>
              <a:t>R was added after the results: exploratory.</a:t>
            </a:r>
          </a:p>
          <a:p>
            <a:pPr algn="l">
              <a:lnSpc>
                <a:spcPct val="120000"/>
              </a:lnSpc>
            </a:pPr>
            <a:r>
              <a:rPr sz="1300" b="0" i="0">
                <a:solidFill>
                  <a:srgbClr val="5D6D7E"/>
                </a:solidFill>
                <a:latin typeface="Arial"/>
              </a:rPr>
              <a:t>BigGAN (128 px) is pixel-identical in C0 and R.</a:t>
            </a:r>
          </a:p>
        </p:txBody>
      </p:sp>
      <p:sp>
        <p:nvSpPr>
          <p:cNvPr id="22" name="TextBox 21"/>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23" name="TextBox 22"/>
          <p:cNvSpPr txBox="1"/>
          <p:nvPr/>
        </p:nvSpPr>
        <p:spPr>
          <a:xfrm>
            <a:off x="10362895" y="6510528"/>
            <a:ext cx="1280160" cy="237744"/>
          </a:xfrm>
          <a:prstGeom prst="rect">
            <a:avLst/>
          </a:prstGeom>
          <a:noFill/>
        </p:spPr>
        <p:txBody>
          <a:bodyPr wrap="square" lIns="0" rIns="0" tIns="0" bIns="0">
            <a:spAutoFit/>
          </a:bodyPr>
          <a:lstStyle/>
          <a:p>
            <a:pPr algn="r"/>
            <a:r>
              <a:rPr sz="1000" b="0" i="0">
                <a:solidFill>
                  <a:srgbClr val="5D6D7E"/>
                </a:solidFill>
                <a:latin typeface="Arial"/>
              </a:rPr>
              <a:t>7 /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0" i="0">
                <a:solidFill>
                  <a:srgbClr val="5D6D7E"/>
                </a:solidFill>
                <a:latin typeface="Arial"/>
              </a:rPr>
              <a:t>INTRODUCTION</a:t>
            </a:r>
          </a:p>
        </p:txBody>
      </p:sp>
      <p:sp>
        <p:nvSpPr>
          <p:cNvPr id="3" name="TextBox 2"/>
          <p:cNvSpPr txBox="1"/>
          <p:nvPr/>
        </p:nvSpPr>
        <p:spPr>
          <a:xfrm>
            <a:off x="2133556" y="256032"/>
            <a:ext cx="1584916" cy="274320"/>
          </a:xfrm>
          <a:prstGeom prst="rect">
            <a:avLst/>
          </a:prstGeom>
          <a:noFill/>
        </p:spPr>
        <p:txBody>
          <a:bodyPr wrap="square" lIns="0" rIns="0" tIns="0" bIns="0">
            <a:spAutoFit/>
          </a:bodyPr>
          <a:lstStyle/>
          <a:p>
            <a:pPr algn="ctr"/>
            <a:r>
              <a:rPr sz="1050" b="0" i="0">
                <a:solidFill>
                  <a:srgbClr val="5D6D7E"/>
                </a:solidFill>
                <a:latin typeface="Arial"/>
              </a:rPr>
              <a:t>NOVELTY</a:t>
            </a:r>
          </a:p>
        </p:txBody>
      </p:sp>
      <p:sp>
        <p:nvSpPr>
          <p:cNvPr id="4" name="TextBox 3"/>
          <p:cNvSpPr txBox="1"/>
          <p:nvPr/>
        </p:nvSpPr>
        <p:spPr>
          <a:xfrm>
            <a:off x="3718472" y="256032"/>
            <a:ext cx="1584916" cy="274320"/>
          </a:xfrm>
          <a:prstGeom prst="rect">
            <a:avLst/>
          </a:prstGeom>
          <a:noFill/>
        </p:spPr>
        <p:txBody>
          <a:bodyPr wrap="square" lIns="0" rIns="0" tIns="0" bIns="0">
            <a:spAutoFit/>
          </a:bodyPr>
          <a:lstStyle/>
          <a:p>
            <a:pPr algn="ctr"/>
            <a:r>
              <a:rPr sz="1050" b="0" i="0">
                <a:solidFill>
                  <a:srgbClr val="5D6D7E"/>
                </a:solidFill>
                <a:latin typeface="Arial"/>
              </a:rPr>
              <a:t>METHODOLOGY</a:t>
            </a:r>
          </a:p>
        </p:txBody>
      </p:sp>
      <p:sp>
        <p:nvSpPr>
          <p:cNvPr id="5" name="TextBox 4"/>
          <p:cNvSpPr txBox="1"/>
          <p:nvPr/>
        </p:nvSpPr>
        <p:spPr>
          <a:xfrm>
            <a:off x="5303389" y="256032"/>
            <a:ext cx="1584916" cy="274320"/>
          </a:xfrm>
          <a:prstGeom prst="rect">
            <a:avLst/>
          </a:prstGeom>
          <a:noFill/>
        </p:spPr>
        <p:txBody>
          <a:bodyPr wrap="square" lIns="0" rIns="0" tIns="0" bIns="0">
            <a:spAutoFit/>
          </a:bodyPr>
          <a:lstStyle/>
          <a:p>
            <a:pPr algn="ctr"/>
            <a:r>
              <a:rPr sz="1050" b="0" i="0">
                <a:solidFill>
                  <a:srgbClr val="5D6D7E"/>
                </a:solidFill>
                <a:latin typeface="Arial"/>
              </a:rPr>
              <a:t>EXPERIMENTS</a:t>
            </a:r>
          </a:p>
        </p:txBody>
      </p:sp>
      <p:sp>
        <p:nvSpPr>
          <p:cNvPr id="6" name="TextBox 5"/>
          <p:cNvSpPr txBox="1"/>
          <p:nvPr/>
        </p:nvSpPr>
        <p:spPr>
          <a:xfrm>
            <a:off x="6888305" y="256032"/>
            <a:ext cx="1584916" cy="274320"/>
          </a:xfrm>
          <a:prstGeom prst="rect">
            <a:avLst/>
          </a:prstGeom>
          <a:noFill/>
        </p:spPr>
        <p:txBody>
          <a:bodyPr wrap="square" lIns="0" rIns="0" tIns="0" bIns="0">
            <a:spAutoFit/>
          </a:bodyPr>
          <a:lstStyle/>
          <a:p>
            <a:pPr algn="ctr"/>
            <a:r>
              <a:rPr sz="1050" b="1" i="0">
                <a:solidFill>
                  <a:srgbClr val="B2182B"/>
                </a:solidFill>
                <a:latin typeface="Arial"/>
              </a:rPr>
              <a:t>RESULTS</a:t>
            </a:r>
          </a:p>
        </p:txBody>
      </p:sp>
      <p:sp>
        <p:nvSpPr>
          <p:cNvPr id="7" name="Rectangle 6"/>
          <p:cNvSpPr/>
          <p:nvPr/>
        </p:nvSpPr>
        <p:spPr>
          <a:xfrm>
            <a:off x="7116905" y="548640"/>
            <a:ext cx="1127716" cy="28575"/>
          </a:xfrm>
          <a:prstGeom prst="rect">
            <a:avLst/>
          </a:prstGeom>
          <a:solidFill>
            <a:srgbClr val="B2182B"/>
          </a:solidFill>
          <a:ln>
            <a:noFill/>
          </a:ln>
        </p:spPr>
        <p:txBody>
          <a:bodyPr rtlCol="0" anchor="ctr"/>
          <a:lstStyle/>
          <a:p>
            <a:pPr algn="ctr"/>
          </a:p>
        </p:txBody>
      </p:sp>
      <p:sp>
        <p:nvSpPr>
          <p:cNvPr id="8" name="TextBox 7"/>
          <p:cNvSpPr txBox="1"/>
          <p:nvPr/>
        </p:nvSpPr>
        <p:spPr>
          <a:xfrm>
            <a:off x="8473222" y="256032"/>
            <a:ext cx="1584916" cy="274320"/>
          </a:xfrm>
          <a:prstGeom prst="rect">
            <a:avLst/>
          </a:prstGeom>
          <a:noFill/>
        </p:spPr>
        <p:txBody>
          <a:bodyPr wrap="square" lIns="0" rIns="0" tIns="0" bIns="0">
            <a:spAutoFit/>
          </a:bodyPr>
          <a:lstStyle/>
          <a:p>
            <a:pPr algn="ctr"/>
            <a:r>
              <a:rPr sz="1050" b="0" i="0">
                <a:solidFill>
                  <a:srgbClr val="5D6D7E"/>
                </a:solidFill>
                <a:latin typeface="Arial"/>
              </a:rPr>
              <a:t>LIMITATIONS</a:t>
            </a: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0" i="0">
                <a:solidFill>
                  <a:srgbClr val="5D6D7E"/>
                </a:solidFill>
                <a:latin typeface="Arial"/>
              </a:rPr>
              <a:t>FUTURE</a:t>
            </a:r>
          </a:p>
        </p:txBody>
      </p:sp>
      <p:sp>
        <p:nvSpPr>
          <p:cNvPr id="10" name="Rectangle 9"/>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1" name="TextBox 10"/>
          <p:cNvSpPr txBox="1"/>
          <p:nvPr/>
        </p:nvSpPr>
        <p:spPr>
          <a:xfrm>
            <a:off x="548640" y="713232"/>
            <a:ext cx="9418320" cy="548640"/>
          </a:xfrm>
          <a:prstGeom prst="rect">
            <a:avLst/>
          </a:prstGeom>
          <a:noFill/>
        </p:spPr>
        <p:txBody>
          <a:bodyPr wrap="square" lIns="0" rIns="0" tIns="0" bIns="0">
            <a:spAutoFit/>
          </a:bodyPr>
          <a:lstStyle/>
          <a:p>
            <a:pPr algn="l"/>
            <a:r>
              <a:rPr sz="2700" b="1" i="0">
                <a:solidFill>
                  <a:srgbClr val="1F3A5F"/>
                </a:solidFill>
                <a:latin typeface="Georgia"/>
              </a:rPr>
              <a:t>Results: combined wins pooled — not everywhere</a:t>
            </a:r>
          </a:p>
        </p:txBody>
      </p:sp>
      <p:sp>
        <p:nvSpPr>
          <p:cNvPr id="12" name="TextBox 11"/>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2</a:t>
            </a:r>
          </a:p>
        </p:txBody>
      </p:sp>
      <p:pic>
        <p:nvPicPr>
          <p:cNvPr id="13" name="Picture 12" descr="auroc_matrix.png"/>
          <p:cNvPicPr>
            <a:picLocks noChangeAspect="1"/>
          </p:cNvPicPr>
          <p:nvPr/>
        </p:nvPicPr>
        <p:blipFill>
          <a:blip r:embed="rId2"/>
          <a:stretch>
            <a:fillRect/>
          </a:stretch>
        </p:blipFill>
        <p:spPr>
          <a:xfrm>
            <a:off x="548640" y="1570362"/>
            <a:ext cx="6675120" cy="3872724"/>
          </a:xfrm>
          <a:prstGeom prst="rect">
            <a:avLst/>
          </a:prstGeom>
          <a:ln w="9525">
            <a:solidFill>
              <a:srgbClr val="D5DBDB"/>
            </a:solidFill>
          </a:ln>
        </p:spPr>
      </p:pic>
      <p:sp>
        <p:nvSpPr>
          <p:cNvPr id="14" name="TextBox 13"/>
          <p:cNvSpPr txBox="1"/>
          <p:nvPr/>
        </p:nvSpPr>
        <p:spPr>
          <a:xfrm>
            <a:off x="548640" y="5552814"/>
            <a:ext cx="6675120" cy="621792"/>
          </a:xfrm>
          <a:prstGeom prst="rect">
            <a:avLst/>
          </a:prstGeom>
          <a:noFill/>
        </p:spPr>
        <p:txBody>
          <a:bodyPr wrap="square" lIns="0" rIns="0" tIns="0" bIns="0">
            <a:spAutoFit/>
          </a:bodyPr>
          <a:lstStyle/>
          <a:p>
            <a:pPr algn="ctr">
              <a:lnSpc>
                <a:spcPct val="105000"/>
              </a:lnSpc>
            </a:pPr>
            <a:r>
              <a:rPr sz="1200" b="0" i="0">
                <a:solidFill>
                  <a:srgbClr val="5D6D7E"/>
                </a:solidFill>
                <a:latin typeface="Arial"/>
              </a:rPr>
              <a:t>Test AUROC (0.5 = chance). E5: SD v1.4 never seen in training, JPEG 75.</a:t>
            </a:r>
          </a:p>
          <a:p>
            <a:pPr algn="ctr">
              <a:lnSpc>
                <a:spcPct val="105000"/>
              </a:lnSpc>
            </a:pPr>
            <a:r>
              <a:rPr sz="1200" b="0" i="0">
                <a:solidFill>
                  <a:srgbClr val="5D6D7E"/>
                </a:solidFill>
                <a:latin typeface="Arial"/>
              </a:rPr>
              <a:t>Source: results/*.csv, results/diagnostics/ (config 87f5489e9d59)</a:t>
            </a:r>
          </a:p>
        </p:txBody>
      </p:sp>
      <p:sp>
        <p:nvSpPr>
          <p:cNvPr id="15" name="TextBox 14"/>
          <p:cNvSpPr txBox="1"/>
          <p:nvPr/>
        </p:nvSpPr>
        <p:spPr>
          <a:xfrm>
            <a:off x="7589520" y="1463040"/>
            <a:ext cx="4023360" cy="320040"/>
          </a:xfrm>
          <a:prstGeom prst="rect">
            <a:avLst/>
          </a:prstGeom>
          <a:noFill/>
        </p:spPr>
        <p:txBody>
          <a:bodyPr wrap="square" lIns="0" rIns="0" tIns="0" bIns="0">
            <a:spAutoFit/>
          </a:bodyPr>
          <a:lstStyle/>
          <a:p>
            <a:pPr algn="l"/>
            <a:r>
              <a:rPr sz="1500" b="1" i="0">
                <a:solidFill>
                  <a:srgbClr val="1F3A5F"/>
                </a:solidFill>
                <a:latin typeface="Arial"/>
              </a:rPr>
              <a:t>Controls (every experiment)</a:t>
            </a:r>
          </a:p>
        </p:txBody>
      </p:sp>
      <p:sp>
        <p:nvSpPr>
          <p:cNvPr id="16" name="TextBox 15"/>
          <p:cNvSpPr txBox="1"/>
          <p:nvPr/>
        </p:nvSpPr>
        <p:spPr>
          <a:xfrm>
            <a:off x="7589520" y="1920240"/>
            <a:ext cx="2560320" cy="320040"/>
          </a:xfrm>
          <a:prstGeom prst="rect">
            <a:avLst/>
          </a:prstGeom>
          <a:noFill/>
        </p:spPr>
        <p:txBody>
          <a:bodyPr wrap="square" lIns="0" rIns="0" tIns="0" bIns="0">
            <a:spAutoFit/>
          </a:bodyPr>
          <a:lstStyle/>
          <a:p>
            <a:pPr algn="l"/>
            <a:r>
              <a:rPr sz="1400" b="0" i="0">
                <a:solidFill>
                  <a:srgbClr val="1C2833"/>
                </a:solidFill>
                <a:latin typeface="Arial"/>
              </a:rPr>
              <a:t>Always guess</a:t>
            </a:r>
          </a:p>
        </p:txBody>
      </p:sp>
      <p:sp>
        <p:nvSpPr>
          <p:cNvPr id="17" name="TextBox 16"/>
          <p:cNvSpPr txBox="1"/>
          <p:nvPr/>
        </p:nvSpPr>
        <p:spPr>
          <a:xfrm>
            <a:off x="10241280" y="1920240"/>
            <a:ext cx="1371600" cy="320040"/>
          </a:xfrm>
          <a:prstGeom prst="rect">
            <a:avLst/>
          </a:prstGeom>
          <a:noFill/>
        </p:spPr>
        <p:txBody>
          <a:bodyPr wrap="square" lIns="0" rIns="0" tIns="0" bIns="0">
            <a:spAutoFit/>
          </a:bodyPr>
          <a:lstStyle/>
          <a:p>
            <a:pPr algn="r"/>
            <a:r>
              <a:rPr sz="1400" b="1" i="0">
                <a:solidFill>
                  <a:srgbClr val="1C2833"/>
                </a:solidFill>
                <a:latin typeface="Arial"/>
              </a:rPr>
              <a:t>0.500</a:t>
            </a:r>
          </a:p>
        </p:txBody>
      </p:sp>
      <p:sp>
        <p:nvSpPr>
          <p:cNvPr id="18" name="TextBox 17"/>
          <p:cNvSpPr txBox="1"/>
          <p:nvPr/>
        </p:nvSpPr>
        <p:spPr>
          <a:xfrm>
            <a:off x="7589520" y="2395728"/>
            <a:ext cx="2560320" cy="320040"/>
          </a:xfrm>
          <a:prstGeom prst="rect">
            <a:avLst/>
          </a:prstGeom>
          <a:noFill/>
        </p:spPr>
        <p:txBody>
          <a:bodyPr wrap="square" lIns="0" rIns="0" tIns="0" bIns="0">
            <a:spAutoFit/>
          </a:bodyPr>
          <a:lstStyle/>
          <a:p>
            <a:pPr algn="l"/>
            <a:r>
              <a:rPr sz="1400" b="0" i="0">
                <a:solidFill>
                  <a:srgbClr val="1C2833"/>
                </a:solidFill>
                <a:latin typeface="Arial"/>
              </a:rPr>
              <a:t>Processed-file history</a:t>
            </a:r>
          </a:p>
        </p:txBody>
      </p:sp>
      <p:sp>
        <p:nvSpPr>
          <p:cNvPr id="19" name="TextBox 18"/>
          <p:cNvSpPr txBox="1"/>
          <p:nvPr/>
        </p:nvSpPr>
        <p:spPr>
          <a:xfrm>
            <a:off x="10241280" y="2395728"/>
            <a:ext cx="1371600" cy="320040"/>
          </a:xfrm>
          <a:prstGeom prst="rect">
            <a:avLst/>
          </a:prstGeom>
          <a:noFill/>
        </p:spPr>
        <p:txBody>
          <a:bodyPr wrap="square" lIns="0" rIns="0" tIns="0" bIns="0">
            <a:spAutoFit/>
          </a:bodyPr>
          <a:lstStyle/>
          <a:p>
            <a:pPr algn="r"/>
            <a:r>
              <a:rPr sz="1400" b="1" i="0">
                <a:solidFill>
                  <a:srgbClr val="1C2833"/>
                </a:solidFill>
                <a:latin typeface="Arial"/>
              </a:rPr>
              <a:t>0.500</a:t>
            </a:r>
          </a:p>
        </p:txBody>
      </p:sp>
      <p:sp>
        <p:nvSpPr>
          <p:cNvPr id="20" name="TextBox 19"/>
          <p:cNvSpPr txBox="1"/>
          <p:nvPr/>
        </p:nvSpPr>
        <p:spPr>
          <a:xfrm>
            <a:off x="7589520" y="2871216"/>
            <a:ext cx="2560320" cy="320040"/>
          </a:xfrm>
          <a:prstGeom prst="rect">
            <a:avLst/>
          </a:prstGeom>
          <a:noFill/>
        </p:spPr>
        <p:txBody>
          <a:bodyPr wrap="square" lIns="0" rIns="0" tIns="0" bIns="0">
            <a:spAutoFit/>
          </a:bodyPr>
          <a:lstStyle/>
          <a:p>
            <a:pPr algn="l"/>
            <a:r>
              <a:rPr sz="1400" b="0" i="0">
                <a:solidFill>
                  <a:srgbClr val="1C2833"/>
                </a:solidFill>
                <a:latin typeface="Arial"/>
              </a:rPr>
              <a:t>Shuffled labels (×200)</a:t>
            </a:r>
          </a:p>
        </p:txBody>
      </p:sp>
      <p:sp>
        <p:nvSpPr>
          <p:cNvPr id="21" name="TextBox 20"/>
          <p:cNvSpPr txBox="1"/>
          <p:nvPr/>
        </p:nvSpPr>
        <p:spPr>
          <a:xfrm>
            <a:off x="10241280" y="2871216"/>
            <a:ext cx="1371600" cy="320040"/>
          </a:xfrm>
          <a:prstGeom prst="rect">
            <a:avLst/>
          </a:prstGeom>
          <a:noFill/>
        </p:spPr>
        <p:txBody>
          <a:bodyPr wrap="square" lIns="0" rIns="0" tIns="0" bIns="0">
            <a:spAutoFit/>
          </a:bodyPr>
          <a:lstStyle/>
          <a:p>
            <a:pPr algn="r"/>
            <a:r>
              <a:rPr sz="1400" b="1" i="0">
                <a:solidFill>
                  <a:srgbClr val="1C2833"/>
                </a:solidFill>
                <a:latin typeface="Arial"/>
              </a:rPr>
              <a:t>0.50–0.52</a:t>
            </a:r>
          </a:p>
        </p:txBody>
      </p:sp>
      <p:sp>
        <p:nvSpPr>
          <p:cNvPr id="22" name="TextBox 21"/>
          <p:cNvSpPr txBox="1"/>
          <p:nvPr/>
        </p:nvSpPr>
        <p:spPr>
          <a:xfrm>
            <a:off x="7589520" y="3346704"/>
            <a:ext cx="2560320" cy="320040"/>
          </a:xfrm>
          <a:prstGeom prst="rect">
            <a:avLst/>
          </a:prstGeom>
          <a:noFill/>
        </p:spPr>
        <p:txBody>
          <a:bodyPr wrap="square" lIns="0" rIns="0" tIns="0" bIns="0">
            <a:spAutoFit/>
          </a:bodyPr>
          <a:lstStyle/>
          <a:p>
            <a:pPr algn="l"/>
            <a:r>
              <a:rPr sz="1400" b="0" i="0">
                <a:solidFill>
                  <a:srgbClr val="1C2833"/>
                </a:solidFill>
                <a:latin typeface="Arial"/>
              </a:rPr>
              <a:t>Original file facts</a:t>
            </a:r>
          </a:p>
        </p:txBody>
      </p:sp>
      <p:sp>
        <p:nvSpPr>
          <p:cNvPr id="23" name="TextBox 22"/>
          <p:cNvSpPr txBox="1"/>
          <p:nvPr/>
        </p:nvSpPr>
        <p:spPr>
          <a:xfrm>
            <a:off x="10241280" y="3346704"/>
            <a:ext cx="1371600" cy="320040"/>
          </a:xfrm>
          <a:prstGeom prst="rect">
            <a:avLst/>
          </a:prstGeom>
          <a:noFill/>
        </p:spPr>
        <p:txBody>
          <a:bodyPr wrap="square" lIns="0" rIns="0" tIns="0" bIns="0">
            <a:spAutoFit/>
          </a:bodyPr>
          <a:lstStyle/>
          <a:p>
            <a:pPr algn="r"/>
            <a:r>
              <a:rPr sz="1400" b="1" i="0">
                <a:solidFill>
                  <a:srgbClr val="B2182B"/>
                </a:solidFill>
                <a:latin typeface="Arial"/>
              </a:rPr>
              <a:t>1.000</a:t>
            </a:r>
          </a:p>
        </p:txBody>
      </p:sp>
      <p:graphicFrame>
        <p:nvGraphicFramePr>
          <p:cNvPr id="24" name="Table 23"/>
          <p:cNvGraphicFramePr>
            <a:graphicFrameLocks noGrp="1"/>
          </p:cNvGraphicFramePr>
          <p:nvPr/>
        </p:nvGraphicFramePr>
        <p:xfrm>
          <a:off x="7589520" y="4069080"/>
          <a:ext cx="4023360" cy="1316736"/>
        </p:xfrm>
        <a:graphic>
          <a:graphicData uri="http://schemas.openxmlformats.org/drawingml/2006/table">
            <a:tbl>
              <a:tblPr firstRow="1" bandRow="1">
                <a:tableStyleId>{5C22544A-7EE6-4342-B048-85BDC9FD1C3A}</a:tableStyleId>
              </a:tblPr>
              <a:tblGrid>
                <a:gridCol w="2377440"/>
                <a:gridCol w="1645920"/>
              </a:tblGrid>
              <a:tr h="438912">
                <a:tc>
                  <a:txBody>
                    <a:bodyPr wrap="square"/>
                    <a:lstStyle/>
                    <a:p>
                      <a:pPr algn="l"/>
                      <a:r>
                        <a:rPr sz="1200" b="1">
                          <a:solidFill>
                            <a:srgbClr val="5D6D7E"/>
                          </a:solidFill>
                          <a:latin typeface="Arial"/>
                        </a:rPr>
                        <a:t>Stress</a:t>
                      </a:r>
                    </a:p>
                  </a:txBody>
                  <a:tcPr marL="109728" marR="109728" marT="54864" marB="54864" anchor="ctr">
                    <a:lnB w="9525" cap="flat">
                      <a:solidFill>
                        <a:srgbClr val="D5DBDB"/>
                      </a:solidFill>
                    </a:lnB>
                    <a:solidFill>
                      <a:srgbClr val="F2F5F8"/>
                    </a:solidFill>
                  </a:tcPr>
                </a:tc>
                <a:tc>
                  <a:txBody>
                    <a:bodyPr wrap="square"/>
                    <a:lstStyle/>
                    <a:p>
                      <a:pPr algn="ctr"/>
                      <a:r>
                        <a:rPr sz="1200" b="1">
                          <a:solidFill>
                            <a:srgbClr val="5D6D7E"/>
                          </a:solidFill>
                          <a:latin typeface="Arial"/>
                        </a:rPr>
                        <a:t>AUROC change</a:t>
                      </a:r>
                    </a:p>
                  </a:txBody>
                  <a:tcPr marL="109728" marR="109728" marT="54864" marB="54864" anchor="ctr">
                    <a:lnB w="9525" cap="flat">
                      <a:solidFill>
                        <a:srgbClr val="D5DBDB"/>
                      </a:solidFill>
                    </a:lnB>
                    <a:solidFill>
                      <a:srgbClr val="F2F5F8"/>
                    </a:solidFill>
                  </a:tcPr>
                </a:tc>
              </a:tr>
              <a:tr h="438912">
                <a:tc>
                  <a:txBody>
                    <a:bodyPr wrap="square"/>
                    <a:lstStyle/>
                    <a:p>
                      <a:pPr algn="l"/>
                      <a:r>
                        <a:rPr sz="1300" b="0">
                          <a:solidFill>
                            <a:srgbClr val="1C2833"/>
                          </a:solidFill>
                          <a:latin typeface="Arial"/>
                        </a:rPr>
                        <a:t>Matched JPEG, any arm</a:t>
                      </a:r>
                    </a:p>
                  </a:txBody>
                  <a:tcPr marL="109728" marR="109728" marT="54864" marB="54864" anchor="ctr">
                    <a:lnB w="9525" cap="flat">
                      <a:solidFill>
                        <a:srgbClr val="D5DBDB"/>
                      </a:solidFill>
                    </a:lnB>
                    <a:solidFill>
                      <a:srgbClr val="FFFFFF"/>
                    </a:solidFill>
                  </a:tcPr>
                </a:tc>
                <a:tc>
                  <a:txBody>
                    <a:bodyPr wrap="square"/>
                    <a:lstStyle/>
                    <a:p>
                      <a:pPr algn="ctr"/>
                      <a:r>
                        <a:rPr sz="1300" b="0">
                          <a:solidFill>
                            <a:srgbClr val="1C2833"/>
                          </a:solidFill>
                          <a:latin typeface="Arial"/>
                        </a:rPr>
                        <a:t>at most 0.025</a:t>
                      </a:r>
                    </a:p>
                  </a:txBody>
                  <a:tcPr marL="109728" marR="109728" marT="54864" marB="54864" anchor="ctr">
                    <a:lnB w="9525" cap="flat">
                      <a:solidFill>
                        <a:srgbClr val="D5DBDB"/>
                      </a:solidFill>
                    </a:lnB>
                    <a:solidFill>
                      <a:srgbClr val="FFFFFF"/>
                    </a:solidFill>
                  </a:tcPr>
                </a:tc>
              </a:tr>
              <a:tr h="438912">
                <a:tc>
                  <a:txBody>
                    <a:bodyPr wrap="square"/>
                    <a:lstStyle/>
                    <a:p>
                      <a:pPr algn="l"/>
                      <a:r>
                        <a:rPr sz="1300" b="0">
                          <a:solidFill>
                            <a:srgbClr val="1C2833"/>
                          </a:solidFill>
                          <a:latin typeface="Arial"/>
                        </a:rPr>
                        <a:t>SD v1.4 unseen, combined</a:t>
                      </a:r>
                    </a:p>
                  </a:txBody>
                  <a:tcPr marL="109728" marR="109728" marT="54864" marB="54864" anchor="ctr">
                    <a:lnB w="9525" cap="flat">
                      <a:solidFill>
                        <a:srgbClr val="D5DBDB"/>
                      </a:solidFill>
                    </a:lnB>
                    <a:solidFill>
                      <a:srgbClr val="FFFFFF"/>
                    </a:solidFill>
                  </a:tcPr>
                </a:tc>
                <a:tc>
                  <a:txBody>
                    <a:bodyPr wrap="square"/>
                    <a:lstStyle/>
                    <a:p>
                      <a:pPr algn="ctr"/>
                      <a:r>
                        <a:rPr sz="1300" b="0">
                          <a:solidFill>
                            <a:srgbClr val="1C2833"/>
                          </a:solidFill>
                          <a:latin typeface="Arial"/>
                        </a:rPr>
                        <a:t>−0.078</a:t>
                      </a:r>
                    </a:p>
                  </a:txBody>
                  <a:tcPr marL="109728" marR="109728" marT="54864" marB="54864" anchor="ctr">
                    <a:lnB w="9525" cap="flat">
                      <a:solidFill>
                        <a:srgbClr val="D5DBDB"/>
                      </a:solidFill>
                    </a:lnB>
                    <a:solidFill>
                      <a:srgbClr val="FFFFFF"/>
                    </a:solidFill>
                  </a:tcPr>
                </a:tc>
              </a:tr>
            </a:tbl>
          </a:graphicData>
        </a:graphic>
      </p:graphicFrame>
      <p:sp>
        <p:nvSpPr>
          <p:cNvPr id="25" name="TextBox 24"/>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26" name="TextBox 25"/>
          <p:cNvSpPr txBox="1"/>
          <p:nvPr/>
        </p:nvSpPr>
        <p:spPr>
          <a:xfrm>
            <a:off x="10362895" y="6510528"/>
            <a:ext cx="1280160" cy="237744"/>
          </a:xfrm>
          <a:prstGeom prst="rect">
            <a:avLst/>
          </a:prstGeom>
          <a:noFill/>
        </p:spPr>
        <p:txBody>
          <a:bodyPr wrap="square" lIns="0" rIns="0" tIns="0" bIns="0">
            <a:spAutoFit/>
          </a:bodyPr>
          <a:lstStyle/>
          <a:p>
            <a:pPr algn="r"/>
            <a:r>
              <a:rPr sz="1000" b="0" i="0">
                <a:solidFill>
                  <a:srgbClr val="5D6D7E"/>
                </a:solidFill>
                <a:latin typeface="Arial"/>
              </a:rPr>
              <a:t>8 / 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0" i="0">
                <a:solidFill>
                  <a:srgbClr val="5D6D7E"/>
                </a:solidFill>
                <a:latin typeface="Arial"/>
              </a:rPr>
              <a:t>INTRODUCTION</a:t>
            </a:r>
          </a:p>
        </p:txBody>
      </p:sp>
      <p:sp>
        <p:nvSpPr>
          <p:cNvPr id="3" name="TextBox 2"/>
          <p:cNvSpPr txBox="1"/>
          <p:nvPr/>
        </p:nvSpPr>
        <p:spPr>
          <a:xfrm>
            <a:off x="2133556" y="256032"/>
            <a:ext cx="1584916" cy="274320"/>
          </a:xfrm>
          <a:prstGeom prst="rect">
            <a:avLst/>
          </a:prstGeom>
          <a:noFill/>
        </p:spPr>
        <p:txBody>
          <a:bodyPr wrap="square" lIns="0" rIns="0" tIns="0" bIns="0">
            <a:spAutoFit/>
          </a:bodyPr>
          <a:lstStyle/>
          <a:p>
            <a:pPr algn="ctr"/>
            <a:r>
              <a:rPr sz="1050" b="0" i="0">
                <a:solidFill>
                  <a:srgbClr val="5D6D7E"/>
                </a:solidFill>
                <a:latin typeface="Arial"/>
              </a:rPr>
              <a:t>NOVELTY</a:t>
            </a:r>
          </a:p>
        </p:txBody>
      </p:sp>
      <p:sp>
        <p:nvSpPr>
          <p:cNvPr id="4" name="TextBox 3"/>
          <p:cNvSpPr txBox="1"/>
          <p:nvPr/>
        </p:nvSpPr>
        <p:spPr>
          <a:xfrm>
            <a:off x="3718472" y="256032"/>
            <a:ext cx="1584916" cy="274320"/>
          </a:xfrm>
          <a:prstGeom prst="rect">
            <a:avLst/>
          </a:prstGeom>
          <a:noFill/>
        </p:spPr>
        <p:txBody>
          <a:bodyPr wrap="square" lIns="0" rIns="0" tIns="0" bIns="0">
            <a:spAutoFit/>
          </a:bodyPr>
          <a:lstStyle/>
          <a:p>
            <a:pPr algn="ctr"/>
            <a:r>
              <a:rPr sz="1050" b="0" i="0">
                <a:solidFill>
                  <a:srgbClr val="5D6D7E"/>
                </a:solidFill>
                <a:latin typeface="Arial"/>
              </a:rPr>
              <a:t>METHODOLOGY</a:t>
            </a:r>
          </a:p>
        </p:txBody>
      </p:sp>
      <p:sp>
        <p:nvSpPr>
          <p:cNvPr id="5" name="TextBox 4"/>
          <p:cNvSpPr txBox="1"/>
          <p:nvPr/>
        </p:nvSpPr>
        <p:spPr>
          <a:xfrm>
            <a:off x="5303389" y="256032"/>
            <a:ext cx="1584916" cy="274320"/>
          </a:xfrm>
          <a:prstGeom prst="rect">
            <a:avLst/>
          </a:prstGeom>
          <a:noFill/>
        </p:spPr>
        <p:txBody>
          <a:bodyPr wrap="square" lIns="0" rIns="0" tIns="0" bIns="0">
            <a:spAutoFit/>
          </a:bodyPr>
          <a:lstStyle/>
          <a:p>
            <a:pPr algn="ctr"/>
            <a:r>
              <a:rPr sz="1050" b="0" i="0">
                <a:solidFill>
                  <a:srgbClr val="5D6D7E"/>
                </a:solidFill>
                <a:latin typeface="Arial"/>
              </a:rPr>
              <a:t>EXPERIMENTS</a:t>
            </a:r>
          </a:p>
        </p:txBody>
      </p:sp>
      <p:sp>
        <p:nvSpPr>
          <p:cNvPr id="6" name="TextBox 5"/>
          <p:cNvSpPr txBox="1"/>
          <p:nvPr/>
        </p:nvSpPr>
        <p:spPr>
          <a:xfrm>
            <a:off x="6888305" y="256032"/>
            <a:ext cx="1584916" cy="274320"/>
          </a:xfrm>
          <a:prstGeom prst="rect">
            <a:avLst/>
          </a:prstGeom>
          <a:noFill/>
        </p:spPr>
        <p:txBody>
          <a:bodyPr wrap="square" lIns="0" rIns="0" tIns="0" bIns="0">
            <a:spAutoFit/>
          </a:bodyPr>
          <a:lstStyle/>
          <a:p>
            <a:pPr algn="ctr"/>
            <a:r>
              <a:rPr sz="1050" b="1" i="0">
                <a:solidFill>
                  <a:srgbClr val="B2182B"/>
                </a:solidFill>
                <a:latin typeface="Arial"/>
              </a:rPr>
              <a:t>RESULTS</a:t>
            </a:r>
          </a:p>
        </p:txBody>
      </p:sp>
      <p:sp>
        <p:nvSpPr>
          <p:cNvPr id="7" name="Rectangle 6"/>
          <p:cNvSpPr/>
          <p:nvPr/>
        </p:nvSpPr>
        <p:spPr>
          <a:xfrm>
            <a:off x="7116905" y="548640"/>
            <a:ext cx="1127716" cy="28575"/>
          </a:xfrm>
          <a:prstGeom prst="rect">
            <a:avLst/>
          </a:prstGeom>
          <a:solidFill>
            <a:srgbClr val="B2182B"/>
          </a:solidFill>
          <a:ln>
            <a:noFill/>
          </a:ln>
        </p:spPr>
        <p:txBody>
          <a:bodyPr rtlCol="0" anchor="ctr"/>
          <a:lstStyle/>
          <a:p>
            <a:pPr algn="ctr"/>
          </a:p>
        </p:txBody>
      </p:sp>
      <p:sp>
        <p:nvSpPr>
          <p:cNvPr id="8" name="TextBox 7"/>
          <p:cNvSpPr txBox="1"/>
          <p:nvPr/>
        </p:nvSpPr>
        <p:spPr>
          <a:xfrm>
            <a:off x="8473222" y="256032"/>
            <a:ext cx="1584916" cy="274320"/>
          </a:xfrm>
          <a:prstGeom prst="rect">
            <a:avLst/>
          </a:prstGeom>
          <a:noFill/>
        </p:spPr>
        <p:txBody>
          <a:bodyPr wrap="square" lIns="0" rIns="0" tIns="0" bIns="0">
            <a:spAutoFit/>
          </a:bodyPr>
          <a:lstStyle/>
          <a:p>
            <a:pPr algn="ctr"/>
            <a:r>
              <a:rPr sz="1050" b="0" i="0">
                <a:solidFill>
                  <a:srgbClr val="5D6D7E"/>
                </a:solidFill>
                <a:latin typeface="Arial"/>
              </a:rPr>
              <a:t>LIMITATIONS</a:t>
            </a: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0" i="0">
                <a:solidFill>
                  <a:srgbClr val="5D6D7E"/>
                </a:solidFill>
                <a:latin typeface="Arial"/>
              </a:rPr>
              <a:t>FUTURE</a:t>
            </a:r>
          </a:p>
        </p:txBody>
      </p:sp>
      <p:sp>
        <p:nvSpPr>
          <p:cNvPr id="10" name="Rectangle 9"/>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1" name="TextBox 10"/>
          <p:cNvSpPr txBox="1"/>
          <p:nvPr/>
        </p:nvSpPr>
        <p:spPr>
          <a:xfrm>
            <a:off x="548640" y="713232"/>
            <a:ext cx="9418320" cy="548640"/>
          </a:xfrm>
          <a:prstGeom prst="rect">
            <a:avLst/>
          </a:prstGeom>
          <a:noFill/>
        </p:spPr>
        <p:txBody>
          <a:bodyPr wrap="square" lIns="0" rIns="0" tIns="0" bIns="0">
            <a:spAutoFit/>
          </a:bodyPr>
          <a:lstStyle/>
          <a:p>
            <a:pPr algn="l"/>
            <a:r>
              <a:rPr sz="2700" b="1" i="0">
                <a:solidFill>
                  <a:srgbClr val="1F3A5F"/>
                </a:solidFill>
                <a:latin typeface="Georgia"/>
              </a:rPr>
              <a:t>Why BigGAN is easy: our resize empties its high band</a:t>
            </a:r>
          </a:p>
        </p:txBody>
      </p:sp>
      <p:sp>
        <p:nvSpPr>
          <p:cNvPr id="12" name="TextBox 11"/>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3</a:t>
            </a:r>
          </a:p>
        </p:txBody>
      </p:sp>
      <p:pic>
        <p:nvPicPr>
          <p:cNvPr id="13" name="Picture 12" descr="radial_spectra.png"/>
          <p:cNvPicPr>
            <a:picLocks noChangeAspect="1"/>
          </p:cNvPicPr>
          <p:nvPr/>
        </p:nvPicPr>
        <p:blipFill>
          <a:blip r:embed="rId2"/>
          <a:stretch>
            <a:fillRect/>
          </a:stretch>
        </p:blipFill>
        <p:spPr>
          <a:xfrm>
            <a:off x="548640" y="1429902"/>
            <a:ext cx="11094415" cy="4199364"/>
          </a:xfrm>
          <a:prstGeom prst="rect">
            <a:avLst/>
          </a:prstGeom>
          <a:ln w="9525">
            <a:solidFill>
              <a:srgbClr val="D5DBDB"/>
            </a:solidFill>
          </a:ln>
        </p:spPr>
      </p:pic>
      <p:sp>
        <p:nvSpPr>
          <p:cNvPr id="14" name="TextBox 13"/>
          <p:cNvSpPr txBox="1"/>
          <p:nvPr/>
        </p:nvSpPr>
        <p:spPr>
          <a:xfrm>
            <a:off x="548640" y="5738994"/>
            <a:ext cx="11094415" cy="621792"/>
          </a:xfrm>
          <a:prstGeom prst="rect">
            <a:avLst/>
          </a:prstGeom>
          <a:noFill/>
        </p:spPr>
        <p:txBody>
          <a:bodyPr wrap="square" lIns="0" rIns="0" tIns="0" bIns="0">
            <a:spAutoFit/>
          </a:bodyPr>
          <a:lstStyle/>
          <a:p>
            <a:pPr algn="ctr">
              <a:lnSpc>
                <a:spcPct val="105000"/>
              </a:lnSpc>
            </a:pPr>
            <a:r>
              <a:rPr sz="1200" b="0" i="0">
                <a:solidFill>
                  <a:srgbClr val="5D6D7E"/>
                </a:solidFill>
                <a:latin typeface="Arial"/>
              </a:rPr>
              <a:t>Mean power spectrum per class, all images. Left: BigGAN, the only class enlarged 2x, loses energy above 0.25 cycles/pixel. Right: with the same resampling for all, the three fake curves coincide.</a:t>
            </a:r>
          </a:p>
          <a:p>
            <a:pPr algn="ctr">
              <a:lnSpc>
                <a:spcPct val="105000"/>
              </a:lnSpc>
            </a:pPr>
            <a:r>
              <a:rPr sz="1200" b="0" i="0">
                <a:solidFill>
                  <a:srgbClr val="5D6D7E"/>
                </a:solidFill>
                <a:latin typeface="Arial"/>
              </a:rPr>
              <a:t>Source: results/diagnostics/radial_spectra.csv</a:t>
            </a:r>
          </a:p>
        </p:txBody>
      </p:sp>
      <p:sp>
        <p:nvSpPr>
          <p:cNvPr id="15" name="TextBox 14"/>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16" name="TextBox 15"/>
          <p:cNvSpPr txBox="1"/>
          <p:nvPr/>
        </p:nvSpPr>
        <p:spPr>
          <a:xfrm>
            <a:off x="10362895" y="6510528"/>
            <a:ext cx="1280160" cy="237744"/>
          </a:xfrm>
          <a:prstGeom prst="rect">
            <a:avLst/>
          </a:prstGeom>
          <a:noFill/>
        </p:spPr>
        <p:txBody>
          <a:bodyPr wrap="square" lIns="0" rIns="0" tIns="0" bIns="0">
            <a:spAutoFit/>
          </a:bodyPr>
          <a:lstStyle/>
          <a:p>
            <a:pPr algn="r"/>
            <a:r>
              <a:rPr sz="1000" b="0" i="0">
                <a:solidFill>
                  <a:srgbClr val="5D6D7E"/>
                </a:solidFill>
                <a:latin typeface="Arial"/>
              </a:rPr>
              <a:t>9 / 13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0" i="0">
                <a:solidFill>
                  <a:srgbClr val="5D6D7E"/>
                </a:solidFill>
                <a:latin typeface="Arial"/>
              </a:rPr>
              <a:t>INTRODUCTION</a:t>
            </a:r>
          </a:p>
        </p:txBody>
      </p:sp>
      <p:sp>
        <p:nvSpPr>
          <p:cNvPr id="3" name="TextBox 2"/>
          <p:cNvSpPr txBox="1"/>
          <p:nvPr/>
        </p:nvSpPr>
        <p:spPr>
          <a:xfrm>
            <a:off x="2133556" y="256032"/>
            <a:ext cx="1584916" cy="274320"/>
          </a:xfrm>
          <a:prstGeom prst="rect">
            <a:avLst/>
          </a:prstGeom>
          <a:noFill/>
        </p:spPr>
        <p:txBody>
          <a:bodyPr wrap="square" lIns="0" rIns="0" tIns="0" bIns="0">
            <a:spAutoFit/>
          </a:bodyPr>
          <a:lstStyle/>
          <a:p>
            <a:pPr algn="ctr"/>
            <a:r>
              <a:rPr sz="1050" b="0" i="0">
                <a:solidFill>
                  <a:srgbClr val="5D6D7E"/>
                </a:solidFill>
                <a:latin typeface="Arial"/>
              </a:rPr>
              <a:t>NOVELTY</a:t>
            </a:r>
          </a:p>
        </p:txBody>
      </p:sp>
      <p:sp>
        <p:nvSpPr>
          <p:cNvPr id="4" name="TextBox 3"/>
          <p:cNvSpPr txBox="1"/>
          <p:nvPr/>
        </p:nvSpPr>
        <p:spPr>
          <a:xfrm>
            <a:off x="3718472" y="256032"/>
            <a:ext cx="1584916" cy="274320"/>
          </a:xfrm>
          <a:prstGeom prst="rect">
            <a:avLst/>
          </a:prstGeom>
          <a:noFill/>
        </p:spPr>
        <p:txBody>
          <a:bodyPr wrap="square" lIns="0" rIns="0" tIns="0" bIns="0">
            <a:spAutoFit/>
          </a:bodyPr>
          <a:lstStyle/>
          <a:p>
            <a:pPr algn="ctr"/>
            <a:r>
              <a:rPr sz="1050" b="0" i="0">
                <a:solidFill>
                  <a:srgbClr val="5D6D7E"/>
                </a:solidFill>
                <a:latin typeface="Arial"/>
              </a:rPr>
              <a:t>METHODOLOGY</a:t>
            </a:r>
          </a:p>
        </p:txBody>
      </p:sp>
      <p:sp>
        <p:nvSpPr>
          <p:cNvPr id="5" name="TextBox 4"/>
          <p:cNvSpPr txBox="1"/>
          <p:nvPr/>
        </p:nvSpPr>
        <p:spPr>
          <a:xfrm>
            <a:off x="5303389" y="256032"/>
            <a:ext cx="1584916" cy="274320"/>
          </a:xfrm>
          <a:prstGeom prst="rect">
            <a:avLst/>
          </a:prstGeom>
          <a:noFill/>
        </p:spPr>
        <p:txBody>
          <a:bodyPr wrap="square" lIns="0" rIns="0" tIns="0" bIns="0">
            <a:spAutoFit/>
          </a:bodyPr>
          <a:lstStyle/>
          <a:p>
            <a:pPr algn="ctr"/>
            <a:r>
              <a:rPr sz="1050" b="0" i="0">
                <a:solidFill>
                  <a:srgbClr val="5D6D7E"/>
                </a:solidFill>
                <a:latin typeface="Arial"/>
              </a:rPr>
              <a:t>EXPERIMENTS</a:t>
            </a:r>
          </a:p>
        </p:txBody>
      </p:sp>
      <p:sp>
        <p:nvSpPr>
          <p:cNvPr id="6" name="TextBox 5"/>
          <p:cNvSpPr txBox="1"/>
          <p:nvPr/>
        </p:nvSpPr>
        <p:spPr>
          <a:xfrm>
            <a:off x="6888305" y="256032"/>
            <a:ext cx="1584916" cy="274320"/>
          </a:xfrm>
          <a:prstGeom prst="rect">
            <a:avLst/>
          </a:prstGeom>
          <a:noFill/>
        </p:spPr>
        <p:txBody>
          <a:bodyPr wrap="square" lIns="0" rIns="0" tIns="0" bIns="0">
            <a:spAutoFit/>
          </a:bodyPr>
          <a:lstStyle/>
          <a:p>
            <a:pPr algn="ctr"/>
            <a:r>
              <a:rPr sz="1050" b="1" i="0">
                <a:solidFill>
                  <a:srgbClr val="B2182B"/>
                </a:solidFill>
                <a:latin typeface="Arial"/>
              </a:rPr>
              <a:t>RESULTS</a:t>
            </a:r>
          </a:p>
        </p:txBody>
      </p:sp>
      <p:sp>
        <p:nvSpPr>
          <p:cNvPr id="7" name="Rectangle 6"/>
          <p:cNvSpPr/>
          <p:nvPr/>
        </p:nvSpPr>
        <p:spPr>
          <a:xfrm>
            <a:off x="7116905" y="548640"/>
            <a:ext cx="1127716" cy="28575"/>
          </a:xfrm>
          <a:prstGeom prst="rect">
            <a:avLst/>
          </a:prstGeom>
          <a:solidFill>
            <a:srgbClr val="B2182B"/>
          </a:solidFill>
          <a:ln>
            <a:noFill/>
          </a:ln>
        </p:spPr>
        <p:txBody>
          <a:bodyPr rtlCol="0" anchor="ctr"/>
          <a:lstStyle/>
          <a:p>
            <a:pPr algn="ctr"/>
          </a:p>
        </p:txBody>
      </p:sp>
      <p:sp>
        <p:nvSpPr>
          <p:cNvPr id="8" name="TextBox 7"/>
          <p:cNvSpPr txBox="1"/>
          <p:nvPr/>
        </p:nvSpPr>
        <p:spPr>
          <a:xfrm>
            <a:off x="8473222" y="256032"/>
            <a:ext cx="1584916" cy="274320"/>
          </a:xfrm>
          <a:prstGeom prst="rect">
            <a:avLst/>
          </a:prstGeom>
          <a:noFill/>
        </p:spPr>
        <p:txBody>
          <a:bodyPr wrap="square" lIns="0" rIns="0" tIns="0" bIns="0">
            <a:spAutoFit/>
          </a:bodyPr>
          <a:lstStyle/>
          <a:p>
            <a:pPr algn="ctr"/>
            <a:r>
              <a:rPr sz="1050" b="0" i="0">
                <a:solidFill>
                  <a:srgbClr val="5D6D7E"/>
                </a:solidFill>
                <a:latin typeface="Arial"/>
              </a:rPr>
              <a:t>LIMITATIONS</a:t>
            </a: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0" i="0">
                <a:solidFill>
                  <a:srgbClr val="5D6D7E"/>
                </a:solidFill>
                <a:latin typeface="Arial"/>
              </a:rPr>
              <a:t>FUTURE</a:t>
            </a:r>
          </a:p>
        </p:txBody>
      </p:sp>
      <p:sp>
        <p:nvSpPr>
          <p:cNvPr id="10" name="Rectangle 9"/>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1" name="TextBox 10"/>
          <p:cNvSpPr txBox="1"/>
          <p:nvPr/>
        </p:nvSpPr>
        <p:spPr>
          <a:xfrm>
            <a:off x="548640" y="713232"/>
            <a:ext cx="9418320" cy="548640"/>
          </a:xfrm>
          <a:prstGeom prst="rect">
            <a:avLst/>
          </a:prstGeom>
          <a:noFill/>
        </p:spPr>
        <p:txBody>
          <a:bodyPr wrap="square" lIns="0" rIns="0" tIns="0" bIns="0">
            <a:spAutoFit/>
          </a:bodyPr>
          <a:lstStyle/>
          <a:p>
            <a:pPr algn="l"/>
            <a:r>
              <a:rPr sz="2700" b="1" i="0">
                <a:solidFill>
                  <a:srgbClr val="1F3A5F"/>
                </a:solidFill>
                <a:latin typeface="Georgia"/>
              </a:rPr>
              <a:t>Same pooled score, different story</a:t>
            </a:r>
          </a:p>
        </p:txBody>
      </p:sp>
      <p:sp>
        <p:nvSpPr>
          <p:cNvPr id="12" name="TextBox 11"/>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3</a:t>
            </a:r>
          </a:p>
        </p:txBody>
      </p:sp>
      <p:pic>
        <p:nvPicPr>
          <p:cNvPr id="13" name="Picture 12" descr="fig_resampling_swap.png"/>
          <p:cNvPicPr>
            <a:picLocks noChangeAspect="1"/>
          </p:cNvPicPr>
          <p:nvPr/>
        </p:nvPicPr>
        <p:blipFill>
          <a:blip r:embed="rId2"/>
          <a:stretch>
            <a:fillRect/>
          </a:stretch>
        </p:blipFill>
        <p:spPr>
          <a:xfrm>
            <a:off x="1092373" y="1325880"/>
            <a:ext cx="10006949" cy="3977639"/>
          </a:xfrm>
          <a:prstGeom prst="rect">
            <a:avLst/>
          </a:prstGeom>
          <a:ln w="9525">
            <a:solidFill>
              <a:srgbClr val="D5DBDB"/>
            </a:solidFill>
          </a:ln>
        </p:spPr>
      </p:pic>
      <p:sp>
        <p:nvSpPr>
          <p:cNvPr id="14" name="TextBox 13"/>
          <p:cNvSpPr txBox="1"/>
          <p:nvPr/>
        </p:nvSpPr>
        <p:spPr>
          <a:xfrm>
            <a:off x="548640" y="5440680"/>
            <a:ext cx="3698138" cy="274320"/>
          </a:xfrm>
          <a:prstGeom prst="rect">
            <a:avLst/>
          </a:prstGeom>
          <a:noFill/>
        </p:spPr>
        <p:txBody>
          <a:bodyPr wrap="square" lIns="0" rIns="0" tIns="0" bIns="0">
            <a:spAutoFit/>
          </a:bodyPr>
          <a:lstStyle/>
          <a:p>
            <a:pPr algn="ctr"/>
            <a:r>
              <a:rPr sz="1250" b="0" i="0">
                <a:solidFill>
                  <a:srgbClr val="5D6D7E"/>
                </a:solidFill>
                <a:latin typeface="Arial"/>
              </a:rPr>
              <a:t>Pooled  ·  combined arm</a:t>
            </a:r>
          </a:p>
        </p:txBody>
      </p:sp>
      <p:sp>
        <p:nvSpPr>
          <p:cNvPr id="15" name="TextBox 14"/>
          <p:cNvSpPr txBox="1"/>
          <p:nvPr/>
        </p:nvSpPr>
        <p:spPr>
          <a:xfrm>
            <a:off x="548640" y="5715000"/>
            <a:ext cx="3698138" cy="457200"/>
          </a:xfrm>
          <a:prstGeom prst="rect">
            <a:avLst/>
          </a:prstGeom>
          <a:noFill/>
        </p:spPr>
        <p:txBody>
          <a:bodyPr wrap="square" lIns="0" rIns="0" tIns="0" bIns="0">
            <a:spAutoFit/>
          </a:bodyPr>
          <a:lstStyle/>
          <a:p>
            <a:pPr algn="ctr"/>
            <a:r>
              <a:rPr sz="2400" b="1" i="0">
                <a:solidFill>
                  <a:srgbClr val="0E7A53"/>
                </a:solidFill>
                <a:latin typeface="Arial"/>
              </a:rPr>
              <a:t>0.796 → 0.802</a:t>
            </a:r>
          </a:p>
        </p:txBody>
      </p:sp>
      <p:sp>
        <p:nvSpPr>
          <p:cNvPr id="16" name="TextBox 15"/>
          <p:cNvSpPr txBox="1"/>
          <p:nvPr/>
        </p:nvSpPr>
        <p:spPr>
          <a:xfrm>
            <a:off x="4246778" y="5440680"/>
            <a:ext cx="3698138" cy="274320"/>
          </a:xfrm>
          <a:prstGeom prst="rect">
            <a:avLst/>
          </a:prstGeom>
          <a:noFill/>
        </p:spPr>
        <p:txBody>
          <a:bodyPr wrap="square" lIns="0" rIns="0" tIns="0" bIns="0">
            <a:spAutoFit/>
          </a:bodyPr>
          <a:lstStyle/>
          <a:p>
            <a:pPr algn="ctr"/>
            <a:r>
              <a:rPr sz="1250" b="0" i="0">
                <a:solidFill>
                  <a:srgbClr val="5D6D7E"/>
                </a:solidFill>
                <a:latin typeface="Arial"/>
              </a:rPr>
              <a:t>BigGAN  ·  frequency arm</a:t>
            </a:r>
          </a:p>
        </p:txBody>
      </p:sp>
      <p:sp>
        <p:nvSpPr>
          <p:cNvPr id="17" name="TextBox 16"/>
          <p:cNvSpPr txBox="1"/>
          <p:nvPr/>
        </p:nvSpPr>
        <p:spPr>
          <a:xfrm>
            <a:off x="4246778" y="5715000"/>
            <a:ext cx="3698138" cy="457200"/>
          </a:xfrm>
          <a:prstGeom prst="rect">
            <a:avLst/>
          </a:prstGeom>
          <a:noFill/>
        </p:spPr>
        <p:txBody>
          <a:bodyPr wrap="square" lIns="0" rIns="0" tIns="0" bIns="0">
            <a:spAutoFit/>
          </a:bodyPr>
          <a:lstStyle/>
          <a:p>
            <a:pPr algn="ctr"/>
            <a:r>
              <a:rPr sz="2400" b="1" i="0">
                <a:solidFill>
                  <a:srgbClr val="B54819"/>
                </a:solidFill>
                <a:latin typeface="Arial"/>
              </a:rPr>
              <a:t>1.000 → 0.828</a:t>
            </a:r>
          </a:p>
        </p:txBody>
      </p:sp>
      <p:sp>
        <p:nvSpPr>
          <p:cNvPr id="18" name="TextBox 17"/>
          <p:cNvSpPr txBox="1"/>
          <p:nvPr/>
        </p:nvSpPr>
        <p:spPr>
          <a:xfrm>
            <a:off x="7944916" y="5440680"/>
            <a:ext cx="3698138" cy="274320"/>
          </a:xfrm>
          <a:prstGeom prst="rect">
            <a:avLst/>
          </a:prstGeom>
          <a:noFill/>
        </p:spPr>
        <p:txBody>
          <a:bodyPr wrap="square" lIns="0" rIns="0" tIns="0" bIns="0">
            <a:spAutoFit/>
          </a:bodyPr>
          <a:lstStyle/>
          <a:p>
            <a:pPr algn="ctr"/>
            <a:r>
              <a:rPr sz="1250" b="0" i="0">
                <a:solidFill>
                  <a:srgbClr val="5D6D7E"/>
                </a:solidFill>
                <a:latin typeface="Arial"/>
              </a:rPr>
              <a:t>Unseen SD v1.4  ·  pixel arm</a:t>
            </a:r>
          </a:p>
        </p:txBody>
      </p:sp>
      <p:sp>
        <p:nvSpPr>
          <p:cNvPr id="19" name="TextBox 18"/>
          <p:cNvSpPr txBox="1"/>
          <p:nvPr/>
        </p:nvSpPr>
        <p:spPr>
          <a:xfrm>
            <a:off x="7944916" y="5715000"/>
            <a:ext cx="3698138" cy="457200"/>
          </a:xfrm>
          <a:prstGeom prst="rect">
            <a:avLst/>
          </a:prstGeom>
          <a:noFill/>
        </p:spPr>
        <p:txBody>
          <a:bodyPr wrap="square" lIns="0" rIns="0" tIns="0" bIns="0">
            <a:spAutoFit/>
          </a:bodyPr>
          <a:lstStyle/>
          <a:p>
            <a:pPr algn="ctr"/>
            <a:r>
              <a:rPr sz="2400" b="1" i="0">
                <a:solidFill>
                  <a:srgbClr val="1F63B8"/>
                </a:solidFill>
                <a:latin typeface="Arial"/>
              </a:rPr>
              <a:t>0.477 → 0.771</a:t>
            </a:r>
          </a:p>
        </p:txBody>
      </p:sp>
      <p:sp>
        <p:nvSpPr>
          <p:cNvPr id="20" name="TextBox 19"/>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21" name="TextBox 20"/>
          <p:cNvSpPr txBox="1"/>
          <p:nvPr/>
        </p:nvSpPr>
        <p:spPr>
          <a:xfrm>
            <a:off x="10362895" y="6510528"/>
            <a:ext cx="1280160" cy="237744"/>
          </a:xfrm>
          <a:prstGeom prst="rect">
            <a:avLst/>
          </a:prstGeom>
          <a:noFill/>
        </p:spPr>
        <p:txBody>
          <a:bodyPr wrap="square" lIns="0" rIns="0" tIns="0" bIns="0">
            <a:spAutoFit/>
          </a:bodyPr>
          <a:lstStyle/>
          <a:p>
            <a:pPr algn="r"/>
            <a:r>
              <a:rPr sz="1000" b="0" i="0">
                <a:solidFill>
                  <a:srgbClr val="5D6D7E"/>
                </a:solidFill>
                <a:latin typeface="Arial"/>
              </a:rPr>
              <a:t>10 / 13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0" i="0">
                <a:solidFill>
                  <a:srgbClr val="5D6D7E"/>
                </a:solidFill>
                <a:latin typeface="Arial"/>
              </a:rPr>
              <a:t>INTRODUCTION</a:t>
            </a:r>
          </a:p>
        </p:txBody>
      </p:sp>
      <p:sp>
        <p:nvSpPr>
          <p:cNvPr id="3" name="TextBox 2"/>
          <p:cNvSpPr txBox="1"/>
          <p:nvPr/>
        </p:nvSpPr>
        <p:spPr>
          <a:xfrm>
            <a:off x="2133556" y="256032"/>
            <a:ext cx="1584916" cy="274320"/>
          </a:xfrm>
          <a:prstGeom prst="rect">
            <a:avLst/>
          </a:prstGeom>
          <a:noFill/>
        </p:spPr>
        <p:txBody>
          <a:bodyPr wrap="square" lIns="0" rIns="0" tIns="0" bIns="0">
            <a:spAutoFit/>
          </a:bodyPr>
          <a:lstStyle/>
          <a:p>
            <a:pPr algn="ctr"/>
            <a:r>
              <a:rPr sz="1050" b="0" i="0">
                <a:solidFill>
                  <a:srgbClr val="5D6D7E"/>
                </a:solidFill>
                <a:latin typeface="Arial"/>
              </a:rPr>
              <a:t>NOVELTY</a:t>
            </a:r>
          </a:p>
        </p:txBody>
      </p:sp>
      <p:sp>
        <p:nvSpPr>
          <p:cNvPr id="4" name="TextBox 3"/>
          <p:cNvSpPr txBox="1"/>
          <p:nvPr/>
        </p:nvSpPr>
        <p:spPr>
          <a:xfrm>
            <a:off x="3718472" y="256032"/>
            <a:ext cx="1584916" cy="274320"/>
          </a:xfrm>
          <a:prstGeom prst="rect">
            <a:avLst/>
          </a:prstGeom>
          <a:noFill/>
        </p:spPr>
        <p:txBody>
          <a:bodyPr wrap="square" lIns="0" rIns="0" tIns="0" bIns="0">
            <a:spAutoFit/>
          </a:bodyPr>
          <a:lstStyle/>
          <a:p>
            <a:pPr algn="ctr"/>
            <a:r>
              <a:rPr sz="1050" b="0" i="0">
                <a:solidFill>
                  <a:srgbClr val="5D6D7E"/>
                </a:solidFill>
                <a:latin typeface="Arial"/>
              </a:rPr>
              <a:t>METHODOLOGY</a:t>
            </a:r>
          </a:p>
        </p:txBody>
      </p:sp>
      <p:sp>
        <p:nvSpPr>
          <p:cNvPr id="5" name="TextBox 4"/>
          <p:cNvSpPr txBox="1"/>
          <p:nvPr/>
        </p:nvSpPr>
        <p:spPr>
          <a:xfrm>
            <a:off x="5303389" y="256032"/>
            <a:ext cx="1584916" cy="274320"/>
          </a:xfrm>
          <a:prstGeom prst="rect">
            <a:avLst/>
          </a:prstGeom>
          <a:noFill/>
        </p:spPr>
        <p:txBody>
          <a:bodyPr wrap="square" lIns="0" rIns="0" tIns="0" bIns="0">
            <a:spAutoFit/>
          </a:bodyPr>
          <a:lstStyle/>
          <a:p>
            <a:pPr algn="ctr"/>
            <a:r>
              <a:rPr sz="1050" b="0" i="0">
                <a:solidFill>
                  <a:srgbClr val="5D6D7E"/>
                </a:solidFill>
                <a:latin typeface="Arial"/>
              </a:rPr>
              <a:t>EXPERIMENTS</a:t>
            </a:r>
          </a:p>
        </p:txBody>
      </p:sp>
      <p:sp>
        <p:nvSpPr>
          <p:cNvPr id="6" name="TextBox 5"/>
          <p:cNvSpPr txBox="1"/>
          <p:nvPr/>
        </p:nvSpPr>
        <p:spPr>
          <a:xfrm>
            <a:off x="6888305" y="256032"/>
            <a:ext cx="1584916" cy="274320"/>
          </a:xfrm>
          <a:prstGeom prst="rect">
            <a:avLst/>
          </a:prstGeom>
          <a:noFill/>
        </p:spPr>
        <p:txBody>
          <a:bodyPr wrap="square" lIns="0" rIns="0" tIns="0" bIns="0">
            <a:spAutoFit/>
          </a:bodyPr>
          <a:lstStyle/>
          <a:p>
            <a:pPr algn="ctr"/>
            <a:r>
              <a:rPr sz="1050" b="1" i="0">
                <a:solidFill>
                  <a:srgbClr val="B2182B"/>
                </a:solidFill>
                <a:latin typeface="Arial"/>
              </a:rPr>
              <a:t>RESULTS</a:t>
            </a:r>
          </a:p>
        </p:txBody>
      </p:sp>
      <p:sp>
        <p:nvSpPr>
          <p:cNvPr id="7" name="Rectangle 6"/>
          <p:cNvSpPr/>
          <p:nvPr/>
        </p:nvSpPr>
        <p:spPr>
          <a:xfrm>
            <a:off x="7116905" y="548640"/>
            <a:ext cx="1127716" cy="28575"/>
          </a:xfrm>
          <a:prstGeom prst="rect">
            <a:avLst/>
          </a:prstGeom>
          <a:solidFill>
            <a:srgbClr val="B2182B"/>
          </a:solidFill>
          <a:ln>
            <a:noFill/>
          </a:ln>
        </p:spPr>
        <p:txBody>
          <a:bodyPr rtlCol="0" anchor="ctr"/>
          <a:lstStyle/>
          <a:p>
            <a:pPr algn="ctr"/>
          </a:p>
        </p:txBody>
      </p:sp>
      <p:sp>
        <p:nvSpPr>
          <p:cNvPr id="8" name="TextBox 7"/>
          <p:cNvSpPr txBox="1"/>
          <p:nvPr/>
        </p:nvSpPr>
        <p:spPr>
          <a:xfrm>
            <a:off x="8473222" y="256032"/>
            <a:ext cx="1584916" cy="274320"/>
          </a:xfrm>
          <a:prstGeom prst="rect">
            <a:avLst/>
          </a:prstGeom>
          <a:noFill/>
        </p:spPr>
        <p:txBody>
          <a:bodyPr wrap="square" lIns="0" rIns="0" tIns="0" bIns="0">
            <a:spAutoFit/>
          </a:bodyPr>
          <a:lstStyle/>
          <a:p>
            <a:pPr algn="ctr"/>
            <a:r>
              <a:rPr sz="1050" b="0" i="0">
                <a:solidFill>
                  <a:srgbClr val="5D6D7E"/>
                </a:solidFill>
                <a:latin typeface="Arial"/>
              </a:rPr>
              <a:t>LIMITATIONS</a:t>
            </a: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0" i="0">
                <a:solidFill>
                  <a:srgbClr val="5D6D7E"/>
                </a:solidFill>
                <a:latin typeface="Arial"/>
              </a:rPr>
              <a:t>FUTURE</a:t>
            </a:r>
          </a:p>
        </p:txBody>
      </p:sp>
      <p:sp>
        <p:nvSpPr>
          <p:cNvPr id="10" name="Rectangle 9"/>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1" name="TextBox 10"/>
          <p:cNvSpPr txBox="1"/>
          <p:nvPr/>
        </p:nvSpPr>
        <p:spPr>
          <a:xfrm>
            <a:off x="548640" y="713232"/>
            <a:ext cx="9418320" cy="548640"/>
          </a:xfrm>
          <a:prstGeom prst="rect">
            <a:avLst/>
          </a:prstGeom>
          <a:noFill/>
        </p:spPr>
        <p:txBody>
          <a:bodyPr wrap="square" lIns="0" rIns="0" tIns="0" bIns="0">
            <a:spAutoFit/>
          </a:bodyPr>
          <a:lstStyle/>
          <a:p>
            <a:pPr algn="l"/>
            <a:r>
              <a:rPr sz="2700" b="1" i="0">
                <a:solidFill>
                  <a:srgbClr val="1F3A5F"/>
                </a:solidFill>
                <a:latin typeface="Georgia"/>
              </a:rPr>
              <a:t>Resampling moves results more than JPEG or shift</a:t>
            </a:r>
          </a:p>
        </p:txBody>
      </p:sp>
      <p:sp>
        <p:nvSpPr>
          <p:cNvPr id="12" name="TextBox 11"/>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3</a:t>
            </a:r>
          </a:p>
        </p:txBody>
      </p:sp>
      <p:pic>
        <p:nvPicPr>
          <p:cNvPr id="13" name="Picture 12" descr="fig_effect_sizes.png"/>
          <p:cNvPicPr>
            <a:picLocks noChangeAspect="1"/>
          </p:cNvPicPr>
          <p:nvPr/>
        </p:nvPicPr>
        <p:blipFill>
          <a:blip r:embed="rId2"/>
          <a:stretch>
            <a:fillRect/>
          </a:stretch>
        </p:blipFill>
        <p:spPr>
          <a:xfrm>
            <a:off x="548640" y="1539716"/>
            <a:ext cx="5394960" cy="3934015"/>
          </a:xfrm>
          <a:prstGeom prst="rect">
            <a:avLst/>
          </a:prstGeom>
          <a:ln w="9525">
            <a:solidFill>
              <a:srgbClr val="D5DBDB"/>
            </a:solidFill>
          </a:ln>
        </p:spPr>
      </p:pic>
      <p:sp>
        <p:nvSpPr>
          <p:cNvPr id="14" name="TextBox 13"/>
          <p:cNvSpPr txBox="1"/>
          <p:nvPr/>
        </p:nvSpPr>
        <p:spPr>
          <a:xfrm>
            <a:off x="548640" y="5583459"/>
            <a:ext cx="5394960" cy="621792"/>
          </a:xfrm>
          <a:prstGeom prst="rect">
            <a:avLst/>
          </a:prstGeom>
          <a:noFill/>
        </p:spPr>
        <p:txBody>
          <a:bodyPr wrap="square" lIns="0" rIns="0" tIns="0" bIns="0">
            <a:spAutoFit/>
          </a:bodyPr>
          <a:lstStyle/>
          <a:p>
            <a:pPr algn="ctr">
              <a:lnSpc>
                <a:spcPct val="105000"/>
              </a:lnSpc>
            </a:pPr>
            <a:r>
              <a:rPr sz="1200" b="0" i="0">
                <a:solidFill>
                  <a:srgbClr val="5D6D7E"/>
                </a:solidFill>
                <a:latin typeface="Arial"/>
              </a:rPr>
              <a:t>Each dot: one feature set on one generator; tick = pooled.</a:t>
            </a:r>
          </a:p>
        </p:txBody>
      </p:sp>
      <p:sp>
        <p:nvSpPr>
          <p:cNvPr id="15" name="TextBox 14"/>
          <p:cNvSpPr txBox="1"/>
          <p:nvPr/>
        </p:nvSpPr>
        <p:spPr>
          <a:xfrm>
            <a:off x="6309360" y="1417320"/>
            <a:ext cx="5303520" cy="320040"/>
          </a:xfrm>
          <a:prstGeom prst="rect">
            <a:avLst/>
          </a:prstGeom>
          <a:noFill/>
        </p:spPr>
        <p:txBody>
          <a:bodyPr wrap="square" lIns="0" rIns="0" tIns="0" bIns="0">
            <a:spAutoFit/>
          </a:bodyPr>
          <a:lstStyle/>
          <a:p>
            <a:pPr algn="l"/>
            <a:r>
              <a:rPr sz="1450" b="1" i="0">
                <a:solidFill>
                  <a:srgbClr val="1F3A5F"/>
                </a:solidFill>
                <a:latin typeface="Arial"/>
              </a:rPr>
              <a:t>Which arm looks stronger?  pixel − frequency</a:t>
            </a:r>
          </a:p>
        </p:txBody>
      </p:sp>
      <p:graphicFrame>
        <p:nvGraphicFramePr>
          <p:cNvPr id="16" name="Table 15"/>
          <p:cNvGraphicFramePr>
            <a:graphicFrameLocks noGrp="1"/>
          </p:cNvGraphicFramePr>
          <p:nvPr/>
        </p:nvGraphicFramePr>
        <p:xfrm>
          <a:off x="6309360" y="1828800"/>
          <a:ext cx="5303520" cy="1371600"/>
        </p:xfrm>
        <a:graphic>
          <a:graphicData uri="http://schemas.openxmlformats.org/drawingml/2006/table">
            <a:tbl>
              <a:tblPr firstRow="1" bandRow="1">
                <a:tableStyleId>{5C22544A-7EE6-4342-B048-85BDC9FD1C3A}</a:tableStyleId>
              </a:tblPr>
              <a:tblGrid>
                <a:gridCol w="2011680"/>
                <a:gridCol w="3291840"/>
              </a:tblGrid>
              <a:tr h="457200">
                <a:tc>
                  <a:txBody>
                    <a:bodyPr wrap="square"/>
                    <a:lstStyle/>
                    <a:p>
                      <a:pPr algn="l"/>
                      <a:r>
                        <a:rPr sz="1250" b="1">
                          <a:solidFill>
                            <a:srgbClr val="5D6D7E"/>
                          </a:solidFill>
                          <a:latin typeface="Arial"/>
                        </a:rPr>
                        <a:t>Pipeline</a:t>
                      </a:r>
                    </a:p>
                  </a:txBody>
                  <a:tcPr marL="109728" marR="109728" marT="54864" marB="54864" anchor="ctr">
                    <a:lnB w="9525" cap="flat">
                      <a:solidFill>
                        <a:srgbClr val="D5DBDB"/>
                      </a:solidFill>
                    </a:lnB>
                    <a:solidFill>
                      <a:srgbClr val="F2F5F8"/>
                    </a:solidFill>
                  </a:tcPr>
                </a:tc>
                <a:tc>
                  <a:txBody>
                    <a:bodyPr wrap="square"/>
                    <a:lstStyle/>
                    <a:p>
                      <a:pPr algn="ctr"/>
                      <a:r>
                        <a:rPr sz="1250" b="1">
                          <a:solidFill>
                            <a:srgbClr val="5D6D7E"/>
                          </a:solidFill>
                          <a:latin typeface="Arial"/>
                        </a:rPr>
                        <a:t>AUROC difference [95% CI]</a:t>
                      </a:r>
                    </a:p>
                  </a:txBody>
                  <a:tcPr marL="109728" marR="109728" marT="54864" marB="54864" anchor="ctr">
                    <a:lnB w="9525" cap="flat">
                      <a:solidFill>
                        <a:srgbClr val="D5DBDB"/>
                      </a:solidFill>
                    </a:lnB>
                    <a:solidFill>
                      <a:srgbClr val="F2F5F8"/>
                    </a:solidFill>
                  </a:tcPr>
                </a:tc>
              </a:tr>
              <a:tr h="457200">
                <a:tc>
                  <a:txBody>
                    <a:bodyPr wrap="square"/>
                    <a:lstStyle/>
                    <a:p>
                      <a:pPr algn="l"/>
                      <a:r>
                        <a:rPr sz="1350" b="0">
                          <a:solidFill>
                            <a:srgbClr val="1C2833"/>
                          </a:solidFill>
                          <a:latin typeface="Arial"/>
                        </a:rPr>
                        <a:t>Accepted resize</a:t>
                      </a:r>
                    </a:p>
                  </a:txBody>
                  <a:tcPr marL="109728" marR="109728" marT="54864" marB="54864" anchor="ctr">
                    <a:lnB w="9525" cap="flat">
                      <a:solidFill>
                        <a:srgbClr val="D5DBDB"/>
                      </a:solidFill>
                    </a:lnB>
                    <a:solidFill>
                      <a:srgbClr val="FFFFFF"/>
                    </a:solidFill>
                  </a:tcPr>
                </a:tc>
                <a:tc>
                  <a:txBody>
                    <a:bodyPr wrap="square"/>
                    <a:lstStyle/>
                    <a:p>
                      <a:pPr algn="ctr"/>
                      <a:r>
                        <a:rPr sz="1350" b="0">
                          <a:solidFill>
                            <a:srgbClr val="B2182B"/>
                          </a:solidFill>
                          <a:latin typeface="Arial"/>
                        </a:rPr>
                        <a:t>−0.088 [−0.130, −0.045]</a:t>
                      </a:r>
                    </a:p>
                  </a:txBody>
                  <a:tcPr marL="109728" marR="109728" marT="54864" marB="54864" anchor="ctr">
                    <a:lnB w="9525" cap="flat">
                      <a:solidFill>
                        <a:srgbClr val="D5DBDB"/>
                      </a:solidFill>
                    </a:lnB>
                    <a:solidFill>
                      <a:srgbClr val="FFFFFF"/>
                    </a:solidFill>
                  </a:tcPr>
                </a:tc>
              </a:tr>
              <a:tr h="457200">
                <a:tc>
                  <a:txBody>
                    <a:bodyPr wrap="square"/>
                    <a:lstStyle/>
                    <a:p>
                      <a:pPr algn="l"/>
                      <a:r>
                        <a:rPr sz="1350" b="0">
                          <a:solidFill>
                            <a:srgbClr val="1C2833"/>
                          </a:solidFill>
                          <a:latin typeface="Arial"/>
                        </a:rPr>
                        <a:t>Same resampling</a:t>
                      </a:r>
                    </a:p>
                  </a:txBody>
                  <a:tcPr marL="109728" marR="109728" marT="54864" marB="54864" anchor="ctr">
                    <a:lnB w="9525" cap="flat">
                      <a:solidFill>
                        <a:srgbClr val="D5DBDB"/>
                      </a:solidFill>
                    </a:lnB>
                    <a:solidFill>
                      <a:srgbClr val="FFFFFF"/>
                    </a:solidFill>
                  </a:tcPr>
                </a:tc>
                <a:tc>
                  <a:txBody>
                    <a:bodyPr wrap="square"/>
                    <a:lstStyle/>
                    <a:p>
                      <a:pPr algn="ctr"/>
                      <a:r>
                        <a:rPr sz="1350" b="0">
                          <a:solidFill>
                            <a:srgbClr val="1C2833"/>
                          </a:solidFill>
                          <a:latin typeface="Arial"/>
                        </a:rPr>
                        <a:t>+0.022 [−0.015, 0.056]</a:t>
                      </a:r>
                    </a:p>
                  </a:txBody>
                  <a:tcPr marL="109728" marR="109728" marT="54864" marB="54864" anchor="ctr">
                    <a:lnB w="9525" cap="flat">
                      <a:solidFill>
                        <a:srgbClr val="D5DBDB"/>
                      </a:solidFill>
                    </a:lnB>
                    <a:solidFill>
                      <a:srgbClr val="FFFFFF"/>
                    </a:solidFill>
                  </a:tcPr>
                </a:tc>
              </a:tr>
            </a:tbl>
          </a:graphicData>
        </a:graphic>
      </p:graphicFrame>
      <p:sp>
        <p:nvSpPr>
          <p:cNvPr id="17" name="TextBox 16"/>
          <p:cNvSpPr txBox="1"/>
          <p:nvPr/>
        </p:nvSpPr>
        <p:spPr>
          <a:xfrm>
            <a:off x="6309360" y="3520440"/>
            <a:ext cx="5303520" cy="320040"/>
          </a:xfrm>
          <a:prstGeom prst="rect">
            <a:avLst/>
          </a:prstGeom>
          <a:noFill/>
        </p:spPr>
        <p:txBody>
          <a:bodyPr wrap="square" lIns="0" rIns="0" tIns="0" bIns="0">
            <a:spAutoFit/>
          </a:bodyPr>
          <a:lstStyle/>
          <a:p>
            <a:pPr algn="l"/>
            <a:r>
              <a:rPr sz="1450" b="1" i="0">
                <a:solidFill>
                  <a:srgbClr val="1F3A5F"/>
                </a:solidFill>
                <a:latin typeface="Arial"/>
              </a:rPr>
              <a:t>JPEG q50 on the clean model: reals flagged as fake</a:t>
            </a:r>
          </a:p>
        </p:txBody>
      </p:sp>
      <p:graphicFrame>
        <p:nvGraphicFramePr>
          <p:cNvPr id="18" name="Table 17"/>
          <p:cNvGraphicFramePr>
            <a:graphicFrameLocks noGrp="1"/>
          </p:cNvGraphicFramePr>
          <p:nvPr/>
        </p:nvGraphicFramePr>
        <p:xfrm>
          <a:off x="6309360" y="3931920"/>
          <a:ext cx="5303520" cy="1755648"/>
        </p:xfrm>
        <a:graphic>
          <a:graphicData uri="http://schemas.openxmlformats.org/drawingml/2006/table">
            <a:tbl>
              <a:tblPr firstRow="1" bandRow="1">
                <a:tableStyleId>{5C22544A-7EE6-4342-B048-85BDC9FD1C3A}</a:tableStyleId>
              </a:tblPr>
              <a:tblGrid>
                <a:gridCol w="2011680"/>
                <a:gridCol w="1645920"/>
                <a:gridCol w="1645920"/>
              </a:tblGrid>
              <a:tr h="438912">
                <a:tc>
                  <a:txBody>
                    <a:bodyPr wrap="square"/>
                    <a:lstStyle/>
                    <a:p>
                      <a:pPr algn="l"/>
                      <a:r>
                        <a:rPr sz="1250" b="1">
                          <a:solidFill>
                            <a:srgbClr val="5D6D7E"/>
                          </a:solidFill>
                          <a:latin typeface="Arial"/>
                        </a:rPr>
                        <a:t>Arm</a:t>
                      </a:r>
                    </a:p>
                  </a:txBody>
                  <a:tcPr marL="109728" marR="109728" marT="54864" marB="54864" anchor="ctr">
                    <a:lnB w="9525" cap="flat">
                      <a:solidFill>
                        <a:srgbClr val="D5DBDB"/>
                      </a:solidFill>
                    </a:lnB>
                    <a:solidFill>
                      <a:srgbClr val="F2F5F8"/>
                    </a:solidFill>
                  </a:tcPr>
                </a:tc>
                <a:tc>
                  <a:txBody>
                    <a:bodyPr wrap="square"/>
                    <a:lstStyle/>
                    <a:p>
                      <a:pPr algn="ctr"/>
                      <a:r>
                        <a:rPr sz="1250" b="1">
                          <a:solidFill>
                            <a:srgbClr val="5D6D7E"/>
                          </a:solidFill>
                          <a:latin typeface="Arial"/>
                        </a:rPr>
                        <a:t>clean</a:t>
                      </a:r>
                    </a:p>
                  </a:txBody>
                  <a:tcPr marL="109728" marR="109728" marT="54864" marB="54864" anchor="ctr">
                    <a:lnB w="9525" cap="flat">
                      <a:solidFill>
                        <a:srgbClr val="D5DBDB"/>
                      </a:solidFill>
                    </a:lnB>
                    <a:solidFill>
                      <a:srgbClr val="F2F5F8"/>
                    </a:solidFill>
                  </a:tcPr>
                </a:tc>
                <a:tc>
                  <a:txBody>
                    <a:bodyPr wrap="square"/>
                    <a:lstStyle/>
                    <a:p>
                      <a:pPr algn="ctr"/>
                      <a:r>
                        <a:rPr sz="1250" b="1">
                          <a:solidFill>
                            <a:srgbClr val="5D6D7E"/>
                          </a:solidFill>
                          <a:latin typeface="Arial"/>
                        </a:rPr>
                        <a:t>JPEG q50</a:t>
                      </a:r>
                    </a:p>
                  </a:txBody>
                  <a:tcPr marL="109728" marR="109728" marT="54864" marB="54864" anchor="ctr">
                    <a:lnB w="9525" cap="flat">
                      <a:solidFill>
                        <a:srgbClr val="D5DBDB"/>
                      </a:solidFill>
                    </a:lnB>
                    <a:solidFill>
                      <a:srgbClr val="F2F5F8"/>
                    </a:solidFill>
                  </a:tcPr>
                </a:tc>
              </a:tr>
              <a:tr h="438912">
                <a:tc>
                  <a:txBody>
                    <a:bodyPr wrap="square"/>
                    <a:lstStyle/>
                    <a:p>
                      <a:pPr algn="l"/>
                      <a:r>
                        <a:rPr sz="1350" b="0">
                          <a:solidFill>
                            <a:srgbClr val="1C2833"/>
                          </a:solidFill>
                          <a:latin typeface="Arial"/>
                        </a:rPr>
                        <a:t>Pixel</a:t>
                      </a:r>
                    </a:p>
                  </a:txBody>
                  <a:tcPr marL="109728" marR="109728" marT="54864" marB="54864" anchor="ctr">
                    <a:lnB w="9525" cap="flat">
                      <a:solidFill>
                        <a:srgbClr val="D5DBDB"/>
                      </a:solidFill>
                    </a:lnB>
                    <a:solidFill>
                      <a:srgbClr val="FFFFFF"/>
                    </a:solidFill>
                  </a:tcPr>
                </a:tc>
                <a:tc>
                  <a:txBody>
                    <a:bodyPr wrap="square"/>
                    <a:lstStyle/>
                    <a:p>
                      <a:pPr algn="ctr"/>
                      <a:r>
                        <a:rPr sz="1350" b="0">
                          <a:solidFill>
                            <a:srgbClr val="1C2833"/>
                          </a:solidFill>
                          <a:latin typeface="Arial"/>
                        </a:rPr>
                        <a:t>98 / 300</a:t>
                      </a:r>
                    </a:p>
                  </a:txBody>
                  <a:tcPr marL="109728" marR="109728" marT="54864" marB="54864" anchor="ctr">
                    <a:lnB w="9525" cap="flat">
                      <a:solidFill>
                        <a:srgbClr val="D5DBDB"/>
                      </a:solidFill>
                    </a:lnB>
                    <a:solidFill>
                      <a:srgbClr val="FFFFFF"/>
                    </a:solidFill>
                  </a:tcPr>
                </a:tc>
                <a:tc>
                  <a:txBody>
                    <a:bodyPr wrap="square"/>
                    <a:lstStyle/>
                    <a:p>
                      <a:pPr algn="ctr"/>
                      <a:r>
                        <a:rPr sz="1350" b="0">
                          <a:solidFill>
                            <a:srgbClr val="B2182B"/>
                          </a:solidFill>
                          <a:latin typeface="Arial"/>
                        </a:rPr>
                        <a:t>157 / 300</a:t>
                      </a:r>
                    </a:p>
                  </a:txBody>
                  <a:tcPr marL="109728" marR="109728" marT="54864" marB="54864" anchor="ctr">
                    <a:lnB w="9525" cap="flat">
                      <a:solidFill>
                        <a:srgbClr val="D5DBDB"/>
                      </a:solidFill>
                    </a:lnB>
                    <a:solidFill>
                      <a:srgbClr val="FFFFFF"/>
                    </a:solidFill>
                  </a:tcPr>
                </a:tc>
              </a:tr>
              <a:tr h="438912">
                <a:tc>
                  <a:txBody>
                    <a:bodyPr wrap="square"/>
                    <a:lstStyle/>
                    <a:p>
                      <a:pPr algn="l"/>
                      <a:r>
                        <a:rPr sz="1350" b="0">
                          <a:solidFill>
                            <a:srgbClr val="1C2833"/>
                          </a:solidFill>
                          <a:latin typeface="Arial"/>
                        </a:rPr>
                        <a:t>Frequency</a:t>
                      </a:r>
                    </a:p>
                  </a:txBody>
                  <a:tcPr marL="109728" marR="109728" marT="54864" marB="54864" anchor="ctr">
                    <a:lnB w="9525" cap="flat">
                      <a:solidFill>
                        <a:srgbClr val="D5DBDB"/>
                      </a:solidFill>
                    </a:lnB>
                    <a:solidFill>
                      <a:srgbClr val="FFFFFF"/>
                    </a:solidFill>
                  </a:tcPr>
                </a:tc>
                <a:tc>
                  <a:txBody>
                    <a:bodyPr wrap="square"/>
                    <a:lstStyle/>
                    <a:p>
                      <a:pPr algn="ctr"/>
                      <a:r>
                        <a:rPr sz="1350" b="0">
                          <a:solidFill>
                            <a:srgbClr val="1C2833"/>
                          </a:solidFill>
                          <a:latin typeface="Arial"/>
                        </a:rPr>
                        <a:t>14 / 300</a:t>
                      </a:r>
                    </a:p>
                  </a:txBody>
                  <a:tcPr marL="109728" marR="109728" marT="54864" marB="54864" anchor="ctr">
                    <a:lnB w="9525" cap="flat">
                      <a:solidFill>
                        <a:srgbClr val="D5DBDB"/>
                      </a:solidFill>
                    </a:lnB>
                    <a:solidFill>
                      <a:srgbClr val="FFFFFF"/>
                    </a:solidFill>
                  </a:tcPr>
                </a:tc>
                <a:tc>
                  <a:txBody>
                    <a:bodyPr wrap="square"/>
                    <a:lstStyle/>
                    <a:p>
                      <a:pPr algn="ctr"/>
                      <a:r>
                        <a:rPr sz="1350" b="0">
                          <a:solidFill>
                            <a:srgbClr val="1C2833"/>
                          </a:solidFill>
                          <a:latin typeface="Arial"/>
                        </a:rPr>
                        <a:t>16 / 300</a:t>
                      </a:r>
                    </a:p>
                  </a:txBody>
                  <a:tcPr marL="109728" marR="109728" marT="54864" marB="54864" anchor="ctr">
                    <a:lnB w="9525" cap="flat">
                      <a:solidFill>
                        <a:srgbClr val="D5DBDB"/>
                      </a:solidFill>
                    </a:lnB>
                    <a:solidFill>
                      <a:srgbClr val="FFFFFF"/>
                    </a:solidFill>
                  </a:tcPr>
                </a:tc>
              </a:tr>
              <a:tr h="438912">
                <a:tc>
                  <a:txBody>
                    <a:bodyPr wrap="square"/>
                    <a:lstStyle/>
                    <a:p>
                      <a:pPr algn="l"/>
                      <a:r>
                        <a:rPr sz="1350" b="0">
                          <a:solidFill>
                            <a:srgbClr val="1C2833"/>
                          </a:solidFill>
                          <a:latin typeface="Arial"/>
                        </a:rPr>
                        <a:t>Combined</a:t>
                      </a:r>
                    </a:p>
                  </a:txBody>
                  <a:tcPr marL="109728" marR="109728" marT="54864" marB="54864" anchor="ctr">
                    <a:lnB w="9525" cap="flat">
                      <a:solidFill>
                        <a:srgbClr val="D5DBDB"/>
                      </a:solidFill>
                    </a:lnB>
                    <a:solidFill>
                      <a:srgbClr val="FFFFFF"/>
                    </a:solidFill>
                  </a:tcPr>
                </a:tc>
                <a:tc>
                  <a:txBody>
                    <a:bodyPr wrap="square"/>
                    <a:lstStyle/>
                    <a:p>
                      <a:pPr algn="ctr"/>
                      <a:r>
                        <a:rPr sz="1350" b="0">
                          <a:solidFill>
                            <a:srgbClr val="1C2833"/>
                          </a:solidFill>
                          <a:latin typeface="Arial"/>
                        </a:rPr>
                        <a:t>37 / 300</a:t>
                      </a:r>
                    </a:p>
                  </a:txBody>
                  <a:tcPr marL="109728" marR="109728" marT="54864" marB="54864" anchor="ctr">
                    <a:lnB w="9525" cap="flat">
                      <a:solidFill>
                        <a:srgbClr val="D5DBDB"/>
                      </a:solidFill>
                    </a:lnB>
                    <a:solidFill>
                      <a:srgbClr val="FFFFFF"/>
                    </a:solidFill>
                  </a:tcPr>
                </a:tc>
                <a:tc>
                  <a:txBody>
                    <a:bodyPr wrap="square"/>
                    <a:lstStyle/>
                    <a:p>
                      <a:pPr algn="ctr"/>
                      <a:r>
                        <a:rPr sz="1350" b="0">
                          <a:solidFill>
                            <a:srgbClr val="1C2833"/>
                          </a:solidFill>
                          <a:latin typeface="Arial"/>
                        </a:rPr>
                        <a:t>42 / 300</a:t>
                      </a:r>
                    </a:p>
                  </a:txBody>
                  <a:tcPr marL="109728" marR="109728" marT="54864" marB="54864" anchor="ctr">
                    <a:lnB w="9525" cap="flat">
                      <a:solidFill>
                        <a:srgbClr val="D5DBDB"/>
                      </a:solidFill>
                    </a:lnB>
                    <a:solidFill>
                      <a:srgbClr val="FFFFFF"/>
                    </a:solidFill>
                  </a:tcPr>
                </a:tc>
              </a:tr>
            </a:tbl>
          </a:graphicData>
        </a:graphic>
      </p:graphicFrame>
      <p:sp>
        <p:nvSpPr>
          <p:cNvPr id="19" name="TextBox 18"/>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20" name="TextBox 19"/>
          <p:cNvSpPr txBox="1"/>
          <p:nvPr/>
        </p:nvSpPr>
        <p:spPr>
          <a:xfrm>
            <a:off x="10362895" y="6510528"/>
            <a:ext cx="1280160" cy="237744"/>
          </a:xfrm>
          <a:prstGeom prst="rect">
            <a:avLst/>
          </a:prstGeom>
          <a:noFill/>
        </p:spPr>
        <p:txBody>
          <a:bodyPr wrap="square" lIns="0" rIns="0" tIns="0" bIns="0">
            <a:spAutoFit/>
          </a:bodyPr>
          <a:lstStyle/>
          <a:p>
            <a:pPr algn="r"/>
            <a:r>
              <a:rPr sz="1000" b="0" i="0">
                <a:solidFill>
                  <a:srgbClr val="5D6D7E"/>
                </a:solidFill>
                <a:latin typeface="Arial"/>
              </a:rPr>
              <a:t>11 / 13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56032"/>
            <a:ext cx="1584916" cy="274320"/>
          </a:xfrm>
          <a:prstGeom prst="rect">
            <a:avLst/>
          </a:prstGeom>
          <a:noFill/>
        </p:spPr>
        <p:txBody>
          <a:bodyPr wrap="square" lIns="0" rIns="0" tIns="0" bIns="0">
            <a:spAutoFit/>
          </a:bodyPr>
          <a:lstStyle/>
          <a:p>
            <a:pPr algn="ctr"/>
            <a:r>
              <a:rPr sz="1050" b="0" i="0">
                <a:solidFill>
                  <a:srgbClr val="5D6D7E"/>
                </a:solidFill>
                <a:latin typeface="Arial"/>
              </a:rPr>
              <a:t>INTRODUCTION</a:t>
            </a:r>
          </a:p>
        </p:txBody>
      </p:sp>
      <p:sp>
        <p:nvSpPr>
          <p:cNvPr id="3" name="TextBox 2"/>
          <p:cNvSpPr txBox="1"/>
          <p:nvPr/>
        </p:nvSpPr>
        <p:spPr>
          <a:xfrm>
            <a:off x="2133556" y="256032"/>
            <a:ext cx="1584916" cy="274320"/>
          </a:xfrm>
          <a:prstGeom prst="rect">
            <a:avLst/>
          </a:prstGeom>
          <a:noFill/>
        </p:spPr>
        <p:txBody>
          <a:bodyPr wrap="square" lIns="0" rIns="0" tIns="0" bIns="0">
            <a:spAutoFit/>
          </a:bodyPr>
          <a:lstStyle/>
          <a:p>
            <a:pPr algn="ctr"/>
            <a:r>
              <a:rPr sz="1050" b="0" i="0">
                <a:solidFill>
                  <a:srgbClr val="5D6D7E"/>
                </a:solidFill>
                <a:latin typeface="Arial"/>
              </a:rPr>
              <a:t>NOVELTY</a:t>
            </a:r>
          </a:p>
        </p:txBody>
      </p:sp>
      <p:sp>
        <p:nvSpPr>
          <p:cNvPr id="4" name="TextBox 3"/>
          <p:cNvSpPr txBox="1"/>
          <p:nvPr/>
        </p:nvSpPr>
        <p:spPr>
          <a:xfrm>
            <a:off x="3718472" y="256032"/>
            <a:ext cx="1584916" cy="274320"/>
          </a:xfrm>
          <a:prstGeom prst="rect">
            <a:avLst/>
          </a:prstGeom>
          <a:noFill/>
        </p:spPr>
        <p:txBody>
          <a:bodyPr wrap="square" lIns="0" rIns="0" tIns="0" bIns="0">
            <a:spAutoFit/>
          </a:bodyPr>
          <a:lstStyle/>
          <a:p>
            <a:pPr algn="ctr"/>
            <a:r>
              <a:rPr sz="1050" b="0" i="0">
                <a:solidFill>
                  <a:srgbClr val="5D6D7E"/>
                </a:solidFill>
                <a:latin typeface="Arial"/>
              </a:rPr>
              <a:t>METHODOLOGY</a:t>
            </a:r>
          </a:p>
        </p:txBody>
      </p:sp>
      <p:sp>
        <p:nvSpPr>
          <p:cNvPr id="5" name="TextBox 4"/>
          <p:cNvSpPr txBox="1"/>
          <p:nvPr/>
        </p:nvSpPr>
        <p:spPr>
          <a:xfrm>
            <a:off x="5303389" y="256032"/>
            <a:ext cx="1584916" cy="274320"/>
          </a:xfrm>
          <a:prstGeom prst="rect">
            <a:avLst/>
          </a:prstGeom>
          <a:noFill/>
        </p:spPr>
        <p:txBody>
          <a:bodyPr wrap="square" lIns="0" rIns="0" tIns="0" bIns="0">
            <a:spAutoFit/>
          </a:bodyPr>
          <a:lstStyle/>
          <a:p>
            <a:pPr algn="ctr"/>
            <a:r>
              <a:rPr sz="1050" b="0" i="0">
                <a:solidFill>
                  <a:srgbClr val="5D6D7E"/>
                </a:solidFill>
                <a:latin typeface="Arial"/>
              </a:rPr>
              <a:t>EXPERIMENTS</a:t>
            </a:r>
          </a:p>
        </p:txBody>
      </p:sp>
      <p:sp>
        <p:nvSpPr>
          <p:cNvPr id="6" name="TextBox 5"/>
          <p:cNvSpPr txBox="1"/>
          <p:nvPr/>
        </p:nvSpPr>
        <p:spPr>
          <a:xfrm>
            <a:off x="6888305" y="256032"/>
            <a:ext cx="1584916" cy="274320"/>
          </a:xfrm>
          <a:prstGeom prst="rect">
            <a:avLst/>
          </a:prstGeom>
          <a:noFill/>
        </p:spPr>
        <p:txBody>
          <a:bodyPr wrap="square" lIns="0" rIns="0" tIns="0" bIns="0">
            <a:spAutoFit/>
          </a:bodyPr>
          <a:lstStyle/>
          <a:p>
            <a:pPr algn="ctr"/>
            <a:r>
              <a:rPr sz="1050" b="0" i="0">
                <a:solidFill>
                  <a:srgbClr val="5D6D7E"/>
                </a:solidFill>
                <a:latin typeface="Arial"/>
              </a:rPr>
              <a:t>RESULTS</a:t>
            </a:r>
          </a:p>
        </p:txBody>
      </p:sp>
      <p:sp>
        <p:nvSpPr>
          <p:cNvPr id="7" name="TextBox 6"/>
          <p:cNvSpPr txBox="1"/>
          <p:nvPr/>
        </p:nvSpPr>
        <p:spPr>
          <a:xfrm>
            <a:off x="8473222" y="256032"/>
            <a:ext cx="1584916" cy="274320"/>
          </a:xfrm>
          <a:prstGeom prst="rect">
            <a:avLst/>
          </a:prstGeom>
          <a:noFill/>
        </p:spPr>
        <p:txBody>
          <a:bodyPr wrap="square" lIns="0" rIns="0" tIns="0" bIns="0">
            <a:spAutoFit/>
          </a:bodyPr>
          <a:lstStyle/>
          <a:p>
            <a:pPr algn="ctr"/>
            <a:r>
              <a:rPr sz="1050" b="1" i="0">
                <a:solidFill>
                  <a:srgbClr val="B2182B"/>
                </a:solidFill>
                <a:latin typeface="Arial"/>
              </a:rPr>
              <a:t>LIMITATIONS</a:t>
            </a:r>
          </a:p>
        </p:txBody>
      </p:sp>
      <p:sp>
        <p:nvSpPr>
          <p:cNvPr id="8" name="Rectangle 7"/>
          <p:cNvSpPr/>
          <p:nvPr/>
        </p:nvSpPr>
        <p:spPr>
          <a:xfrm>
            <a:off x="8701822" y="548640"/>
            <a:ext cx="1127716" cy="28575"/>
          </a:xfrm>
          <a:prstGeom prst="rect">
            <a:avLst/>
          </a:prstGeom>
          <a:solidFill>
            <a:srgbClr val="B2182B"/>
          </a:solidFill>
          <a:ln>
            <a:noFill/>
          </a:ln>
        </p:spPr>
        <p:txBody>
          <a:bodyPr rtlCol="0" anchor="ctr"/>
          <a:lstStyle/>
          <a:p>
            <a:pPr algn="ctr"/>
          </a:p>
        </p:txBody>
      </p:sp>
      <p:sp>
        <p:nvSpPr>
          <p:cNvPr id="9" name="TextBox 8"/>
          <p:cNvSpPr txBox="1"/>
          <p:nvPr/>
        </p:nvSpPr>
        <p:spPr>
          <a:xfrm>
            <a:off x="10058138" y="256032"/>
            <a:ext cx="1584916" cy="274320"/>
          </a:xfrm>
          <a:prstGeom prst="rect">
            <a:avLst/>
          </a:prstGeom>
          <a:noFill/>
        </p:spPr>
        <p:txBody>
          <a:bodyPr wrap="square" lIns="0" rIns="0" tIns="0" bIns="0">
            <a:spAutoFit/>
          </a:bodyPr>
          <a:lstStyle/>
          <a:p>
            <a:pPr algn="ctr"/>
            <a:r>
              <a:rPr sz="1050" b="1" i="0">
                <a:solidFill>
                  <a:srgbClr val="B2182B"/>
                </a:solidFill>
                <a:latin typeface="Arial"/>
              </a:rPr>
              <a:t>FUTURE</a:t>
            </a:r>
          </a:p>
        </p:txBody>
      </p:sp>
      <p:sp>
        <p:nvSpPr>
          <p:cNvPr id="10" name="Rectangle 9"/>
          <p:cNvSpPr/>
          <p:nvPr/>
        </p:nvSpPr>
        <p:spPr>
          <a:xfrm>
            <a:off x="10286738" y="548640"/>
            <a:ext cx="1127716" cy="28575"/>
          </a:xfrm>
          <a:prstGeom prst="rect">
            <a:avLst/>
          </a:prstGeom>
          <a:solidFill>
            <a:srgbClr val="B2182B"/>
          </a:solidFill>
          <a:ln>
            <a:noFill/>
          </a:ln>
        </p:spPr>
        <p:txBody>
          <a:bodyPr rtlCol="0" anchor="ctr"/>
          <a:lstStyle/>
          <a:p>
            <a:pPr algn="ctr"/>
          </a:p>
        </p:txBody>
      </p:sp>
      <p:sp>
        <p:nvSpPr>
          <p:cNvPr id="11" name="Rectangle 10"/>
          <p:cNvSpPr/>
          <p:nvPr/>
        </p:nvSpPr>
        <p:spPr>
          <a:xfrm>
            <a:off x="548640" y="566928"/>
            <a:ext cx="11094415" cy="9525"/>
          </a:xfrm>
          <a:prstGeom prst="rect">
            <a:avLst/>
          </a:prstGeom>
          <a:solidFill>
            <a:srgbClr val="D5DBDB"/>
          </a:solidFill>
          <a:ln>
            <a:noFill/>
          </a:ln>
        </p:spPr>
        <p:txBody>
          <a:bodyPr rtlCol="0" anchor="ctr"/>
          <a:lstStyle/>
          <a:p>
            <a:pPr algn="ctr"/>
          </a:p>
        </p:txBody>
      </p:sp>
      <p:sp>
        <p:nvSpPr>
          <p:cNvPr id="12" name="TextBox 11"/>
          <p:cNvSpPr txBox="1"/>
          <p:nvPr/>
        </p:nvSpPr>
        <p:spPr>
          <a:xfrm>
            <a:off x="548640" y="713232"/>
            <a:ext cx="9418320" cy="548640"/>
          </a:xfrm>
          <a:prstGeom prst="rect">
            <a:avLst/>
          </a:prstGeom>
          <a:noFill/>
        </p:spPr>
        <p:txBody>
          <a:bodyPr wrap="square" lIns="0" rIns="0" tIns="0" bIns="0">
            <a:spAutoFit/>
          </a:bodyPr>
          <a:lstStyle/>
          <a:p>
            <a:pPr algn="l"/>
            <a:r>
              <a:rPr sz="2700" b="1" i="0">
                <a:solidFill>
                  <a:srgbClr val="1F3A5F"/>
                </a:solidFill>
                <a:latin typeface="Georgia"/>
              </a:rPr>
              <a:t>Limitations and planned extensions</a:t>
            </a:r>
          </a:p>
        </p:txBody>
      </p:sp>
      <p:sp>
        <p:nvSpPr>
          <p:cNvPr id="13" name="TextBox 12"/>
          <p:cNvSpPr txBox="1"/>
          <p:nvPr/>
        </p:nvSpPr>
        <p:spPr>
          <a:xfrm>
            <a:off x="10271455" y="822960"/>
            <a:ext cx="1371600" cy="274320"/>
          </a:xfrm>
          <a:prstGeom prst="rect">
            <a:avLst/>
          </a:prstGeom>
          <a:noFill/>
        </p:spPr>
        <p:txBody>
          <a:bodyPr wrap="square" lIns="0" rIns="0" tIns="0" bIns="0">
            <a:spAutoFit/>
          </a:bodyPr>
          <a:lstStyle/>
          <a:p>
            <a:pPr algn="r"/>
            <a:r>
              <a:rPr sz="1100" b="1" i="0">
                <a:solidFill>
                  <a:srgbClr val="5D6D7E"/>
                </a:solidFill>
                <a:latin typeface="Arial"/>
              </a:rPr>
              <a:t>MEMBER 3</a:t>
            </a:r>
          </a:p>
        </p:txBody>
      </p:sp>
      <p:sp>
        <p:nvSpPr>
          <p:cNvPr id="14" name="TextBox 13"/>
          <p:cNvSpPr txBox="1"/>
          <p:nvPr/>
        </p:nvSpPr>
        <p:spPr>
          <a:xfrm>
            <a:off x="548640" y="1417320"/>
            <a:ext cx="4846320" cy="320040"/>
          </a:xfrm>
          <a:prstGeom prst="rect">
            <a:avLst/>
          </a:prstGeom>
          <a:noFill/>
        </p:spPr>
        <p:txBody>
          <a:bodyPr wrap="square" lIns="0" rIns="0" tIns="0" bIns="0">
            <a:spAutoFit/>
          </a:bodyPr>
          <a:lstStyle/>
          <a:p>
            <a:pPr algn="l"/>
            <a:r>
              <a:rPr sz="1500" b="1" i="0">
                <a:solidFill>
                  <a:srgbClr val="B2182B"/>
                </a:solidFill>
                <a:latin typeface="Arial"/>
              </a:rPr>
              <a:t>Limitation</a:t>
            </a:r>
          </a:p>
        </p:txBody>
      </p:sp>
      <p:sp>
        <p:nvSpPr>
          <p:cNvPr id="15" name="TextBox 14"/>
          <p:cNvSpPr txBox="1"/>
          <p:nvPr/>
        </p:nvSpPr>
        <p:spPr>
          <a:xfrm>
            <a:off x="6720840" y="1417320"/>
            <a:ext cx="4846320" cy="320040"/>
          </a:xfrm>
          <a:prstGeom prst="rect">
            <a:avLst/>
          </a:prstGeom>
          <a:noFill/>
        </p:spPr>
        <p:txBody>
          <a:bodyPr wrap="square" lIns="0" rIns="0" tIns="0" bIns="0">
            <a:spAutoFit/>
          </a:bodyPr>
          <a:lstStyle/>
          <a:p>
            <a:pPr algn="l"/>
            <a:r>
              <a:rPr sz="1500" b="1" i="0">
                <a:solidFill>
                  <a:srgbClr val="1F3A5F"/>
                </a:solidFill>
                <a:latin typeface="Arial"/>
              </a:rPr>
              <a:t>Planned extension</a:t>
            </a:r>
          </a:p>
        </p:txBody>
      </p:sp>
      <p:sp>
        <p:nvSpPr>
          <p:cNvPr id="16" name="Rounded Rectangle 15"/>
          <p:cNvSpPr/>
          <p:nvPr/>
        </p:nvSpPr>
        <p:spPr>
          <a:xfrm>
            <a:off x="548640" y="1828800"/>
            <a:ext cx="4937760" cy="640080"/>
          </a:xfrm>
          <a:prstGeom prst="roundRect">
            <a:avLst>
              <a:gd name="adj" fmla="val 12000"/>
            </a:avLst>
          </a:prstGeom>
          <a:solidFill>
            <a:srgbClr val="FBEEF0"/>
          </a:solidFill>
          <a:ln w="12700">
            <a:solidFill>
              <a:srgbClr val="FBEEF0"/>
            </a:solidFill>
          </a:ln>
          <a:effectLst/>
        </p:spPr>
        <p:txBody>
          <a:bodyPr rtlCol="0" anchor="ctr" wrap="square" lIns="73152" rIns="73152" tIns="27432" bIns="27432"/>
          <a:lstStyle/>
          <a:p>
            <a:pPr algn="l"/>
            <a:r>
              <a:rPr sz="1400" b="0">
                <a:solidFill>
                  <a:srgbClr val="1C2833"/>
                </a:solidFill>
                <a:latin typeface="Arial"/>
              </a:rPr>
              <a:t>R added after results; also narrows the field of view</a:t>
            </a:r>
          </a:p>
        </p:txBody>
      </p:sp>
      <p:cxnSp>
        <p:nvCxnSpPr>
          <p:cNvPr id="17" name="Connector 16"/>
          <p:cNvCxnSpPr/>
          <p:nvPr/>
        </p:nvCxnSpPr>
        <p:spPr>
          <a:xfrm>
            <a:off x="5577840" y="2148840"/>
            <a:ext cx="1051560" cy="0"/>
          </a:xfrm>
          <a:prstGeom prst="line">
            <a:avLst/>
          </a:prstGeom>
          <a:ln w="22225">
            <a:solidFill>
              <a:srgbClr val="5D6D7E"/>
            </a:solidFill>
            <a:tailEnd type="triangle" w="med" len="med"/>
          </a:ln>
        </p:spPr>
      </p:cxnSp>
      <p:sp>
        <p:nvSpPr>
          <p:cNvPr id="18" name="Rounded Rectangle 17"/>
          <p:cNvSpPr/>
          <p:nvPr/>
        </p:nvSpPr>
        <p:spPr>
          <a:xfrm>
            <a:off x="6720840" y="1828800"/>
            <a:ext cx="4937760" cy="640080"/>
          </a:xfrm>
          <a:prstGeom prst="roundRect">
            <a:avLst>
              <a:gd name="adj" fmla="val 12000"/>
            </a:avLst>
          </a:prstGeom>
          <a:solidFill>
            <a:srgbClr val="F2F5F8"/>
          </a:solidFill>
          <a:ln w="12700">
            <a:solidFill>
              <a:srgbClr val="F2F5F8"/>
            </a:solidFill>
          </a:ln>
          <a:effectLst/>
        </p:spPr>
        <p:txBody>
          <a:bodyPr rtlCol="0" anchor="ctr" wrap="square" lIns="73152" rIns="73152" tIns="27432" bIns="27432"/>
          <a:lstStyle/>
          <a:p>
            <a:pPr algn="l"/>
            <a:r>
              <a:rPr sz="1400" b="0">
                <a:solidFill>
                  <a:srgbClr val="1C2833"/>
                </a:solidFill>
                <a:latin typeface="Arial"/>
              </a:rPr>
              <a:t>pre-specified native-resolution protocol (matched view)</a:t>
            </a:r>
          </a:p>
        </p:txBody>
      </p:sp>
      <p:sp>
        <p:nvSpPr>
          <p:cNvPr id="19" name="Rounded Rectangle 18"/>
          <p:cNvSpPr/>
          <p:nvPr/>
        </p:nvSpPr>
        <p:spPr>
          <a:xfrm>
            <a:off x="548640" y="2670048"/>
            <a:ext cx="4937760" cy="640080"/>
          </a:xfrm>
          <a:prstGeom prst="roundRect">
            <a:avLst>
              <a:gd name="adj" fmla="val 12000"/>
            </a:avLst>
          </a:prstGeom>
          <a:solidFill>
            <a:srgbClr val="FBEEF0"/>
          </a:solidFill>
          <a:ln w="12700">
            <a:solidFill>
              <a:srgbClr val="FBEEF0"/>
            </a:solidFill>
          </a:ln>
          <a:effectLst/>
        </p:spPr>
        <p:txBody>
          <a:bodyPr rtlCol="0" anchor="ctr" wrap="square" lIns="73152" rIns="73152" tIns="27432" bIns="27432"/>
          <a:lstStyle/>
          <a:p>
            <a:pPr algn="l"/>
            <a:r>
              <a:rPr sz="1400" b="0">
                <a:solidFill>
                  <a:srgbClr val="1C2833"/>
                </a:solidFill>
                <a:latin typeface="Arial"/>
              </a:rPr>
              <a:t>only SD v1.4 held out</a:t>
            </a:r>
          </a:p>
        </p:txBody>
      </p:sp>
      <p:cxnSp>
        <p:nvCxnSpPr>
          <p:cNvPr id="20" name="Connector 19"/>
          <p:cNvCxnSpPr/>
          <p:nvPr/>
        </p:nvCxnSpPr>
        <p:spPr>
          <a:xfrm>
            <a:off x="5577840" y="2990088"/>
            <a:ext cx="1051560" cy="0"/>
          </a:xfrm>
          <a:prstGeom prst="line">
            <a:avLst/>
          </a:prstGeom>
          <a:ln w="22225">
            <a:solidFill>
              <a:srgbClr val="5D6D7E"/>
            </a:solidFill>
            <a:tailEnd type="triangle" w="med" len="med"/>
          </a:ln>
        </p:spPr>
      </p:cxnSp>
      <p:sp>
        <p:nvSpPr>
          <p:cNvPr id="21" name="Rounded Rectangle 20"/>
          <p:cNvSpPr/>
          <p:nvPr/>
        </p:nvSpPr>
        <p:spPr>
          <a:xfrm>
            <a:off x="6720840" y="2670048"/>
            <a:ext cx="4937760" cy="640080"/>
          </a:xfrm>
          <a:prstGeom prst="roundRect">
            <a:avLst>
              <a:gd name="adj" fmla="val 12000"/>
            </a:avLst>
          </a:prstGeom>
          <a:solidFill>
            <a:srgbClr val="F2F5F8"/>
          </a:solidFill>
          <a:ln w="12700">
            <a:solidFill>
              <a:srgbClr val="F2F5F8"/>
            </a:solidFill>
          </a:ln>
          <a:effectLst/>
        </p:spPr>
        <p:txBody>
          <a:bodyPr rtlCol="0" anchor="ctr" wrap="square" lIns="73152" rIns="73152" tIns="27432" bIns="27432"/>
          <a:lstStyle/>
          <a:p>
            <a:pPr algn="l"/>
            <a:r>
              <a:rPr sz="1400" b="0">
                <a:solidFill>
                  <a:srgbClr val="1C2833"/>
                </a:solidFill>
                <a:latin typeface="Arial"/>
              </a:rPr>
              <a:t>hold out each generator in turn</a:t>
            </a:r>
          </a:p>
        </p:txBody>
      </p:sp>
      <p:sp>
        <p:nvSpPr>
          <p:cNvPr id="22" name="Rounded Rectangle 21"/>
          <p:cNvSpPr/>
          <p:nvPr/>
        </p:nvSpPr>
        <p:spPr>
          <a:xfrm>
            <a:off x="548640" y="3511296"/>
            <a:ext cx="4937760" cy="640080"/>
          </a:xfrm>
          <a:prstGeom prst="roundRect">
            <a:avLst>
              <a:gd name="adj" fmla="val 12000"/>
            </a:avLst>
          </a:prstGeom>
          <a:solidFill>
            <a:srgbClr val="FBEEF0"/>
          </a:solidFill>
          <a:ln w="12700">
            <a:solidFill>
              <a:srgbClr val="FBEEF0"/>
            </a:solidFill>
          </a:ln>
          <a:effectLst/>
        </p:spPr>
        <p:txBody>
          <a:bodyPr rtlCol="0" anchor="ctr" wrap="square" lIns="73152" rIns="73152" tIns="27432" bIns="27432"/>
          <a:lstStyle/>
          <a:p>
            <a:pPr algn="l"/>
            <a:r>
              <a:rPr sz="1400" b="0">
                <a:solidFill>
                  <a:srgbClr val="1C2833"/>
                </a:solidFill>
                <a:latin typeface="Arial"/>
              </a:rPr>
              <a:t>real and fake content not matched</a:t>
            </a:r>
          </a:p>
        </p:txBody>
      </p:sp>
      <p:cxnSp>
        <p:nvCxnSpPr>
          <p:cNvPr id="23" name="Connector 22"/>
          <p:cNvCxnSpPr/>
          <p:nvPr/>
        </p:nvCxnSpPr>
        <p:spPr>
          <a:xfrm>
            <a:off x="5577840" y="3831336"/>
            <a:ext cx="1051560" cy="0"/>
          </a:xfrm>
          <a:prstGeom prst="line">
            <a:avLst/>
          </a:prstGeom>
          <a:ln w="22225">
            <a:solidFill>
              <a:srgbClr val="5D6D7E"/>
            </a:solidFill>
            <a:tailEnd type="triangle" w="med" len="med"/>
          </a:ln>
        </p:spPr>
      </p:cxnSp>
      <p:sp>
        <p:nvSpPr>
          <p:cNvPr id="24" name="Rounded Rectangle 23"/>
          <p:cNvSpPr/>
          <p:nvPr/>
        </p:nvSpPr>
        <p:spPr>
          <a:xfrm>
            <a:off x="6720840" y="3511296"/>
            <a:ext cx="4937760" cy="640080"/>
          </a:xfrm>
          <a:prstGeom prst="roundRect">
            <a:avLst>
              <a:gd name="adj" fmla="val 12000"/>
            </a:avLst>
          </a:prstGeom>
          <a:solidFill>
            <a:srgbClr val="F2F5F8"/>
          </a:solidFill>
          <a:ln w="12700">
            <a:solidFill>
              <a:srgbClr val="F2F5F8"/>
            </a:solidFill>
          </a:ln>
          <a:effectLst/>
        </p:spPr>
        <p:txBody>
          <a:bodyPr rtlCol="0" anchor="ctr" wrap="square" lIns="73152" rIns="73152" tIns="27432" bIns="27432"/>
          <a:lstStyle/>
          <a:p>
            <a:pPr algn="l"/>
            <a:r>
              <a:rPr sz="1400" b="0">
                <a:solidFill>
                  <a:srgbClr val="1C2833"/>
                </a:solidFill>
                <a:latin typeface="Arial"/>
              </a:rPr>
              <a:t>content-matched real / fake pairs</a:t>
            </a:r>
          </a:p>
        </p:txBody>
      </p:sp>
      <p:sp>
        <p:nvSpPr>
          <p:cNvPr id="25" name="Rounded Rectangle 24"/>
          <p:cNvSpPr/>
          <p:nvPr/>
        </p:nvSpPr>
        <p:spPr>
          <a:xfrm>
            <a:off x="548640" y="4352544"/>
            <a:ext cx="4937760" cy="640080"/>
          </a:xfrm>
          <a:prstGeom prst="roundRect">
            <a:avLst>
              <a:gd name="adj" fmla="val 12000"/>
            </a:avLst>
          </a:prstGeom>
          <a:solidFill>
            <a:srgbClr val="FBEEF0"/>
          </a:solidFill>
          <a:ln w="12700">
            <a:solidFill>
              <a:srgbClr val="FBEEF0"/>
            </a:solidFill>
          </a:ln>
          <a:effectLst/>
        </p:spPr>
        <p:txBody>
          <a:bodyPr rtlCol="0" anchor="ctr" wrap="square" lIns="73152" rIns="73152" tIns="27432" bIns="27432"/>
          <a:lstStyle/>
          <a:p>
            <a:pPr algn="l"/>
            <a:r>
              <a:rPr sz="1400" b="0">
                <a:solidFill>
                  <a:srgbClr val="1C2833"/>
                </a:solidFill>
                <a:latin typeface="Arial"/>
              </a:rPr>
              <a:t>one JPEG encoder (Pillow 4:2:0)</a:t>
            </a:r>
          </a:p>
        </p:txBody>
      </p:sp>
      <p:cxnSp>
        <p:nvCxnSpPr>
          <p:cNvPr id="26" name="Connector 25"/>
          <p:cNvCxnSpPr/>
          <p:nvPr/>
        </p:nvCxnSpPr>
        <p:spPr>
          <a:xfrm>
            <a:off x="5577840" y="4672584"/>
            <a:ext cx="1051560" cy="0"/>
          </a:xfrm>
          <a:prstGeom prst="line">
            <a:avLst/>
          </a:prstGeom>
          <a:ln w="22225">
            <a:solidFill>
              <a:srgbClr val="5D6D7E"/>
            </a:solidFill>
            <a:tailEnd type="triangle" w="med" len="med"/>
          </a:ln>
        </p:spPr>
      </p:cxnSp>
      <p:sp>
        <p:nvSpPr>
          <p:cNvPr id="27" name="Rounded Rectangle 26"/>
          <p:cNvSpPr/>
          <p:nvPr/>
        </p:nvSpPr>
        <p:spPr>
          <a:xfrm>
            <a:off x="6720840" y="4352544"/>
            <a:ext cx="4937760" cy="640080"/>
          </a:xfrm>
          <a:prstGeom prst="roundRect">
            <a:avLst>
              <a:gd name="adj" fmla="val 12000"/>
            </a:avLst>
          </a:prstGeom>
          <a:solidFill>
            <a:srgbClr val="F2F5F8"/>
          </a:solidFill>
          <a:ln w="12700">
            <a:solidFill>
              <a:srgbClr val="F2F5F8"/>
            </a:solidFill>
          </a:ln>
          <a:effectLst/>
        </p:spPr>
        <p:txBody>
          <a:bodyPr rtlCol="0" anchor="ctr" wrap="square" lIns="73152" rIns="73152" tIns="27432" bIns="27432"/>
          <a:lstStyle/>
          <a:p>
            <a:pPr algn="l"/>
            <a:r>
              <a:rPr sz="1400" b="0">
                <a:solidFill>
                  <a:srgbClr val="1C2833"/>
                </a:solidFill>
                <a:latin typeface="Arial"/>
              </a:rPr>
              <a:t>a second encoder and subsampling</a:t>
            </a:r>
          </a:p>
        </p:txBody>
      </p:sp>
      <p:sp>
        <p:nvSpPr>
          <p:cNvPr id="28" name="Rounded Rectangle 27"/>
          <p:cNvSpPr/>
          <p:nvPr/>
        </p:nvSpPr>
        <p:spPr>
          <a:xfrm>
            <a:off x="548640" y="5193792"/>
            <a:ext cx="4937760" cy="640080"/>
          </a:xfrm>
          <a:prstGeom prst="roundRect">
            <a:avLst>
              <a:gd name="adj" fmla="val 12000"/>
            </a:avLst>
          </a:prstGeom>
          <a:solidFill>
            <a:srgbClr val="FBEEF0"/>
          </a:solidFill>
          <a:ln w="12700">
            <a:solidFill>
              <a:srgbClr val="FBEEF0"/>
            </a:solidFill>
          </a:ln>
          <a:effectLst/>
        </p:spPr>
        <p:txBody>
          <a:bodyPr rtlCol="0" anchor="ctr" wrap="square" lIns="73152" rIns="73152" tIns="27432" bIns="27432"/>
          <a:lstStyle/>
          <a:p>
            <a:pPr algn="l"/>
            <a:r>
              <a:rPr sz="1400" b="0">
                <a:solidFill>
                  <a:srgbClr val="1C2833"/>
                </a:solidFill>
                <a:latin typeface="Arial"/>
              </a:rPr>
              <a:t>one dataset, one random split</a:t>
            </a:r>
          </a:p>
        </p:txBody>
      </p:sp>
      <p:cxnSp>
        <p:nvCxnSpPr>
          <p:cNvPr id="29" name="Connector 28"/>
          <p:cNvCxnSpPr/>
          <p:nvPr/>
        </p:nvCxnSpPr>
        <p:spPr>
          <a:xfrm>
            <a:off x="5577840" y="5513832"/>
            <a:ext cx="1051560" cy="0"/>
          </a:xfrm>
          <a:prstGeom prst="line">
            <a:avLst/>
          </a:prstGeom>
          <a:ln w="22225">
            <a:solidFill>
              <a:srgbClr val="5D6D7E"/>
            </a:solidFill>
            <a:tailEnd type="triangle" w="med" len="med"/>
          </a:ln>
        </p:spPr>
      </p:cxnSp>
      <p:sp>
        <p:nvSpPr>
          <p:cNvPr id="30" name="Rounded Rectangle 29"/>
          <p:cNvSpPr/>
          <p:nvPr/>
        </p:nvSpPr>
        <p:spPr>
          <a:xfrm>
            <a:off x="6720840" y="5193792"/>
            <a:ext cx="4937760" cy="640080"/>
          </a:xfrm>
          <a:prstGeom prst="roundRect">
            <a:avLst>
              <a:gd name="adj" fmla="val 12000"/>
            </a:avLst>
          </a:prstGeom>
          <a:solidFill>
            <a:srgbClr val="F2F5F8"/>
          </a:solidFill>
          <a:ln w="12700">
            <a:solidFill>
              <a:srgbClr val="F2F5F8"/>
            </a:solidFill>
          </a:ln>
          <a:effectLst/>
        </p:spPr>
        <p:txBody>
          <a:bodyPr rtlCol="0" anchor="ctr" wrap="square" lIns="73152" rIns="73152" tIns="27432" bIns="27432"/>
          <a:lstStyle/>
          <a:p>
            <a:pPr algn="l"/>
            <a:r>
              <a:rPr sz="1400" b="0">
                <a:solidFill>
                  <a:srgbClr val="1C2833"/>
                </a:solidFill>
                <a:latin typeface="Arial"/>
              </a:rPr>
              <a:t>repeated splits and a second dataset</a:t>
            </a:r>
          </a:p>
        </p:txBody>
      </p:sp>
      <p:sp>
        <p:nvSpPr>
          <p:cNvPr id="31" name="TextBox 30"/>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5D6D7E"/>
                </a:solidFill>
                <a:latin typeface="Arial"/>
              </a:rPr>
              <a:t>CSE 4883 Digital Image Processing  ·  Same score, different story</a:t>
            </a:r>
          </a:p>
        </p:txBody>
      </p:sp>
      <p:sp>
        <p:nvSpPr>
          <p:cNvPr id="32" name="TextBox 31"/>
          <p:cNvSpPr txBox="1"/>
          <p:nvPr/>
        </p:nvSpPr>
        <p:spPr>
          <a:xfrm>
            <a:off x="10362895" y="6510528"/>
            <a:ext cx="1280160" cy="237744"/>
          </a:xfrm>
          <a:prstGeom prst="rect">
            <a:avLst/>
          </a:prstGeom>
          <a:noFill/>
        </p:spPr>
        <p:txBody>
          <a:bodyPr wrap="square" lIns="0" rIns="0" tIns="0" bIns="0">
            <a:spAutoFit/>
          </a:bodyPr>
          <a:lstStyle/>
          <a:p>
            <a:pPr algn="r"/>
            <a:r>
              <a:rPr sz="1000" b="0" i="0">
                <a:solidFill>
                  <a:srgbClr val="5D6D7E"/>
                </a:solidFill>
                <a:latin typeface="Arial"/>
              </a:rPr>
              <a:t>12 / 13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12E"/>
          </a:solidFill>
          <a:ln>
            <a:noFill/>
          </a:ln>
        </p:spPr>
        <p:txBody>
          <a:bodyPr rtlCol="0" anchor="ctr"/>
          <a:lstStyle/>
          <a:p>
            <a:pPr algn="ctr"/>
          </a:p>
        </p:txBody>
      </p:sp>
      <p:sp>
        <p:nvSpPr>
          <p:cNvPr id="3" name="TextBox 2"/>
          <p:cNvSpPr txBox="1"/>
          <p:nvPr/>
        </p:nvSpPr>
        <p:spPr>
          <a:xfrm>
            <a:off x="548640" y="1463040"/>
            <a:ext cx="10972800" cy="1508760"/>
          </a:xfrm>
          <a:prstGeom prst="rect">
            <a:avLst/>
          </a:prstGeom>
          <a:noFill/>
        </p:spPr>
        <p:txBody>
          <a:bodyPr wrap="square" lIns="0" rIns="0" tIns="0" bIns="0">
            <a:spAutoFit/>
          </a:bodyPr>
          <a:lstStyle/>
          <a:p>
            <a:pPr algn="l">
              <a:lnSpc>
                <a:spcPct val="110000"/>
              </a:lnSpc>
            </a:pPr>
            <a:r>
              <a:rPr sz="3600" b="1" i="0">
                <a:solidFill>
                  <a:srgbClr val="FFFFFF"/>
                </a:solidFill>
                <a:latin typeface="Georgia"/>
              </a:rPr>
              <a:t>A pooled score cannot tell you what</a:t>
            </a:r>
          </a:p>
          <a:p>
            <a:pPr algn="l">
              <a:lnSpc>
                <a:spcPct val="110000"/>
              </a:lnSpc>
            </a:pPr>
            <a:r>
              <a:rPr sz="3600" b="1" i="0">
                <a:solidFill>
                  <a:srgbClr val="FFFFFF"/>
                </a:solidFill>
                <a:latin typeface="Georgia"/>
              </a:rPr>
              <a:t>simple features detect.</a:t>
            </a:r>
          </a:p>
        </p:txBody>
      </p:sp>
      <p:sp>
        <p:nvSpPr>
          <p:cNvPr id="4" name="TextBox 3"/>
          <p:cNvSpPr txBox="1"/>
          <p:nvPr/>
        </p:nvSpPr>
        <p:spPr>
          <a:xfrm>
            <a:off x="548640" y="3063240"/>
            <a:ext cx="10972800" cy="457200"/>
          </a:xfrm>
          <a:prstGeom prst="rect">
            <a:avLst/>
          </a:prstGeom>
          <a:noFill/>
        </p:spPr>
        <p:txBody>
          <a:bodyPr wrap="square" lIns="0" rIns="0" tIns="0" bIns="0">
            <a:spAutoFit/>
          </a:bodyPr>
          <a:lstStyle/>
          <a:p>
            <a:pPr algn="l"/>
            <a:r>
              <a:rPr sz="2000" b="0" i="0">
                <a:solidFill>
                  <a:srgbClr val="ABB7C4"/>
                </a:solidFill>
                <a:latin typeface="Arial"/>
              </a:rPr>
              <a:t>Report resampling history, and report per generator.</a:t>
            </a:r>
          </a:p>
        </p:txBody>
      </p:sp>
      <p:sp>
        <p:nvSpPr>
          <p:cNvPr id="5" name="TextBox 4"/>
          <p:cNvSpPr txBox="1"/>
          <p:nvPr/>
        </p:nvSpPr>
        <p:spPr>
          <a:xfrm>
            <a:off x="548640" y="4069080"/>
            <a:ext cx="10515600" cy="914400"/>
          </a:xfrm>
          <a:prstGeom prst="rect">
            <a:avLst/>
          </a:prstGeom>
          <a:noFill/>
        </p:spPr>
        <p:txBody>
          <a:bodyPr wrap="square" lIns="0" rIns="0" tIns="0" bIns="0">
            <a:spAutoFit/>
          </a:bodyPr>
          <a:lstStyle/>
          <a:p>
            <a:pPr algn="l">
              <a:lnSpc>
                <a:spcPct val="130000"/>
              </a:lnSpc>
            </a:pPr>
            <a:r>
              <a:rPr sz="1600" b="0">
                <a:solidFill>
                  <a:srgbClr val="ABB7C4"/>
                </a:solidFill>
                <a:latin typeface="Arial"/>
              </a:rPr>
              <a:t>Combined features scored best pooled (</a:t>
            </a:r>
            <a:r>
              <a:rPr sz="1600" b="1">
                <a:solidFill>
                  <a:srgbClr val="FFFFFF"/>
                </a:solidFill>
                <a:latin typeface="Arial"/>
              </a:rPr>
              <a:t>0.793</a:t>
            </a:r>
            <a:r>
              <a:rPr sz="1600" b="0">
                <a:solidFill>
                  <a:srgbClr val="ABB7C4"/>
                </a:solidFill>
                <a:latin typeface="Arial"/>
              </a:rPr>
              <a:t>; </a:t>
            </a:r>
            <a:r>
              <a:rPr sz="1600" b="1">
                <a:solidFill>
                  <a:srgbClr val="FFFFFF"/>
                </a:solidFill>
                <a:latin typeface="Arial"/>
              </a:rPr>
              <a:t>0.629</a:t>
            </a:r>
            <a:r>
              <a:rPr sz="1600" b="0">
                <a:solidFill>
                  <a:srgbClr val="ABB7C4"/>
                </a:solidFill>
                <a:latin typeface="Arial"/>
              </a:rPr>
              <a:t> on an unseen generator under JPEG 75), yet the same pooled score hid per-generator changes of </a:t>
            </a:r>
            <a:r>
              <a:rPr sz="1600" b="1">
                <a:solidFill>
                  <a:srgbClr val="FFFFFF"/>
                </a:solidFill>
                <a:latin typeface="Arial"/>
              </a:rPr>
              <a:t>−0.17 to +0.30</a:t>
            </a:r>
            <a:r>
              <a:rPr sz="1600" b="0">
                <a:solidFill>
                  <a:srgbClr val="ABB7C4"/>
                </a:solidFill>
                <a:latin typeface="Arial"/>
              </a:rPr>
              <a:t>.</a:t>
            </a:r>
          </a:p>
        </p:txBody>
      </p:sp>
      <p:sp>
        <p:nvSpPr>
          <p:cNvPr id="6" name="TextBox 5"/>
          <p:cNvSpPr txBox="1"/>
          <p:nvPr/>
        </p:nvSpPr>
        <p:spPr>
          <a:xfrm>
            <a:off x="548640" y="5669280"/>
            <a:ext cx="10972800" cy="365760"/>
          </a:xfrm>
          <a:prstGeom prst="rect">
            <a:avLst/>
          </a:prstGeom>
          <a:noFill/>
        </p:spPr>
        <p:txBody>
          <a:bodyPr wrap="square" lIns="0" rIns="0" tIns="0" bIns="0">
            <a:spAutoFit/>
          </a:bodyPr>
          <a:lstStyle/>
          <a:p>
            <a:pPr algn="l"/>
            <a:r>
              <a:rPr sz="1800" b="1" i="0">
                <a:solidFill>
                  <a:srgbClr val="FFFFFF"/>
                </a:solidFill>
                <a:latin typeface="Georgia"/>
              </a:rPr>
              <a:t>Thank you  ·  questions?</a:t>
            </a:r>
          </a:p>
        </p:txBody>
      </p:sp>
      <p:sp>
        <p:nvSpPr>
          <p:cNvPr id="7" name="TextBox 6"/>
          <p:cNvSpPr txBox="1"/>
          <p:nvPr/>
        </p:nvSpPr>
        <p:spPr>
          <a:xfrm>
            <a:off x="548640" y="6510528"/>
            <a:ext cx="8229600" cy="237744"/>
          </a:xfrm>
          <a:prstGeom prst="rect">
            <a:avLst/>
          </a:prstGeom>
          <a:noFill/>
        </p:spPr>
        <p:txBody>
          <a:bodyPr wrap="square" lIns="0" rIns="0" tIns="0" bIns="0">
            <a:spAutoFit/>
          </a:bodyPr>
          <a:lstStyle/>
          <a:p>
            <a:pPr algn="l"/>
            <a:r>
              <a:rPr sz="1000" b="0" i="0">
                <a:solidFill>
                  <a:srgbClr val="ABB7C4"/>
                </a:solidFill>
                <a:latin typeface="Arial"/>
              </a:rPr>
              <a:t>CSE 4883 Digital Image Processing  ·  Same score, different story</a:t>
            </a:r>
          </a:p>
        </p:txBody>
      </p:sp>
      <p:sp>
        <p:nvSpPr>
          <p:cNvPr id="8" name="TextBox 7"/>
          <p:cNvSpPr txBox="1"/>
          <p:nvPr/>
        </p:nvSpPr>
        <p:spPr>
          <a:xfrm>
            <a:off x="10362895" y="6510528"/>
            <a:ext cx="1280160" cy="237744"/>
          </a:xfrm>
          <a:prstGeom prst="rect">
            <a:avLst/>
          </a:prstGeom>
          <a:noFill/>
        </p:spPr>
        <p:txBody>
          <a:bodyPr wrap="square" lIns="0" rIns="0" tIns="0" bIns="0">
            <a:spAutoFit/>
          </a:bodyPr>
          <a:lstStyle/>
          <a:p>
            <a:pPr algn="r"/>
            <a:r>
              <a:rPr sz="1000" b="0" i="0">
                <a:solidFill>
                  <a:srgbClr val="ABB7C4"/>
                </a:solidFill>
                <a:latin typeface="Arial"/>
              </a:rPr>
              <a:t>13 / 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