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9" r:id="rId11"/>
    <p:sldId id="261" r:id="rId13"/>
    <p:sldId id="262" r:id="rId14"/>
    <p:sldId id="263" r:id="rId15"/>
    <p:sldId id="264" r:id="rId16"/>
    <p:sldId id="266" r:id="rId18"/>
    <p:sldId id="267" r:id="rId19"/>
    <p:sldId id="268" r:id="rId20"/>
    <p:sldId id="269" r:id="rId21"/>
    <p:sldId id="258" r:id="rId10"/>
    <p:sldId id="260" r:id="rId12"/>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(10 s). We studied what simple spatial and frequency features measure when they separate real photographs from generated images. Our theme is: same score, different 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(45 s). Our sample contains three thousand GenImage images: half real, half generated by BigGAN, Stable Diffusion or ADM. Real images arrive as JPEGs of different sizes; generated images arrive as fixed-size PNGs. Original format and size alone separate the classes perfectly. We standardised both classes to 256 by 256 pixels, but that enlarges BigGAN twice and reduces other images. Equal output size does not erase processing history. We therefore compare seven spatial features, seven frequency features, and all fourteen together under JPEG compression and generator shift.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Compare spatial, frequency and combined features under matched JPEG and generator holdout.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(55 s). Our contribution is a feature-level audit. We connect image processing operations to individual statistics, generator-specific scores, and actual classification decisions. The planned study tests matched JPEG and an unseen generator. Later diagnostics examine a shared resampling operation and clean-model JPEG transfer. Those diagnostics are exploratory. BigGAN pixels are identical between the two resampling conditions, while the real-image comparison changes. However, crop and training data also change, so this is not a pure causal test of resizing. Member two will explain the pipeline and planned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Exploratory D1: pooled combined change +0.006 has a confidence interval spanning zero. Generator-specific changes accompany crop, reference-data and fitted-model changes. These results do not isolate a pure resampling effect.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(25 s). The pipeline was fixed before processing. We check duplicates and image validity, then split by image group, so variants of an image cannot leak across train and test. All planned experiments share six hundred test images. Processing is applied equally to both classes, and confidence intervals use group bootstrap resampling.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(30 s). Spatial features measure brightness statistics, Sobel gradients, Laplacian variation and high-pass residuals. Frequency features measure power in different bands, spectral slope, directionality and peaks. Each feature set uses the same logistic-regression recipe. Standardisation is fitted on training data; model selection and the decision threshold use validation data only. AUROC measures ranking, with one half representing chance.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(25 s). E1 checks the baseline. E2 deliberately mismatches compression as a shortcut control. E3 applies the same JPEG quality to both classes and refits the model at each quality. E4 holds Stable Diffusion out of training; E5 combines that holdout with JPEG quality 75. R is a later crop-and-resampling diagnostic, separate from those planned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(30 s). Combined features have the best pooled scores. The baseline is 0.793, but on unseen Stable Diffusion under JPEG 75 it is only 0.629, with a confidence interval from 0.571 to 0.690. Frequency alone is 0.568 and spatial alone is 0.465. Combining them helps, yet the pooled score hides near-perfect BigGAN results and weaker diffusion results. Member three will explain why that distinction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Mean spectra show a BigGAN high-band deficit under the original pipeline and closer generator curves under R. R shares a final crop-and-enlargement operation, while prior history and content remain unmatched. Do not attribute all differences to resizing alone.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(40 s). The exploratory diagnostic compares the same 599 test images under the original processing and a native crop followed by shared enlargement. Pooled combined AUROC changes only from 0.796 to 0.802. But BigGAN frequency AUROC falls from nearly one to 0.828, and unseen Stable Diffusion spatial AUROC rises from 0.477 to 0.771. BigGAN images themselves are unchanged. These changes show sensitivity to the processing and reference data; crop and retraining prevent us from attributing everything to resampling alone.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(35 s). There is a second warning. In the original pipeline frequency beats spatial features; under the diagnostic that statistically supported advantage disappears. The interval does not establish spatial superiority. JPEG also affects decisions even when ranking changes little. With the clean model and threshold fixed, spatial false positives rise from 98 to 157 out of 300 real images at quality 50. Similar AUROC therefore does not guarantee similar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(25 s). Our limits are one dataset and split, three generators, one held-out family and one JPEG encoder. Real and generated content is not matched. The resampling diagnostic is post-hoc and changes the crop. The next useful experiment would hold field of view fixed while comparing processing, followed by rotating the held-out generator. These are future tests, not completed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(10 s). Our conclusion: simple features separate these samples, but their interpretation depends on processing history. Report results per generator and check decisions as well as pooled scores.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p:spPr>
        <p:txBody>
          <a:bodyPr rtlCol="0" anchor="ctr"/>
          <a:lstStyle/>
          <a:p>
            <a:pPr algn="ctr"/>
          </a:p>
        </p:txBody>
      </p:sp>
      <p:sp>
        <p:nvSpPr>
          <p:cNvPr id="3" name="TextBox 2"/>
          <p:cNvSpPr txBox="1"/>
          <p:nvPr/>
        </p:nvSpPr>
        <p:spPr>
          <a:xfrm>
            <a:off x="548640" y="1463040"/>
            <a:ext cx="10972800" cy="914400"/>
          </a:xfrm>
          <a:prstGeom prst="rect">
            <a:avLst/>
          </a:prstGeom>
          <a:noFill/>
        </p:spPr>
        <p:txBody>
          <a:bodyPr wrap="square" lIns="0" rIns="0" tIns="0" bIns="0">
            <a:spAutoFit/>
          </a:bodyPr>
          <a:lstStyle/>
          <a:p>
            <a:pPr algn="l"/>
            <a:r>
              <a:rPr sz="4800" b="1" i="0">
                <a:solidFill>
                  <a:srgbClr val="FFFFFF"/>
                </a:solidFill>
                <a:latin typeface="Georgia"/>
              </a:rPr>
              <a:t>Same score, different story</a:t>
            </a:r>
          </a:p>
        </p:txBody>
      </p:sp>
      <p:sp>
        <p:nvSpPr>
          <p:cNvPr id="4" name="TextBox 3"/>
          <p:cNvSpPr txBox="1"/>
          <p:nvPr/>
        </p:nvSpPr>
        <p:spPr>
          <a:xfrm>
            <a:off x="548640" y="2514600"/>
            <a:ext cx="10972800" cy="1005840"/>
          </a:xfrm>
          <a:prstGeom prst="rect">
            <a:avLst/>
          </a:prstGeom>
          <a:noFill/>
        </p:spPr>
        <p:txBody>
          <a:bodyPr wrap="square" lIns="0" rIns="0" tIns="0" bIns="0">
            <a:spAutoFit/>
          </a:bodyPr>
          <a:lstStyle/>
          <a:p>
            <a:pPr algn="l">
              <a:lnSpc>
                <a:spcPct val="110000"/>
              </a:lnSpc>
            </a:pPr>
            <a:r>
              <a:rPr sz="2200" b="0" i="0">
                <a:solidFill>
                  <a:srgbClr val="ABB7C4"/>
                </a:solidFill>
                <a:latin typeface="Arial"/>
              </a:rPr>
              <a:t>How resampling history shapes what spatial-frequency features</a:t>
            </a:r>
          </a:p>
          <a:p>
            <a:pPr algn="l">
              <a:lnSpc>
                <a:spcPct val="110000"/>
              </a:lnSpc>
            </a:pPr>
            <a:r>
              <a:rPr sz="2200" b="0" i="0">
                <a:solidFill>
                  <a:srgbClr val="ABB7C4"/>
                </a:solidFill>
                <a:latin typeface="Arial"/>
              </a:rPr>
              <a:t>detect in AI-generated images</a:t>
            </a:r>
          </a:p>
        </p:txBody>
      </p:sp>
      <p:sp>
        <p:nvSpPr>
          <p:cNvPr id="5" name="TextBox 4"/>
          <p:cNvSpPr txBox="1"/>
          <p:nvPr/>
        </p:nvSpPr>
        <p:spPr>
          <a:xfrm>
            <a:off x="548640" y="4892040"/>
            <a:ext cx="10972800" cy="1097280"/>
          </a:xfrm>
          <a:prstGeom prst="rect">
            <a:avLst/>
          </a:prstGeom>
          <a:noFill/>
        </p:spPr>
        <p:txBody>
          <a:bodyPr wrap="square" lIns="0" rIns="0" tIns="0" bIns="0">
            <a:spAutoFit/>
          </a:bodyPr>
          <a:lstStyle/>
          <a:p>
            <a:pPr algn="l">
              <a:lnSpc>
                <a:spcPct val="135000"/>
              </a:lnSpc>
            </a:pPr>
            <a:r>
              <a:rPr sz="1500" b="0" i="0">
                <a:solidFill>
                  <a:srgbClr val="ABB7C4"/>
                </a:solidFill>
                <a:latin typeface="Arial"/>
              </a:rPr>
              <a:t>CSE 4883 Digital Image Processing  ·  final presentation</a:t>
            </a:r>
          </a:p>
          <a:p>
            <a:pPr algn="l">
              <a:lnSpc>
                <a:spcPct val="135000"/>
              </a:lnSpc>
            </a:pPr>
            <a:r>
              <a:rPr sz="1500" b="0" i="0">
                <a:solidFill>
                  <a:srgbClr val="ABB7C4"/>
                </a:solidFill>
                <a:latin typeface="Arial"/>
              </a:rPr>
              <a:t>Member 1  ·  Member 2  ·  Member 3</a:t>
            </a:r>
          </a:p>
        </p:txBody>
      </p:sp>
      <p:sp>
        <p:nvSpPr>
          <p:cNvPr id="6" name="TextBox 5"/>
          <p:cNvSpPr txBox="1"/>
          <p:nvPr/>
        </p:nvSpPr>
        <p:spPr>
          <a:xfrm>
            <a:off x="548640" y="5989320"/>
            <a:ext cx="10972800" cy="365760"/>
          </a:xfrm>
          <a:prstGeom prst="rect">
            <a:avLst/>
          </a:prstGeom>
          <a:noFill/>
        </p:spPr>
        <p:txBody>
          <a:bodyPr wrap="square" lIns="0" rIns="0" tIns="0" bIns="0">
            <a:spAutoFit/>
          </a:bodyPr>
          <a:lstStyle/>
          <a:p>
            <a:pPr algn="l"/>
            <a:r>
              <a:rPr sz="1100" b="0" i="0">
                <a:solidFill>
                  <a:srgbClr val="ABB7C4"/>
                </a:solidFill>
                <a:latin typeface="Arial"/>
              </a:rPr>
              <a:t>Introduction   ·   Novelty   ·   Methodology   ·   Experiments   ·   Results   ·   Limitations   ·   Future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1" i="0">
                <a:solidFill>
                  <a:srgbClr val="B2182B"/>
                </a:solidFill>
                <a:latin typeface="Arial"/>
              </a:rPr>
              <a:t>INTRODUCTION</a:t>
            </a:r>
          </a:p>
        </p:txBody>
      </p:sp>
      <p:sp>
        <p:nvSpPr>
          <p:cNvPr id="3" name="Rectangle 2"/>
          <p:cNvSpPr/>
          <p:nvPr/>
        </p:nvSpPr>
        <p:spPr>
          <a:xfrm>
            <a:off x="777240" y="548640"/>
            <a:ext cx="1127716" cy="28575"/>
          </a:xfrm>
          <a:prstGeom prst="rect">
            <a:avLst/>
          </a:prstGeom>
          <a:solidFill>
            <a:srgbClr val="B2182B"/>
          </a:solidFill>
          <a:ln>
            <a:noFill/>
          </a:ln>
        </p:spPr>
        <p:txBody>
          <a:bodyPr rtlCol="0" anchor="ctr"/>
          <a:lstStyle/>
          <a:p>
            <a:pPr algn="ctr"/>
          </a:p>
        </p:txBody>
      </p:sp>
      <p:sp>
        <p:nvSpPr>
          <p:cNvPr id="4" name="TextBox 3"/>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5" name="TextBox 4"/>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Real and fake images arrive differently</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1</a:t>
            </a:r>
          </a:p>
        </p:txBody>
      </p:sp>
      <p:pic>
        <p:nvPicPr>
          <p:cNvPr id="13" name="Picture 12" descr="classes_at_native_scale.png"/>
          <p:cNvPicPr>
            <a:picLocks noChangeAspect="1"/>
          </p:cNvPicPr>
          <p:nvPr/>
        </p:nvPicPr>
        <p:blipFill>
          <a:blip r:embed="rId2"/>
          <a:stretch>
            <a:fillRect/>
          </a:stretch>
        </p:blipFill>
        <p:spPr>
          <a:xfrm>
            <a:off x="1097280" y="1391827"/>
            <a:ext cx="9997135" cy="4120065"/>
          </a:xfrm>
          <a:prstGeom prst="rect">
            <a:avLst/>
          </a:prstGeom>
          <a:ln w="9525">
            <a:solidFill>
              <a:srgbClr val="D5DBDB"/>
            </a:solidFill>
          </a:ln>
        </p:spPr>
      </p:pic>
      <p:sp>
        <p:nvSpPr>
          <p:cNvPr id="14" name="TextBox 13"/>
          <p:cNvSpPr txBox="1"/>
          <p:nvPr/>
        </p:nvSpPr>
        <p:spPr>
          <a:xfrm>
            <a:off x="548640" y="5669280"/>
            <a:ext cx="11094415" cy="731520"/>
          </a:xfrm>
          <a:prstGeom prst="rect">
            <a:avLst/>
          </a:prstGeom>
          <a:noFill/>
        </p:spPr>
        <p:txBody>
          <a:bodyPr wrap="square" lIns="0" rIns="0" tIns="0" bIns="0">
            <a:spAutoFit/>
          </a:bodyPr>
          <a:lstStyle/>
          <a:p>
            <a:pPr algn="ctr">
              <a:lnSpc>
                <a:spcPct val="120000"/>
              </a:lnSpc>
            </a:pPr>
            <a:r>
              <a:rPr sz="1700" b="0">
                <a:solidFill>
                  <a:srgbClr val="1C2833"/>
                </a:solidFill>
                <a:latin typeface="Arial"/>
              </a:rPr>
              <a:t>File format and size alone separate the classes (AUROC </a:t>
            </a:r>
            <a:r>
              <a:rPr sz="1700" b="1">
                <a:solidFill>
                  <a:srgbClr val="B2182B"/>
                </a:solidFill>
                <a:latin typeface="Arial"/>
              </a:rPr>
              <a:t>1.000</a:t>
            </a:r>
            <a:r>
              <a:rPr sz="1700" b="0">
                <a:solidFill>
                  <a:srgbClr val="1C2833"/>
                </a:solidFill>
                <a:latin typeface="Arial"/>
              </a:rPr>
              <a:t>). A fair pipeline gives every image 256 × 256 px, but </a:t>
            </a:r>
            <a:r>
              <a:rPr sz="1700" b="1">
                <a:solidFill>
                  <a:srgbClr val="B2182B"/>
                </a:solidFill>
                <a:latin typeface="Arial"/>
              </a:rPr>
              <a:t>each class is resized by a different factor.</a:t>
            </a:r>
          </a:p>
        </p:txBody>
      </p:sp>
      <p:sp>
        <p:nvSpPr>
          <p:cNvPr id="15" name="TextBox 1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16" name="TextBox 15"/>
          <p:cNvSpPr txBox="1"/>
          <p:nvPr/>
        </p:nvSpPr>
        <p:spPr>
          <a:xfrm>
            <a:off x="10362895" y="6510528"/>
            <a:ext cx="1280160" cy="237744"/>
          </a:xfrm>
          <a:prstGeom prst="rect">
            <a:avLst/>
          </a:prstGeom>
          <a:noFill/>
        </p:spPr>
        <p:txBody>
          <a:bodyPr wrap="square" lIns="0" rIns="0" tIns="0" bIns="0">
            <a:spAutoFit/>
          </a:bodyPr>
          <a:lstStyle/>
          <a:p>
            <a:r>
              <a:t>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1" i="0">
                <a:solidFill>
                  <a:srgbClr val="B2182B"/>
                </a:solidFill>
                <a:latin typeface="Arial"/>
              </a:rPr>
              <a:t>INTRODUCTION</a:t>
            </a:r>
          </a:p>
        </p:txBody>
      </p:sp>
      <p:sp>
        <p:nvSpPr>
          <p:cNvPr id="3" name="Rectangle 2"/>
          <p:cNvSpPr/>
          <p:nvPr/>
        </p:nvSpPr>
        <p:spPr>
          <a:xfrm>
            <a:off x="777240" y="548640"/>
            <a:ext cx="1127716" cy="28575"/>
          </a:xfrm>
          <a:prstGeom prst="rect">
            <a:avLst/>
          </a:prstGeom>
          <a:solidFill>
            <a:srgbClr val="B2182B"/>
          </a:solidFill>
          <a:ln>
            <a:noFill/>
          </a:ln>
        </p:spPr>
        <p:txBody>
          <a:bodyPr rtlCol="0" anchor="ctr"/>
          <a:lstStyle/>
          <a:p>
            <a:pPr algn="ctr"/>
          </a:p>
        </p:txBody>
      </p:sp>
      <p:sp>
        <p:nvSpPr>
          <p:cNvPr id="4" name="TextBox 3"/>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5" name="TextBox 4"/>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Our research question</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1</a:t>
            </a:r>
          </a:p>
        </p:txBody>
      </p:sp>
      <p:sp>
        <p:nvSpPr>
          <p:cNvPr id="13" name="Rounded Rectangle 12"/>
          <p:cNvSpPr/>
          <p:nvPr/>
        </p:nvSpPr>
        <p:spPr>
          <a:xfrm>
            <a:off x="2011680" y="1463040"/>
            <a:ext cx="8138160" cy="8686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ctr"/>
            <a:r>
              <a:rPr sz="1800" b="1">
                <a:solidFill>
                  <a:srgbClr val="1F3A5F"/>
                </a:solidFill>
                <a:latin typeface="Arial"/>
              </a:rPr>
              <a:t>Which simple feature set separates real from AI-generated images best?</a:t>
            </a:r>
          </a:p>
          <a:p>
            <a:pPr algn="ctr"/>
            <a:r>
              <a:rPr sz="1300" b="0">
                <a:solidFill>
                  <a:srgbClr val="5D6D7E"/>
                </a:solidFill>
                <a:latin typeface="Arial"/>
              </a:rPr>
              <a:t>same processing for both classes  ·  strict split by image group</a:t>
            </a:r>
          </a:p>
        </p:txBody>
      </p:sp>
      <p:cxnSp>
        <p:nvCxnSpPr>
          <p:cNvPr id="14" name="Connector 13"/>
          <p:cNvCxnSpPr/>
          <p:nvPr/>
        </p:nvCxnSpPr>
        <p:spPr>
          <a:xfrm flipH="1">
            <a:off x="2606040" y="2331720"/>
            <a:ext cx="3474720" cy="457200"/>
          </a:xfrm>
          <a:prstGeom prst="line">
            <a:avLst/>
          </a:prstGeom>
          <a:ln w="22225">
            <a:solidFill>
              <a:srgbClr val="5D6D7E"/>
            </a:solidFill>
            <a:tailEnd type="triangle" w="med" len="med"/>
          </a:ln>
        </p:spPr>
      </p:cxnSp>
      <p:sp>
        <p:nvSpPr>
          <p:cNvPr id="15" name="Rounded Rectangle 14"/>
          <p:cNvSpPr/>
          <p:nvPr/>
        </p:nvSpPr>
        <p:spPr>
          <a:xfrm>
            <a:off x="1280160" y="2834640"/>
            <a:ext cx="2651760" cy="822960"/>
          </a:xfrm>
          <a:prstGeom prst="roundRect">
            <a:avLst>
              <a:gd name="adj" fmla="val 12000"/>
            </a:avLst>
          </a:prstGeom>
          <a:solidFill>
            <a:srgbClr val="FFFFFF"/>
          </a:solidFill>
          <a:ln w="25400">
            <a:solidFill>
              <a:srgbClr val="2A78D6"/>
            </a:solidFill>
          </a:ln>
          <a:effectLst/>
        </p:spPr>
        <p:txBody>
          <a:bodyPr rtlCol="0" anchor="ctr" wrap="square" lIns="73152" rIns="73152" tIns="27432" bIns="27432"/>
          <a:lstStyle/>
          <a:p>
            <a:pPr algn="ctr"/>
            <a:r>
              <a:rPr sz="1700" b="1">
                <a:solidFill>
                  <a:srgbClr val="1F63B8"/>
                </a:solidFill>
                <a:latin typeface="Arial"/>
              </a:rPr>
              <a:t>Pixel-pattern</a:t>
            </a:r>
          </a:p>
          <a:p>
            <a:pPr algn="ctr"/>
            <a:r>
              <a:rPr sz="1300" b="0">
                <a:solidFill>
                  <a:srgbClr val="5D6D7E"/>
                </a:solidFill>
                <a:latin typeface="Arial"/>
              </a:rPr>
              <a:t>7 features</a:t>
            </a:r>
          </a:p>
        </p:txBody>
      </p:sp>
      <p:cxnSp>
        <p:nvCxnSpPr>
          <p:cNvPr id="16" name="Connector 15"/>
          <p:cNvCxnSpPr/>
          <p:nvPr/>
        </p:nvCxnSpPr>
        <p:spPr>
          <a:xfrm>
            <a:off x="2606040" y="3657600"/>
            <a:ext cx="3474720" cy="411480"/>
          </a:xfrm>
          <a:prstGeom prst="line">
            <a:avLst/>
          </a:prstGeom>
          <a:ln w="22225">
            <a:solidFill>
              <a:srgbClr val="5D6D7E"/>
            </a:solidFill>
            <a:tailEnd type="triangle" w="med" len="med"/>
          </a:ln>
        </p:spPr>
      </p:cxnSp>
      <p:cxnSp>
        <p:nvCxnSpPr>
          <p:cNvPr id="17" name="Connector 16"/>
          <p:cNvCxnSpPr/>
          <p:nvPr/>
        </p:nvCxnSpPr>
        <p:spPr>
          <a:xfrm>
            <a:off x="6080760" y="2331720"/>
            <a:ext cx="0" cy="457200"/>
          </a:xfrm>
          <a:prstGeom prst="line">
            <a:avLst/>
          </a:prstGeom>
          <a:ln w="22225">
            <a:solidFill>
              <a:srgbClr val="5D6D7E"/>
            </a:solidFill>
            <a:tailEnd type="triangle" w="med" len="med"/>
          </a:ln>
        </p:spPr>
      </p:cxnSp>
      <p:sp>
        <p:nvSpPr>
          <p:cNvPr id="18" name="Rounded Rectangle 17"/>
          <p:cNvSpPr/>
          <p:nvPr/>
        </p:nvSpPr>
        <p:spPr>
          <a:xfrm>
            <a:off x="4754880" y="2834640"/>
            <a:ext cx="2651760" cy="822960"/>
          </a:xfrm>
          <a:prstGeom prst="roundRect">
            <a:avLst>
              <a:gd name="adj" fmla="val 12000"/>
            </a:avLst>
          </a:prstGeom>
          <a:solidFill>
            <a:srgbClr val="FFFFFF"/>
          </a:solidFill>
          <a:ln w="25400">
            <a:solidFill>
              <a:srgbClr val="EB6834"/>
            </a:solidFill>
          </a:ln>
          <a:effectLst/>
        </p:spPr>
        <p:txBody>
          <a:bodyPr rtlCol="0" anchor="ctr" wrap="square" lIns="73152" rIns="73152" tIns="27432" bIns="27432"/>
          <a:lstStyle/>
          <a:p>
            <a:pPr algn="ctr"/>
            <a:r>
              <a:rPr sz="1700" b="1">
                <a:solidFill>
                  <a:srgbClr val="B54819"/>
                </a:solidFill>
                <a:latin typeface="Arial"/>
              </a:rPr>
              <a:t>Frequency</a:t>
            </a:r>
          </a:p>
          <a:p>
            <a:pPr algn="ctr"/>
            <a:r>
              <a:rPr sz="1300" b="0">
                <a:solidFill>
                  <a:srgbClr val="5D6D7E"/>
                </a:solidFill>
                <a:latin typeface="Arial"/>
              </a:rPr>
              <a:t>7 features</a:t>
            </a:r>
          </a:p>
        </p:txBody>
      </p:sp>
      <p:cxnSp>
        <p:nvCxnSpPr>
          <p:cNvPr id="19" name="Connector 18"/>
          <p:cNvCxnSpPr/>
          <p:nvPr/>
        </p:nvCxnSpPr>
        <p:spPr>
          <a:xfrm>
            <a:off x="6080760" y="3657600"/>
            <a:ext cx="0" cy="411480"/>
          </a:xfrm>
          <a:prstGeom prst="line">
            <a:avLst/>
          </a:prstGeom>
          <a:ln w="22225">
            <a:solidFill>
              <a:srgbClr val="5D6D7E"/>
            </a:solidFill>
            <a:tailEnd type="triangle" w="med" len="med"/>
          </a:ln>
        </p:spPr>
      </p:cxnSp>
      <p:cxnSp>
        <p:nvCxnSpPr>
          <p:cNvPr id="20" name="Connector 19"/>
          <p:cNvCxnSpPr/>
          <p:nvPr/>
        </p:nvCxnSpPr>
        <p:spPr>
          <a:xfrm>
            <a:off x="6080760" y="2331720"/>
            <a:ext cx="3474720" cy="457200"/>
          </a:xfrm>
          <a:prstGeom prst="line">
            <a:avLst/>
          </a:prstGeom>
          <a:ln w="22225">
            <a:solidFill>
              <a:srgbClr val="5D6D7E"/>
            </a:solidFill>
            <a:tailEnd type="triangle" w="med" len="med"/>
          </a:ln>
        </p:spPr>
      </p:cxnSp>
      <p:sp>
        <p:nvSpPr>
          <p:cNvPr id="21" name="Rounded Rectangle 20"/>
          <p:cNvSpPr/>
          <p:nvPr/>
        </p:nvSpPr>
        <p:spPr>
          <a:xfrm>
            <a:off x="8229600" y="2834640"/>
            <a:ext cx="2651760" cy="822960"/>
          </a:xfrm>
          <a:prstGeom prst="roundRect">
            <a:avLst>
              <a:gd name="adj" fmla="val 12000"/>
            </a:avLst>
          </a:prstGeom>
          <a:solidFill>
            <a:srgbClr val="FFFFFF"/>
          </a:solidFill>
          <a:ln w="25400">
            <a:solidFill>
              <a:srgbClr val="1BAF7A"/>
            </a:solidFill>
          </a:ln>
          <a:effectLst/>
        </p:spPr>
        <p:txBody>
          <a:bodyPr rtlCol="0" anchor="ctr" wrap="square" lIns="73152" rIns="73152" tIns="27432" bIns="27432"/>
          <a:lstStyle/>
          <a:p>
            <a:pPr algn="ctr"/>
            <a:r>
              <a:rPr sz="1700" b="1">
                <a:solidFill>
                  <a:srgbClr val="0E7A53"/>
                </a:solidFill>
                <a:latin typeface="Arial"/>
              </a:rPr>
              <a:t>Combined</a:t>
            </a:r>
          </a:p>
          <a:p>
            <a:pPr algn="ctr"/>
            <a:r>
              <a:rPr sz="1300" b="0">
                <a:solidFill>
                  <a:srgbClr val="5D6D7E"/>
                </a:solidFill>
                <a:latin typeface="Arial"/>
              </a:rPr>
              <a:t>14 features</a:t>
            </a:r>
          </a:p>
        </p:txBody>
      </p:sp>
      <p:cxnSp>
        <p:nvCxnSpPr>
          <p:cNvPr id="22" name="Connector 21"/>
          <p:cNvCxnSpPr/>
          <p:nvPr/>
        </p:nvCxnSpPr>
        <p:spPr>
          <a:xfrm flipH="1">
            <a:off x="6080760" y="3657600"/>
            <a:ext cx="3474720" cy="411480"/>
          </a:xfrm>
          <a:prstGeom prst="line">
            <a:avLst/>
          </a:prstGeom>
          <a:ln w="22225">
            <a:solidFill>
              <a:srgbClr val="5D6D7E"/>
            </a:solidFill>
            <a:tailEnd type="triangle" w="med" len="med"/>
          </a:ln>
        </p:spPr>
      </p:cxnSp>
      <p:sp>
        <p:nvSpPr>
          <p:cNvPr id="23" name="Rounded Rectangle 22"/>
          <p:cNvSpPr/>
          <p:nvPr/>
        </p:nvSpPr>
        <p:spPr>
          <a:xfrm>
            <a:off x="4023360" y="4114800"/>
            <a:ext cx="4114800" cy="566928"/>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ctr"/>
            <a:r>
              <a:rPr sz="1400" b="1">
                <a:solidFill>
                  <a:srgbClr val="1C2833"/>
                </a:solidFill>
                <a:latin typeface="Arial"/>
              </a:rPr>
              <a:t>one simple classifier for all three</a:t>
            </a:r>
          </a:p>
        </p:txBody>
      </p:sp>
      <p:cxnSp>
        <p:nvCxnSpPr>
          <p:cNvPr id="24" name="Connector 23"/>
          <p:cNvCxnSpPr/>
          <p:nvPr/>
        </p:nvCxnSpPr>
        <p:spPr>
          <a:xfrm flipH="1">
            <a:off x="3291840" y="4681728"/>
            <a:ext cx="1828800" cy="438912"/>
          </a:xfrm>
          <a:prstGeom prst="line">
            <a:avLst/>
          </a:prstGeom>
          <a:ln w="22225">
            <a:solidFill>
              <a:srgbClr val="5D6D7E"/>
            </a:solidFill>
            <a:tailEnd type="triangle" w="med" len="med"/>
          </a:ln>
        </p:spPr>
      </p:cxnSp>
      <p:cxnSp>
        <p:nvCxnSpPr>
          <p:cNvPr id="25" name="Connector 24"/>
          <p:cNvCxnSpPr/>
          <p:nvPr/>
        </p:nvCxnSpPr>
        <p:spPr>
          <a:xfrm>
            <a:off x="7040880" y="4681728"/>
            <a:ext cx="1828800" cy="438912"/>
          </a:xfrm>
          <a:prstGeom prst="line">
            <a:avLst/>
          </a:prstGeom>
          <a:ln w="22225">
            <a:solidFill>
              <a:srgbClr val="5D6D7E"/>
            </a:solidFill>
            <a:tailEnd type="triangle" w="med" len="med"/>
          </a:ln>
        </p:spPr>
      </p:cxnSp>
      <p:sp>
        <p:nvSpPr>
          <p:cNvPr id="26" name="Rounded Rectangle 25"/>
          <p:cNvSpPr/>
          <p:nvPr/>
        </p:nvSpPr>
        <p:spPr>
          <a:xfrm>
            <a:off x="1280160" y="5138928"/>
            <a:ext cx="4023360" cy="822960"/>
          </a:xfrm>
          <a:prstGeom prst="roundRect">
            <a:avLst>
              <a:gd name="adj" fmla="val 12000"/>
            </a:avLst>
          </a:prstGeom>
          <a:solidFill>
            <a:srgbClr val="FFFFFF"/>
          </a:solidFill>
          <a:ln w="19050">
            <a:solidFill>
              <a:srgbClr val="1F3A5F"/>
            </a:solidFill>
          </a:ln>
          <a:effectLst/>
        </p:spPr>
        <p:txBody>
          <a:bodyPr rtlCol="0" anchor="ctr" wrap="square" lIns="73152" rIns="73152" tIns="27432" bIns="27432"/>
          <a:lstStyle/>
          <a:p>
            <a:pPr algn="ctr"/>
            <a:r>
              <a:rPr sz="1600" b="1">
                <a:solidFill>
                  <a:srgbClr val="1F3A5F"/>
                </a:solidFill>
                <a:latin typeface="Arial"/>
              </a:rPr>
              <a:t>Stress 1: matched JPEG</a:t>
            </a:r>
          </a:p>
          <a:p>
            <a:pPr algn="ctr"/>
            <a:r>
              <a:rPr sz="1300" b="0">
                <a:solidFill>
                  <a:srgbClr val="5D6D7E"/>
                </a:solidFill>
                <a:latin typeface="Arial"/>
              </a:rPr>
              <a:t>both classes at quality 90 / 75 / 50</a:t>
            </a:r>
          </a:p>
        </p:txBody>
      </p:sp>
      <p:sp>
        <p:nvSpPr>
          <p:cNvPr id="27" name="Rounded Rectangle 26"/>
          <p:cNvSpPr/>
          <p:nvPr/>
        </p:nvSpPr>
        <p:spPr>
          <a:xfrm>
            <a:off x="6858000" y="5138928"/>
            <a:ext cx="4023360" cy="822960"/>
          </a:xfrm>
          <a:prstGeom prst="roundRect">
            <a:avLst>
              <a:gd name="adj" fmla="val 12000"/>
            </a:avLst>
          </a:prstGeom>
          <a:solidFill>
            <a:srgbClr val="FFFFFF"/>
          </a:solidFill>
          <a:ln w="19050">
            <a:solidFill>
              <a:srgbClr val="1F3A5F"/>
            </a:solidFill>
          </a:ln>
          <a:effectLst/>
        </p:spPr>
        <p:txBody>
          <a:bodyPr rtlCol="0" anchor="ctr" wrap="square" lIns="73152" rIns="73152" tIns="27432" bIns="27432"/>
          <a:lstStyle/>
          <a:p>
            <a:pPr algn="ctr"/>
            <a:r>
              <a:rPr sz="1600" b="1">
                <a:solidFill>
                  <a:srgbClr val="1F3A5F"/>
                </a:solidFill>
                <a:latin typeface="Arial"/>
              </a:rPr>
              <a:t>Stress 2: unseen generator</a:t>
            </a:r>
          </a:p>
          <a:p>
            <a:pPr algn="ctr"/>
            <a:r>
              <a:rPr sz="1300" b="0">
                <a:solidFill>
                  <a:srgbClr val="5D6D7E"/>
                </a:solidFill>
                <a:latin typeface="Arial"/>
              </a:rPr>
              <a:t>SD v1.4 never seen in training</a:t>
            </a:r>
          </a:p>
        </p:txBody>
      </p:sp>
      <p:sp>
        <p:nvSpPr>
          <p:cNvPr id="28" name="TextBox 27"/>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9" name="TextBox 28"/>
          <p:cNvSpPr txBox="1"/>
          <p:nvPr/>
        </p:nvSpPr>
        <p:spPr>
          <a:xfrm>
            <a:off x="10362895" y="6510528"/>
            <a:ext cx="1280160" cy="237744"/>
          </a:xfrm>
          <a:prstGeom prst="rect">
            <a:avLst/>
          </a:prstGeom>
          <a:noFill/>
        </p:spPr>
        <p:txBody>
          <a:bodyPr wrap="square" lIns="0" rIns="0" tIns="0" bIns="0">
            <a:spAutoFit/>
          </a:bodyPr>
          <a:lstStyle/>
          <a:p>
            <a:r>
              <a:t>Backup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1" i="0">
                <a:solidFill>
                  <a:srgbClr val="B2182B"/>
                </a:solidFill>
                <a:latin typeface="Arial"/>
              </a:rPr>
              <a:t>NOVELTY</a:t>
            </a:r>
          </a:p>
        </p:txBody>
      </p:sp>
      <p:sp>
        <p:nvSpPr>
          <p:cNvPr id="4" name="Rectangle 3"/>
          <p:cNvSpPr/>
          <p:nvPr/>
        </p:nvSpPr>
        <p:spPr>
          <a:xfrm>
            <a:off x="2362156" y="548640"/>
            <a:ext cx="1127716" cy="28575"/>
          </a:xfrm>
          <a:prstGeom prst="rect">
            <a:avLst/>
          </a:prstGeom>
          <a:solidFill>
            <a:srgbClr val="B2182B"/>
          </a:solidFill>
          <a:ln>
            <a:noFill/>
          </a:ln>
        </p:spPr>
        <p:txBody>
          <a:bodyPr rtlCol="0" anchor="ctr"/>
          <a:lstStyle/>
          <a:p>
            <a:pPr algn="ctr"/>
          </a:p>
        </p:txBody>
      </p:sp>
      <p:sp>
        <p:nvSpPr>
          <p:cNvPr id="5" name="TextBox 4"/>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Contribution: a feature-level processing audit</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1</a:t>
            </a:r>
          </a:p>
        </p:txBody>
      </p:sp>
      <p:sp>
        <p:nvSpPr>
          <p:cNvPr id="13" name="TextBox 12"/>
          <p:cNvSpPr txBox="1"/>
          <p:nvPr/>
        </p:nvSpPr>
        <p:spPr>
          <a:xfrm>
            <a:off x="548640" y="1463040"/>
            <a:ext cx="4846320" cy="320040"/>
          </a:xfrm>
          <a:prstGeom prst="rect">
            <a:avLst/>
          </a:prstGeom>
          <a:noFill/>
        </p:spPr>
        <p:txBody>
          <a:bodyPr wrap="square" lIns="0" rIns="0" tIns="0" bIns="0">
            <a:spAutoFit/>
          </a:bodyPr>
          <a:lstStyle/>
          <a:p>
            <a:pPr algn="l"/>
            <a:r>
              <a:rPr sz="1500" b="1" i="0">
                <a:solidFill>
                  <a:srgbClr val="5D6D7E"/>
                </a:solidFill>
                <a:latin typeface="Arial"/>
              </a:rPr>
              <a:t>Established questions</a:t>
            </a:r>
          </a:p>
        </p:txBody>
      </p:sp>
      <p:sp>
        <p:nvSpPr>
          <p:cNvPr id="14" name="Rounded Rectangle 13"/>
          <p:cNvSpPr/>
          <p:nvPr/>
        </p:nvSpPr>
        <p:spPr>
          <a:xfrm>
            <a:off x="548640" y="1920240"/>
            <a:ext cx="4846320" cy="77724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600" b="1">
                <a:solidFill>
                  <a:srgbClr val="1C2833"/>
                </a:solidFill>
                <a:latin typeface="Arial"/>
              </a:rPr>
              <a:t>Compression history</a:t>
            </a:r>
          </a:p>
          <a:p>
            <a:pPr algn="l"/>
            <a:r>
              <a:rPr sz="1300" b="0">
                <a:solidFill>
                  <a:srgbClr val="5D6D7E"/>
                </a:solidFill>
                <a:latin typeface="Arial"/>
              </a:rPr>
              <a:t>JPEG and size bias</a:t>
            </a:r>
          </a:p>
        </p:txBody>
      </p:sp>
      <p:sp>
        <p:nvSpPr>
          <p:cNvPr id="15" name="Rounded Rectangle 14"/>
          <p:cNvSpPr/>
          <p:nvPr/>
        </p:nvSpPr>
        <p:spPr>
          <a:xfrm>
            <a:off x="548640" y="2880360"/>
            <a:ext cx="4846320" cy="77724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600" b="1">
                <a:solidFill>
                  <a:srgbClr val="1C2833"/>
                </a:solidFill>
                <a:latin typeface="Arial"/>
              </a:rPr>
              <a:t>Benchmark comparability</a:t>
            </a:r>
          </a:p>
          <a:p>
            <a:pPr algn="l"/>
            <a:r>
              <a:rPr sz="1300" b="0">
                <a:solidFill>
                  <a:srgbClr val="5D6D7E"/>
                </a:solidFill>
                <a:latin typeface="Arial"/>
              </a:rPr>
              <a:t>content, format, size</a:t>
            </a:r>
          </a:p>
        </p:txBody>
      </p:sp>
      <p:sp>
        <p:nvSpPr>
          <p:cNvPr id="16" name="Rounded Rectangle 15"/>
          <p:cNvSpPr/>
          <p:nvPr/>
        </p:nvSpPr>
        <p:spPr>
          <a:xfrm>
            <a:off x="548640" y="3840480"/>
            <a:ext cx="4846320" cy="77724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600" b="1">
                <a:solidFill>
                  <a:srgbClr val="1C2833"/>
                </a:solidFill>
                <a:latin typeface="Arial"/>
              </a:rPr>
              <a:t>Resizing history</a:t>
            </a:r>
          </a:p>
          <a:p>
            <a:pPr algn="l"/>
            <a:r>
              <a:rPr sz="1300" b="0">
                <a:solidFill>
                  <a:srgbClr val="5D6D7E"/>
                </a:solidFill>
                <a:latin typeface="Arial"/>
              </a:rPr>
              <a:t>resize vs native, JPEG</a:t>
            </a:r>
          </a:p>
        </p:txBody>
      </p:sp>
      <p:cxnSp>
        <p:nvCxnSpPr>
          <p:cNvPr id="17" name="Connector 16"/>
          <p:cNvCxnSpPr/>
          <p:nvPr/>
        </p:nvCxnSpPr>
        <p:spPr>
          <a:xfrm>
            <a:off x="5532120" y="3246120"/>
            <a:ext cx="777240" cy="0"/>
          </a:xfrm>
          <a:prstGeom prst="line">
            <a:avLst/>
          </a:prstGeom>
          <a:ln w="31750">
            <a:solidFill>
              <a:srgbClr val="B2182B"/>
            </a:solidFill>
            <a:tailEnd type="triangle" w="med" len="med"/>
          </a:ln>
        </p:spPr>
      </p:cxnSp>
      <p:sp>
        <p:nvSpPr>
          <p:cNvPr id="18" name="TextBox 17"/>
          <p:cNvSpPr txBox="1"/>
          <p:nvPr/>
        </p:nvSpPr>
        <p:spPr>
          <a:xfrm>
            <a:off x="5468112" y="2697480"/>
            <a:ext cx="914400" cy="457200"/>
          </a:xfrm>
          <a:prstGeom prst="rect">
            <a:avLst/>
          </a:prstGeom>
          <a:noFill/>
        </p:spPr>
        <p:txBody>
          <a:bodyPr wrap="square" lIns="0" rIns="0" tIns="0" bIns="0">
            <a:spAutoFit/>
          </a:bodyPr>
          <a:lstStyle/>
          <a:p>
            <a:pPr algn="ctr"/>
            <a:r>
              <a:rPr sz="1150" b="0" i="0">
                <a:solidFill>
                  <a:srgbClr val="5D6D7E"/>
                </a:solidFill>
                <a:latin typeface="Arial"/>
              </a:rPr>
              <a:t>one level</a:t>
            </a:r>
          </a:p>
          <a:p>
            <a:pPr algn="ctr"/>
            <a:r>
              <a:rPr sz="1150" b="0" i="0">
                <a:solidFill>
                  <a:srgbClr val="5D6D7E"/>
                </a:solidFill>
                <a:latin typeface="Arial"/>
              </a:rPr>
              <a:t>down</a:t>
            </a:r>
          </a:p>
        </p:txBody>
      </p:sp>
      <p:sp>
        <p:nvSpPr>
          <p:cNvPr id="19" name="Rounded Rectangle 18"/>
          <p:cNvSpPr/>
          <p:nvPr/>
        </p:nvSpPr>
        <p:spPr>
          <a:xfrm>
            <a:off x="6446520" y="1463040"/>
            <a:ext cx="5193792" cy="3840480"/>
          </a:xfrm>
          <a:prstGeom prst="roundRect">
            <a:avLst>
              <a:gd name="adj" fmla="val 12000"/>
            </a:avLst>
          </a:prstGeom>
          <a:solidFill>
            <a:srgbClr val="FFFFFF"/>
          </a:solidFill>
          <a:ln w="25400">
            <a:solidFill>
              <a:srgbClr val="B2182B"/>
            </a:solidFill>
          </a:ln>
          <a:effectLst/>
        </p:spPr>
        <p:txBody>
          <a:bodyPr rtlCol="0" anchor="ctr" wrap="square" lIns="73152" rIns="73152" tIns="27432" bIns="27432"/>
          <a:lstStyle/>
          <a:p>
            <a:pPr algn="ctr"/>
            <a:r>
              <a:rPr sz="400" b="0">
                <a:solidFill>
                  <a:srgbClr val="1C2833"/>
                </a:solidFill>
                <a:latin typeface="Arial"/>
              </a:rPr>
              <a:t/>
            </a:r>
          </a:p>
        </p:txBody>
      </p:sp>
      <p:sp>
        <p:nvSpPr>
          <p:cNvPr id="20" name="TextBox 19"/>
          <p:cNvSpPr txBox="1"/>
          <p:nvPr/>
        </p:nvSpPr>
        <p:spPr>
          <a:xfrm>
            <a:off x="6720840" y="1645920"/>
            <a:ext cx="4663440" cy="411480"/>
          </a:xfrm>
          <a:prstGeom prst="rect">
            <a:avLst/>
          </a:prstGeom>
          <a:noFill/>
        </p:spPr>
        <p:txBody>
          <a:bodyPr wrap="square" lIns="0" rIns="0" tIns="0" bIns="0">
            <a:spAutoFit/>
          </a:bodyPr>
          <a:lstStyle/>
          <a:p>
            <a:pPr algn="l"/>
            <a:r>
              <a:rPr sz="1900" b="1" i="0">
                <a:solidFill>
                  <a:srgbClr val="B2182B"/>
                </a:solidFill>
                <a:latin typeface="Arial"/>
              </a:rPr>
              <a:t>This project  ·  14 named features</a:t>
            </a:r>
          </a:p>
        </p:txBody>
      </p:sp>
      <p:sp>
        <p:nvSpPr>
          <p:cNvPr id="21" name="Rounded Rectangle 20"/>
          <p:cNvSpPr/>
          <p:nvPr/>
        </p:nvSpPr>
        <p:spPr>
          <a:xfrm>
            <a:off x="6720840" y="2240280"/>
            <a:ext cx="4663440" cy="804672"/>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600" b="1">
                <a:solidFill>
                  <a:srgbClr val="1F3A5F"/>
                </a:solidFill>
                <a:latin typeface="Arial"/>
              </a:rPr>
              <a:t>Per feature, per generator</a:t>
            </a:r>
          </a:p>
          <a:p>
            <a:pPr algn="l"/>
            <a:r>
              <a:rPr sz="1250" b="0">
                <a:solidFill>
                  <a:srgbClr val="5D6D7E"/>
                </a:solidFill>
                <a:latin typeface="Arial"/>
              </a:rPr>
              <a:t>which statistic moves, and for which generator</a:t>
            </a:r>
          </a:p>
        </p:txBody>
      </p:sp>
      <p:sp>
        <p:nvSpPr>
          <p:cNvPr id="22" name="Rounded Rectangle 21"/>
          <p:cNvSpPr/>
          <p:nvPr/>
        </p:nvSpPr>
        <p:spPr>
          <a:xfrm>
            <a:off x="6720840" y="3227832"/>
            <a:ext cx="4663440" cy="804672"/>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600" b="1">
                <a:solidFill>
                  <a:srgbClr val="1F3A5F"/>
                </a:solidFill>
                <a:latin typeface="Arial"/>
              </a:rPr>
              <a:t>Two stresses, one fixed protocol</a:t>
            </a:r>
          </a:p>
          <a:p>
            <a:pPr algn="l"/>
            <a:r>
              <a:rPr sz="1250" b="0">
                <a:solidFill>
                  <a:srgbClr val="5D6D7E"/>
                </a:solidFill>
                <a:latin typeface="Arial"/>
              </a:rPr>
              <a:t>matched JPEG  +  unseen generator</a:t>
            </a:r>
          </a:p>
        </p:txBody>
      </p:sp>
      <p:sp>
        <p:nvSpPr>
          <p:cNvPr id="23" name="Rounded Rectangle 22"/>
          <p:cNvSpPr/>
          <p:nvPr/>
        </p:nvSpPr>
        <p:spPr>
          <a:xfrm>
            <a:off x="6720840" y="4215384"/>
            <a:ext cx="4663440" cy="804672"/>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600" b="1">
                <a:solidFill>
                  <a:srgbClr val="1F3A5F"/>
                </a:solidFill>
                <a:latin typeface="Arial"/>
              </a:rPr>
              <a:t>Exploratory reference-data check</a:t>
            </a:r>
          </a:p>
          <a:p>
            <a:pPr algn="l"/>
            <a:r>
              <a:rPr sz="1250" b="0">
                <a:solidFill>
                  <a:srgbClr val="5D6D7E"/>
                </a:solidFill>
                <a:latin typeface="Arial"/>
              </a:rPr>
              <a:t>BigGAN pixels unchanged; crop and training data change</a:t>
            </a:r>
          </a:p>
        </p:txBody>
      </p:sp>
      <p:sp>
        <p:nvSpPr>
          <p:cNvPr id="24" name="TextBox 23"/>
          <p:cNvSpPr txBox="1"/>
          <p:nvPr/>
        </p:nvSpPr>
        <p:spPr>
          <a:xfrm>
            <a:off x="548640" y="5669280"/>
            <a:ext cx="11094415" cy="365760"/>
          </a:xfrm>
          <a:prstGeom prst="rect">
            <a:avLst/>
          </a:prstGeom>
          <a:noFill/>
        </p:spPr>
        <p:txBody>
          <a:bodyPr wrap="square" lIns="0" rIns="0" tIns="0" bIns="0">
            <a:spAutoFit/>
          </a:bodyPr>
          <a:lstStyle/>
          <a:p>
            <a:pPr algn="ctr"/>
            <a:r>
              <a:rPr sz="1300" b="0" i="0">
                <a:solidFill>
                  <a:srgbClr val="5D6D7E"/>
                </a:solidFill>
                <a:latin typeface="Arial"/>
              </a:rPr>
              <a:t>Contribution: trace processing effects through features, generator scores and decisions</a:t>
            </a:r>
          </a:p>
        </p:txBody>
      </p:sp>
      <p:sp>
        <p:nvSpPr>
          <p:cNvPr id="25" name="TextBox 2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6" name="TextBox 25"/>
          <p:cNvSpPr txBox="1"/>
          <p:nvPr/>
        </p:nvSpPr>
        <p:spPr>
          <a:xfrm>
            <a:off x="10362895" y="6510528"/>
            <a:ext cx="1280160" cy="237744"/>
          </a:xfrm>
          <a:prstGeom prst="rect">
            <a:avLst/>
          </a:prstGeom>
          <a:noFill/>
        </p:spPr>
        <p:txBody>
          <a:bodyPr wrap="square" lIns="0" rIns="0" tIns="0" bIns="0">
            <a:spAutoFit/>
          </a:bodyPr>
          <a:lstStyle/>
          <a:p>
            <a:r>
              <a:t>3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1" i="0">
                <a:solidFill>
                  <a:srgbClr val="B2182B"/>
                </a:solidFill>
                <a:latin typeface="Arial"/>
              </a:rPr>
              <a:t>NOVELTY</a:t>
            </a:r>
          </a:p>
        </p:txBody>
      </p:sp>
      <p:sp>
        <p:nvSpPr>
          <p:cNvPr id="4" name="Rectangle 3"/>
          <p:cNvSpPr/>
          <p:nvPr/>
        </p:nvSpPr>
        <p:spPr>
          <a:xfrm>
            <a:off x="2362156" y="548640"/>
            <a:ext cx="1127716" cy="28575"/>
          </a:xfrm>
          <a:prstGeom prst="rect">
            <a:avLst/>
          </a:prstGeom>
          <a:solidFill>
            <a:srgbClr val="B2182B"/>
          </a:solidFill>
          <a:ln>
            <a:noFill/>
          </a:ln>
        </p:spPr>
        <p:txBody>
          <a:bodyPr rtlCol="0" anchor="ctr"/>
          <a:lstStyle/>
          <a:p>
            <a:pPr algn="ctr"/>
          </a:p>
        </p:txBody>
      </p:sp>
      <p:sp>
        <p:nvSpPr>
          <p:cNvPr id="5" name="TextBox 4"/>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Novelty: same score, different story</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1</a:t>
            </a:r>
          </a:p>
        </p:txBody>
      </p:sp>
      <p:pic>
        <p:nvPicPr>
          <p:cNvPr id="13" name="Picture 12" descr="novelty_same_score.png"/>
          <p:cNvPicPr>
            <a:picLocks noChangeAspect="1"/>
          </p:cNvPicPr>
          <p:nvPr/>
        </p:nvPicPr>
        <p:blipFill>
          <a:blip r:embed="rId2"/>
          <a:stretch>
            <a:fillRect/>
          </a:stretch>
        </p:blipFill>
        <p:spPr>
          <a:xfrm>
            <a:off x="822960" y="1730549"/>
            <a:ext cx="10545775" cy="3488342"/>
          </a:xfrm>
          <a:prstGeom prst="rect">
            <a:avLst/>
          </a:prstGeom>
          <a:ln w="9525">
            <a:solidFill>
              <a:srgbClr val="D5DBDB"/>
            </a:solidFill>
          </a:ln>
        </p:spPr>
      </p:pic>
      <p:sp>
        <p:nvSpPr>
          <p:cNvPr id="14" name="TextBox 13"/>
          <p:cNvSpPr txBox="1"/>
          <p:nvPr/>
        </p:nvSpPr>
        <p:spPr>
          <a:xfrm>
            <a:off x="548640" y="5715000"/>
            <a:ext cx="11094415" cy="457200"/>
          </a:xfrm>
          <a:prstGeom prst="rect">
            <a:avLst/>
          </a:prstGeom>
          <a:noFill/>
        </p:spPr>
        <p:txBody>
          <a:bodyPr wrap="square" lIns="0" rIns="0" tIns="0" bIns="0">
            <a:spAutoFit/>
          </a:bodyPr>
          <a:lstStyle/>
          <a:p>
            <a:pPr algn="ctr">
              <a:lnSpc>
                <a:spcPct val="120000"/>
              </a:lnSpc>
            </a:pPr>
            <a:r>
              <a:rPr sz="1900" b="1">
                <a:solidFill>
                  <a:srgbClr val="1F3A5F"/>
                </a:solidFill>
                <a:latin typeface="Arial"/>
              </a:rPr>
              <a:t>Pooled score: similar.</a:t>
            </a:r>
            <a:r>
              <a:rPr sz="1900" b="0">
                <a:solidFill>
                  <a:srgbClr val="1C2833"/>
                </a:solidFill>
                <a:latin typeface="Arial"/>
              </a:rPr>
              <a:t>      </a:t>
            </a:r>
            <a:r>
              <a:rPr sz="1900" b="1">
                <a:solidFill>
                  <a:srgbClr val="B2182B"/>
                </a:solidFill>
                <a:latin typeface="Arial"/>
              </a:rPr>
              <a:t>Per-generator scores: move both ways.</a:t>
            </a:r>
          </a:p>
        </p:txBody>
      </p:sp>
      <p:sp>
        <p:nvSpPr>
          <p:cNvPr id="15" name="TextBox 1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16" name="TextBox 15"/>
          <p:cNvSpPr txBox="1"/>
          <p:nvPr/>
        </p:nvSpPr>
        <p:spPr>
          <a:xfrm>
            <a:off x="10362895" y="6510528"/>
            <a:ext cx="1280160" cy="237744"/>
          </a:xfrm>
          <a:prstGeom prst="rect">
            <a:avLst/>
          </a:prstGeom>
          <a:noFill/>
        </p:spPr>
        <p:txBody>
          <a:bodyPr wrap="square" lIns="0" rIns="0" tIns="0" bIns="0">
            <a:spAutoFit/>
          </a:bodyPr>
          <a:lstStyle/>
          <a:p>
            <a:r>
              <a:t>Backup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1" i="0">
                <a:solidFill>
                  <a:srgbClr val="B2182B"/>
                </a:solidFill>
                <a:latin typeface="Arial"/>
              </a:rPr>
              <a:t>METHODOLOGY</a:t>
            </a:r>
          </a:p>
        </p:txBody>
      </p:sp>
      <p:sp>
        <p:nvSpPr>
          <p:cNvPr id="5" name="Rectangle 4"/>
          <p:cNvSpPr/>
          <p:nvPr/>
        </p:nvSpPr>
        <p:spPr>
          <a:xfrm>
            <a:off x="3947072" y="548640"/>
            <a:ext cx="1127716" cy="28575"/>
          </a:xfrm>
          <a:prstGeom prst="rect">
            <a:avLst/>
          </a:prstGeom>
          <a:solidFill>
            <a:srgbClr val="B2182B"/>
          </a:solidFill>
          <a:ln>
            <a:noFill/>
          </a:ln>
        </p:spPr>
        <p:txBody>
          <a:bodyPr rtlCol="0" anchor="ctr"/>
          <a:lstStyle/>
          <a:p>
            <a:pPr algn="ct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Pipeline, fixed before any image was processed</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pic>
        <p:nvPicPr>
          <p:cNvPr id="13" name="Picture 12" descr="pipeline-diagram.png"/>
          <p:cNvPicPr>
            <a:picLocks noChangeAspect="1"/>
          </p:cNvPicPr>
          <p:nvPr/>
        </p:nvPicPr>
        <p:blipFill>
          <a:blip r:embed="rId2"/>
          <a:stretch>
            <a:fillRect/>
          </a:stretch>
        </p:blipFill>
        <p:spPr>
          <a:xfrm>
            <a:off x="713822" y="1371600"/>
            <a:ext cx="3601556" cy="5074920"/>
          </a:xfrm>
          <a:prstGeom prst="rect">
            <a:avLst/>
          </a:prstGeom>
          <a:ln w="9525">
            <a:solidFill>
              <a:srgbClr val="D5DBDB"/>
            </a:solidFill>
          </a:ln>
        </p:spPr>
      </p:pic>
      <p:sp>
        <p:nvSpPr>
          <p:cNvPr id="14" name="Oval 13"/>
          <p:cNvSpPr/>
          <p:nvPr/>
        </p:nvSpPr>
        <p:spPr>
          <a:xfrm>
            <a:off x="4937760" y="1554480"/>
            <a:ext cx="457200" cy="457200"/>
          </a:xfrm>
          <a:prstGeom prst="ellipse">
            <a:avLst/>
          </a:prstGeom>
          <a:solidFill>
            <a:srgbClr val="1F3A5F"/>
          </a:solidFill>
          <a:ln>
            <a:noFill/>
          </a:ln>
          <a:effectLst/>
        </p:spPr>
        <p:txBody>
          <a:bodyPr rtlCol="0" anchor="ctr"/>
          <a:lstStyle/>
          <a:p>
            <a:pPr algn="ctr"/>
            <a:r>
              <a:rPr sz="1500" b="1">
                <a:solidFill>
                  <a:srgbClr val="FFFFFF"/>
                </a:solidFill>
              </a:rPr>
              <a:t>1</a:t>
            </a:r>
          </a:p>
        </p:txBody>
      </p:sp>
      <p:sp>
        <p:nvSpPr>
          <p:cNvPr id="15" name="TextBox 14"/>
          <p:cNvSpPr txBox="1"/>
          <p:nvPr/>
        </p:nvSpPr>
        <p:spPr>
          <a:xfrm>
            <a:off x="5577840" y="1536192"/>
            <a:ext cx="6035040" cy="292608"/>
          </a:xfrm>
          <a:prstGeom prst="rect">
            <a:avLst/>
          </a:prstGeom>
          <a:noFill/>
        </p:spPr>
        <p:txBody>
          <a:bodyPr wrap="square" lIns="0" rIns="0" tIns="0" bIns="0">
            <a:spAutoFit/>
          </a:bodyPr>
          <a:lstStyle/>
          <a:p>
            <a:pPr algn="l"/>
            <a:r>
              <a:rPr sz="1600" b="1" i="0">
                <a:solidFill>
                  <a:srgbClr val="1C2833"/>
                </a:solidFill>
                <a:latin typeface="Arial"/>
              </a:rPr>
              <a:t>3,000 GenImage images</a:t>
            </a:r>
          </a:p>
        </p:txBody>
      </p:sp>
      <p:sp>
        <p:nvSpPr>
          <p:cNvPr id="16" name="TextBox 15"/>
          <p:cNvSpPr txBox="1"/>
          <p:nvPr/>
        </p:nvSpPr>
        <p:spPr>
          <a:xfrm>
            <a:off x="5577840" y="1847088"/>
            <a:ext cx="6035040" cy="274320"/>
          </a:xfrm>
          <a:prstGeom prst="rect">
            <a:avLst/>
          </a:prstGeom>
          <a:noFill/>
        </p:spPr>
        <p:txBody>
          <a:bodyPr wrap="square" lIns="0" rIns="0" tIns="0" bIns="0">
            <a:spAutoFit/>
          </a:bodyPr>
          <a:lstStyle/>
          <a:p>
            <a:pPr algn="l"/>
            <a:r>
              <a:rPr sz="1300" b="0" i="0">
                <a:solidFill>
                  <a:srgbClr val="5D6D7E"/>
                </a:solidFill>
                <a:latin typeface="Arial"/>
              </a:rPr>
              <a:t>1,500 real  ·  500 each: BigGAN, SD v1.4, ADM</a:t>
            </a:r>
          </a:p>
        </p:txBody>
      </p:sp>
      <p:sp>
        <p:nvSpPr>
          <p:cNvPr id="17" name="Oval 16"/>
          <p:cNvSpPr/>
          <p:nvPr/>
        </p:nvSpPr>
        <p:spPr>
          <a:xfrm>
            <a:off x="4937760" y="2468880"/>
            <a:ext cx="457200" cy="457200"/>
          </a:xfrm>
          <a:prstGeom prst="ellipse">
            <a:avLst/>
          </a:prstGeom>
          <a:solidFill>
            <a:srgbClr val="1F3A5F"/>
          </a:solidFill>
          <a:ln>
            <a:noFill/>
          </a:ln>
          <a:effectLst/>
        </p:spPr>
        <p:txBody>
          <a:bodyPr rtlCol="0" anchor="ctr"/>
          <a:lstStyle/>
          <a:p>
            <a:pPr algn="ctr"/>
            <a:r>
              <a:rPr sz="1500" b="1">
                <a:solidFill>
                  <a:srgbClr val="FFFFFF"/>
                </a:solidFill>
              </a:rPr>
              <a:t>2</a:t>
            </a:r>
          </a:p>
        </p:txBody>
      </p:sp>
      <p:sp>
        <p:nvSpPr>
          <p:cNvPr id="18" name="TextBox 17"/>
          <p:cNvSpPr txBox="1"/>
          <p:nvPr/>
        </p:nvSpPr>
        <p:spPr>
          <a:xfrm>
            <a:off x="5577840" y="2450592"/>
            <a:ext cx="6035040" cy="292608"/>
          </a:xfrm>
          <a:prstGeom prst="rect">
            <a:avLst/>
          </a:prstGeom>
          <a:noFill/>
        </p:spPr>
        <p:txBody>
          <a:bodyPr wrap="square" lIns="0" rIns="0" tIns="0" bIns="0">
            <a:spAutoFit/>
          </a:bodyPr>
          <a:lstStyle/>
          <a:p>
            <a:pPr algn="l"/>
            <a:r>
              <a:rPr sz="1600" b="1" i="0">
                <a:solidFill>
                  <a:srgbClr val="1C2833"/>
                </a:solidFill>
                <a:latin typeface="Arial"/>
              </a:rPr>
              <a:t>Clean before splitting</a:t>
            </a:r>
          </a:p>
        </p:txBody>
      </p:sp>
      <p:sp>
        <p:nvSpPr>
          <p:cNvPr id="19" name="TextBox 18"/>
          <p:cNvSpPr txBox="1"/>
          <p:nvPr/>
        </p:nvSpPr>
        <p:spPr>
          <a:xfrm>
            <a:off x="5577840" y="2761488"/>
            <a:ext cx="6035040" cy="274320"/>
          </a:xfrm>
          <a:prstGeom prst="rect">
            <a:avLst/>
          </a:prstGeom>
          <a:noFill/>
        </p:spPr>
        <p:txBody>
          <a:bodyPr wrap="square" lIns="0" rIns="0" tIns="0" bIns="0">
            <a:spAutoFit/>
          </a:bodyPr>
          <a:lstStyle/>
          <a:p>
            <a:pPr algn="l"/>
            <a:r>
              <a:rPr sz="1300" b="0" i="0">
                <a:solidFill>
                  <a:srgbClr val="5D6D7E"/>
                </a:solidFill>
                <a:latin typeface="Arial"/>
              </a:rPr>
              <a:t>duplicates, near-copies, odd colour profiles removed</a:t>
            </a:r>
          </a:p>
        </p:txBody>
      </p:sp>
      <p:sp>
        <p:nvSpPr>
          <p:cNvPr id="20" name="Oval 19"/>
          <p:cNvSpPr/>
          <p:nvPr/>
        </p:nvSpPr>
        <p:spPr>
          <a:xfrm>
            <a:off x="4937760" y="3383280"/>
            <a:ext cx="457200" cy="457200"/>
          </a:xfrm>
          <a:prstGeom prst="ellipse">
            <a:avLst/>
          </a:prstGeom>
          <a:solidFill>
            <a:srgbClr val="1F3A5F"/>
          </a:solidFill>
          <a:ln>
            <a:noFill/>
          </a:ln>
          <a:effectLst/>
        </p:spPr>
        <p:txBody>
          <a:bodyPr rtlCol="0" anchor="ctr"/>
          <a:lstStyle/>
          <a:p>
            <a:pPr algn="ctr"/>
            <a:r>
              <a:rPr sz="1500" b="1">
                <a:solidFill>
                  <a:srgbClr val="FFFFFF"/>
                </a:solidFill>
              </a:rPr>
              <a:t>3</a:t>
            </a:r>
          </a:p>
        </p:txBody>
      </p:sp>
      <p:sp>
        <p:nvSpPr>
          <p:cNvPr id="21" name="TextBox 20"/>
          <p:cNvSpPr txBox="1"/>
          <p:nvPr/>
        </p:nvSpPr>
        <p:spPr>
          <a:xfrm>
            <a:off x="5577840" y="3364992"/>
            <a:ext cx="6035040" cy="292608"/>
          </a:xfrm>
          <a:prstGeom prst="rect">
            <a:avLst/>
          </a:prstGeom>
          <a:noFill/>
        </p:spPr>
        <p:txBody>
          <a:bodyPr wrap="square" lIns="0" rIns="0" tIns="0" bIns="0">
            <a:spAutoFit/>
          </a:bodyPr>
          <a:lstStyle/>
          <a:p>
            <a:pPr algn="l"/>
            <a:r>
              <a:rPr sz="1600" b="1" i="0">
                <a:solidFill>
                  <a:srgbClr val="1C2833"/>
                </a:solidFill>
                <a:latin typeface="Arial"/>
              </a:rPr>
              <a:t>Same processing for both classes</a:t>
            </a:r>
          </a:p>
        </p:txBody>
      </p:sp>
      <p:sp>
        <p:nvSpPr>
          <p:cNvPr id="22" name="TextBox 21"/>
          <p:cNvSpPr txBox="1"/>
          <p:nvPr/>
        </p:nvSpPr>
        <p:spPr>
          <a:xfrm>
            <a:off x="5577840" y="3675888"/>
            <a:ext cx="6035040" cy="274320"/>
          </a:xfrm>
          <a:prstGeom prst="rect">
            <a:avLst/>
          </a:prstGeom>
          <a:noFill/>
        </p:spPr>
        <p:txBody>
          <a:bodyPr wrap="square" lIns="0" rIns="0" tIns="0" bIns="0">
            <a:spAutoFit/>
          </a:bodyPr>
          <a:lstStyle/>
          <a:p>
            <a:pPr algn="l"/>
            <a:r>
              <a:rPr sz="1300" b="0" i="0">
                <a:solidFill>
                  <a:srgbClr val="5D6D7E"/>
                </a:solidFill>
                <a:latin typeface="Arial"/>
              </a:rPr>
              <a:t>resize to 256 × 256, lossless PNG</a:t>
            </a:r>
          </a:p>
        </p:txBody>
      </p:sp>
      <p:sp>
        <p:nvSpPr>
          <p:cNvPr id="23" name="Oval 22"/>
          <p:cNvSpPr/>
          <p:nvPr/>
        </p:nvSpPr>
        <p:spPr>
          <a:xfrm>
            <a:off x="4937760" y="4297680"/>
            <a:ext cx="457200" cy="457200"/>
          </a:xfrm>
          <a:prstGeom prst="ellipse">
            <a:avLst/>
          </a:prstGeom>
          <a:solidFill>
            <a:srgbClr val="1F3A5F"/>
          </a:solidFill>
          <a:ln>
            <a:noFill/>
          </a:ln>
          <a:effectLst/>
        </p:spPr>
        <p:txBody>
          <a:bodyPr rtlCol="0" anchor="ctr"/>
          <a:lstStyle/>
          <a:p>
            <a:pPr algn="ctr"/>
            <a:r>
              <a:rPr sz="1500" b="1">
                <a:solidFill>
                  <a:srgbClr val="FFFFFF"/>
                </a:solidFill>
              </a:rPr>
              <a:t>4</a:t>
            </a:r>
          </a:p>
        </p:txBody>
      </p:sp>
      <p:sp>
        <p:nvSpPr>
          <p:cNvPr id="24" name="TextBox 23"/>
          <p:cNvSpPr txBox="1"/>
          <p:nvPr/>
        </p:nvSpPr>
        <p:spPr>
          <a:xfrm>
            <a:off x="5577840" y="4279392"/>
            <a:ext cx="6035040" cy="292608"/>
          </a:xfrm>
          <a:prstGeom prst="rect">
            <a:avLst/>
          </a:prstGeom>
          <a:noFill/>
        </p:spPr>
        <p:txBody>
          <a:bodyPr wrap="square" lIns="0" rIns="0" tIns="0" bIns="0">
            <a:spAutoFit/>
          </a:bodyPr>
          <a:lstStyle/>
          <a:p>
            <a:pPr algn="l"/>
            <a:r>
              <a:rPr sz="1600" b="1" i="0">
                <a:solidFill>
                  <a:srgbClr val="1C2833"/>
                </a:solidFill>
                <a:latin typeface="Arial"/>
              </a:rPr>
              <a:t>Three conditions</a:t>
            </a:r>
          </a:p>
        </p:txBody>
      </p:sp>
      <p:sp>
        <p:nvSpPr>
          <p:cNvPr id="25" name="TextBox 24"/>
          <p:cNvSpPr txBox="1"/>
          <p:nvPr/>
        </p:nvSpPr>
        <p:spPr>
          <a:xfrm>
            <a:off x="5577840" y="4590288"/>
            <a:ext cx="6035040" cy="274320"/>
          </a:xfrm>
          <a:prstGeom prst="rect">
            <a:avLst/>
          </a:prstGeom>
          <a:noFill/>
        </p:spPr>
        <p:txBody>
          <a:bodyPr wrap="square" lIns="0" rIns="0" tIns="0" bIns="0">
            <a:spAutoFit/>
          </a:bodyPr>
          <a:lstStyle/>
          <a:p>
            <a:pPr algn="l"/>
            <a:r>
              <a:rPr sz="1300" b="0" i="0">
                <a:solidFill>
                  <a:srgbClr val="5D6D7E"/>
                </a:solidFill>
                <a:latin typeface="Arial"/>
              </a:rPr>
              <a:t>C0 clean  ·  C1 JPEG 90 / 75 / 50  ·  C2 unfair control</a:t>
            </a:r>
          </a:p>
        </p:txBody>
      </p:sp>
      <p:sp>
        <p:nvSpPr>
          <p:cNvPr id="26" name="Oval 25"/>
          <p:cNvSpPr/>
          <p:nvPr/>
        </p:nvSpPr>
        <p:spPr>
          <a:xfrm>
            <a:off x="4937760" y="5212080"/>
            <a:ext cx="457200" cy="457200"/>
          </a:xfrm>
          <a:prstGeom prst="ellipse">
            <a:avLst/>
          </a:prstGeom>
          <a:solidFill>
            <a:srgbClr val="1F3A5F"/>
          </a:solidFill>
          <a:ln>
            <a:noFill/>
          </a:ln>
          <a:effectLst/>
        </p:spPr>
        <p:txBody>
          <a:bodyPr rtlCol="0" anchor="ctr"/>
          <a:lstStyle/>
          <a:p>
            <a:pPr algn="ctr"/>
            <a:r>
              <a:rPr sz="1500" b="1">
                <a:solidFill>
                  <a:srgbClr val="FFFFFF"/>
                </a:solidFill>
              </a:rPr>
              <a:t>5</a:t>
            </a:r>
          </a:p>
        </p:txBody>
      </p:sp>
      <p:sp>
        <p:nvSpPr>
          <p:cNvPr id="27" name="TextBox 26"/>
          <p:cNvSpPr txBox="1"/>
          <p:nvPr/>
        </p:nvSpPr>
        <p:spPr>
          <a:xfrm>
            <a:off x="5577840" y="5193792"/>
            <a:ext cx="6035040" cy="292608"/>
          </a:xfrm>
          <a:prstGeom prst="rect">
            <a:avLst/>
          </a:prstGeom>
          <a:noFill/>
        </p:spPr>
        <p:txBody>
          <a:bodyPr wrap="square" lIns="0" rIns="0" tIns="0" bIns="0">
            <a:spAutoFit/>
          </a:bodyPr>
          <a:lstStyle/>
          <a:p>
            <a:pPr algn="l"/>
            <a:r>
              <a:rPr sz="1600" b="1" i="0">
                <a:solidFill>
                  <a:srgbClr val="1C2833"/>
                </a:solidFill>
                <a:latin typeface="Arial"/>
              </a:rPr>
              <a:t>Strict statistics</a:t>
            </a:r>
          </a:p>
        </p:txBody>
      </p:sp>
      <p:sp>
        <p:nvSpPr>
          <p:cNvPr id="28" name="TextBox 27"/>
          <p:cNvSpPr txBox="1"/>
          <p:nvPr/>
        </p:nvSpPr>
        <p:spPr>
          <a:xfrm>
            <a:off x="5577840" y="5504688"/>
            <a:ext cx="6035040" cy="274320"/>
          </a:xfrm>
          <a:prstGeom prst="rect">
            <a:avLst/>
          </a:prstGeom>
          <a:noFill/>
        </p:spPr>
        <p:txBody>
          <a:bodyPr wrap="square" lIns="0" rIns="0" tIns="0" bIns="0">
            <a:spAutoFit/>
          </a:bodyPr>
          <a:lstStyle/>
          <a:p>
            <a:pPr algn="l"/>
            <a:r>
              <a:rPr sz="1300" b="0" i="0">
                <a:solidFill>
                  <a:srgbClr val="5D6D7E"/>
                </a:solidFill>
                <a:latin typeface="Arial"/>
              </a:rPr>
              <a:t>split by image group  ·  one locked 600-image test set  ·  95% CIs</a:t>
            </a:r>
          </a:p>
        </p:txBody>
      </p:sp>
      <p:sp>
        <p:nvSpPr>
          <p:cNvPr id="29" name="TextBox 28"/>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30" name="TextBox 29"/>
          <p:cNvSpPr txBox="1"/>
          <p:nvPr/>
        </p:nvSpPr>
        <p:spPr>
          <a:xfrm>
            <a:off x="10362895" y="6510528"/>
            <a:ext cx="1280160" cy="237744"/>
          </a:xfrm>
          <a:prstGeom prst="rect">
            <a:avLst/>
          </a:prstGeom>
          <a:noFill/>
        </p:spPr>
        <p:txBody>
          <a:bodyPr wrap="square" lIns="0" rIns="0" tIns="0" bIns="0">
            <a:spAutoFit/>
          </a:bodyPr>
          <a:lstStyle/>
          <a:p>
            <a:r>
              <a:t>4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1" i="0">
                <a:solidFill>
                  <a:srgbClr val="B2182B"/>
                </a:solidFill>
                <a:latin typeface="Arial"/>
              </a:rPr>
              <a:t>METHODOLOGY</a:t>
            </a:r>
          </a:p>
        </p:txBody>
      </p:sp>
      <p:sp>
        <p:nvSpPr>
          <p:cNvPr id="5" name="Rectangle 4"/>
          <p:cNvSpPr/>
          <p:nvPr/>
        </p:nvSpPr>
        <p:spPr>
          <a:xfrm>
            <a:off x="3947072" y="548640"/>
            <a:ext cx="1127716" cy="28575"/>
          </a:xfrm>
          <a:prstGeom prst="rect">
            <a:avLst/>
          </a:prstGeom>
          <a:solidFill>
            <a:srgbClr val="B2182B"/>
          </a:solidFill>
          <a:ln>
            <a:noFill/>
          </a:ln>
        </p:spPr>
        <p:txBody>
          <a:bodyPr rtlCol="0" anchor="ctr"/>
          <a:lstStyle/>
          <a:p>
            <a:pPr algn="ct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14 explainable features, one simple classifier</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pic>
        <p:nvPicPr>
          <p:cNvPr id="13" name="Picture 12" descr="feature_anatomy.png"/>
          <p:cNvPicPr>
            <a:picLocks noChangeAspect="1"/>
          </p:cNvPicPr>
          <p:nvPr/>
        </p:nvPicPr>
        <p:blipFill>
          <a:blip r:embed="rId2"/>
          <a:stretch>
            <a:fillRect/>
          </a:stretch>
        </p:blipFill>
        <p:spPr>
          <a:xfrm>
            <a:off x="548640" y="1615713"/>
            <a:ext cx="11094415" cy="2849333"/>
          </a:xfrm>
          <a:prstGeom prst="rect">
            <a:avLst/>
          </a:prstGeom>
          <a:ln w="9525">
            <a:solidFill>
              <a:srgbClr val="D5DBDB"/>
            </a:solidFill>
          </a:ln>
        </p:spPr>
      </p:pic>
      <p:sp>
        <p:nvSpPr>
          <p:cNvPr id="14" name="Rounded Rectangle 13"/>
          <p:cNvSpPr/>
          <p:nvPr/>
        </p:nvSpPr>
        <p:spPr>
          <a:xfrm>
            <a:off x="548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14 features</a:t>
            </a:r>
          </a:p>
          <a:p>
            <a:pPr algn="ctr"/>
            <a:r>
              <a:rPr sz="1200" b="0">
                <a:solidFill>
                  <a:srgbClr val="5D6D7E"/>
                </a:solidFill>
                <a:latin typeface="Arial"/>
              </a:rPr>
              <a:t>per image</a:t>
            </a:r>
          </a:p>
        </p:txBody>
      </p:sp>
      <p:cxnSp>
        <p:nvCxnSpPr>
          <p:cNvPr id="15" name="Connector 14"/>
          <p:cNvCxnSpPr/>
          <p:nvPr/>
        </p:nvCxnSpPr>
        <p:spPr>
          <a:xfrm>
            <a:off x="2542032" y="5417820"/>
            <a:ext cx="265176" cy="0"/>
          </a:xfrm>
          <a:prstGeom prst="line">
            <a:avLst/>
          </a:prstGeom>
          <a:ln w="22225">
            <a:solidFill>
              <a:srgbClr val="5D6D7E"/>
            </a:solidFill>
            <a:tailEnd type="triangle" w="med" len="med"/>
          </a:ln>
        </p:spPr>
      </p:cxnSp>
      <p:sp>
        <p:nvSpPr>
          <p:cNvPr id="16" name="Rounded Rectangle 15"/>
          <p:cNvSpPr/>
          <p:nvPr/>
        </p:nvSpPr>
        <p:spPr>
          <a:xfrm>
            <a:off x="2834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Standardise</a:t>
            </a:r>
          </a:p>
          <a:p>
            <a:pPr algn="ctr"/>
            <a:r>
              <a:rPr sz="1200" b="0">
                <a:solidFill>
                  <a:srgbClr val="5D6D7E"/>
                </a:solidFill>
                <a:latin typeface="Arial"/>
              </a:rPr>
              <a:t>fit on train only</a:t>
            </a:r>
          </a:p>
        </p:txBody>
      </p:sp>
      <p:cxnSp>
        <p:nvCxnSpPr>
          <p:cNvPr id="17" name="Connector 16"/>
          <p:cNvCxnSpPr/>
          <p:nvPr/>
        </p:nvCxnSpPr>
        <p:spPr>
          <a:xfrm>
            <a:off x="4828032" y="5417820"/>
            <a:ext cx="265176" cy="0"/>
          </a:xfrm>
          <a:prstGeom prst="line">
            <a:avLst/>
          </a:prstGeom>
          <a:ln w="22225">
            <a:solidFill>
              <a:srgbClr val="5D6D7E"/>
            </a:solidFill>
            <a:tailEnd type="triangle" w="med" len="med"/>
          </a:ln>
        </p:spPr>
      </p:cxnSp>
      <p:sp>
        <p:nvSpPr>
          <p:cNvPr id="18" name="Rounded Rectangle 17"/>
          <p:cNvSpPr/>
          <p:nvPr/>
        </p:nvSpPr>
        <p:spPr>
          <a:xfrm>
            <a:off x="5120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Logistic regression</a:t>
            </a:r>
          </a:p>
          <a:p>
            <a:pPr algn="ctr"/>
            <a:r>
              <a:rPr sz="1200" b="0">
                <a:solidFill>
                  <a:srgbClr val="5D6D7E"/>
                </a:solidFill>
                <a:latin typeface="Arial"/>
              </a:rPr>
              <a:t>L2, C chosen on val</a:t>
            </a:r>
          </a:p>
        </p:txBody>
      </p:sp>
      <p:cxnSp>
        <p:nvCxnSpPr>
          <p:cNvPr id="19" name="Connector 18"/>
          <p:cNvCxnSpPr/>
          <p:nvPr/>
        </p:nvCxnSpPr>
        <p:spPr>
          <a:xfrm>
            <a:off x="7114032" y="5417820"/>
            <a:ext cx="265176" cy="0"/>
          </a:xfrm>
          <a:prstGeom prst="line">
            <a:avLst/>
          </a:prstGeom>
          <a:ln w="22225">
            <a:solidFill>
              <a:srgbClr val="5D6D7E"/>
            </a:solidFill>
            <a:tailEnd type="triangle" w="med" len="med"/>
          </a:ln>
        </p:spPr>
      </p:cxnSp>
      <p:sp>
        <p:nvSpPr>
          <p:cNvPr id="20" name="Rounded Rectangle 19"/>
          <p:cNvSpPr/>
          <p:nvPr/>
        </p:nvSpPr>
        <p:spPr>
          <a:xfrm>
            <a:off x="7406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Threshold</a:t>
            </a:r>
          </a:p>
          <a:p>
            <a:pPr algn="ctr"/>
            <a:r>
              <a:rPr sz="1200" b="0">
                <a:solidFill>
                  <a:srgbClr val="5D6D7E"/>
                </a:solidFill>
                <a:latin typeface="Arial"/>
              </a:rPr>
              <a:t>best val balanced acc.</a:t>
            </a:r>
          </a:p>
        </p:txBody>
      </p:sp>
      <p:cxnSp>
        <p:nvCxnSpPr>
          <p:cNvPr id="21" name="Connector 20"/>
          <p:cNvCxnSpPr/>
          <p:nvPr/>
        </p:nvCxnSpPr>
        <p:spPr>
          <a:xfrm>
            <a:off x="9400032" y="5417820"/>
            <a:ext cx="265176" cy="0"/>
          </a:xfrm>
          <a:prstGeom prst="line">
            <a:avLst/>
          </a:prstGeom>
          <a:ln w="22225">
            <a:solidFill>
              <a:srgbClr val="5D6D7E"/>
            </a:solidFill>
            <a:tailEnd type="triangle" w="med" len="med"/>
          </a:ln>
        </p:spPr>
      </p:cxnSp>
      <p:sp>
        <p:nvSpPr>
          <p:cNvPr id="22" name="Rounded Rectangle 21"/>
          <p:cNvSpPr/>
          <p:nvPr/>
        </p:nvSpPr>
        <p:spPr>
          <a:xfrm>
            <a:off x="9692640" y="5029200"/>
            <a:ext cx="1965960" cy="777240"/>
          </a:xfrm>
          <a:prstGeom prst="roundRect">
            <a:avLst>
              <a:gd name="adj" fmla="val 12000"/>
            </a:avLst>
          </a:prstGeom>
          <a:solidFill>
            <a:srgbClr val="FFFFFF"/>
          </a:solidFill>
          <a:ln w="19050">
            <a:solidFill>
              <a:srgbClr val="B2182B"/>
            </a:solidFill>
          </a:ln>
          <a:effectLst/>
        </p:spPr>
        <p:txBody>
          <a:bodyPr rtlCol="0" anchor="ctr" wrap="square" lIns="73152" rIns="73152" tIns="27432" bIns="27432"/>
          <a:lstStyle/>
          <a:p>
            <a:pPr algn="ctr"/>
            <a:r>
              <a:rPr sz="1500" b="1">
                <a:solidFill>
                  <a:srgbClr val="1F3A5F"/>
                </a:solidFill>
                <a:latin typeface="Arial"/>
              </a:rPr>
              <a:t>Test AUROC</a:t>
            </a:r>
          </a:p>
          <a:p>
            <a:pPr algn="ctr"/>
            <a:r>
              <a:rPr sz="1200" b="0">
                <a:solidFill>
                  <a:srgbClr val="5D6D7E"/>
                </a:solidFill>
                <a:latin typeface="Arial"/>
              </a:rPr>
              <a:t>+ 95% bootstrap CI</a:t>
            </a:r>
          </a:p>
        </p:txBody>
      </p:sp>
      <p:sp>
        <p:nvSpPr>
          <p:cNvPr id="23" name="TextBox 22"/>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4" name="TextBox 23"/>
          <p:cNvSpPr txBox="1"/>
          <p:nvPr/>
        </p:nvSpPr>
        <p:spPr>
          <a:xfrm>
            <a:off x="10362895" y="6510528"/>
            <a:ext cx="1280160" cy="237744"/>
          </a:xfrm>
          <a:prstGeom prst="rect">
            <a:avLst/>
          </a:prstGeom>
          <a:noFill/>
        </p:spPr>
        <p:txBody>
          <a:bodyPr wrap="square" lIns="0" rIns="0" tIns="0" bIns="0">
            <a:spAutoFit/>
          </a:bodyPr>
          <a:lstStyle/>
          <a:p>
            <a:r>
              <a:t>5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1" i="0">
                <a:solidFill>
                  <a:srgbClr val="B2182B"/>
                </a:solidFill>
                <a:latin typeface="Arial"/>
              </a:rPr>
              <a:t>EXPERIMENTS</a:t>
            </a:r>
          </a:p>
        </p:txBody>
      </p:sp>
      <p:sp>
        <p:nvSpPr>
          <p:cNvPr id="6" name="Rectangle 5"/>
          <p:cNvSpPr/>
          <p:nvPr/>
        </p:nvSpPr>
        <p:spPr>
          <a:xfrm>
            <a:off x="5531989" y="548640"/>
            <a:ext cx="1127716" cy="28575"/>
          </a:xfrm>
          <a:prstGeom prst="rect">
            <a:avLst/>
          </a:prstGeom>
          <a:solidFill>
            <a:srgbClr val="B2182B"/>
          </a:solidFill>
          <a:ln>
            <a:noFill/>
          </a:ln>
        </p:spPr>
        <p:txBody>
          <a:bodyPr rtlCol="0" anchor="ctr"/>
          <a:lstStyle/>
          <a:p>
            <a:pPr algn="ct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Experiments: what each one tests</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graphicFrame>
        <p:nvGraphicFramePr>
          <p:cNvPr id="13" name="Table 12"/>
          <p:cNvGraphicFramePr>
            <a:graphicFrameLocks noGrp="1"/>
          </p:cNvGraphicFramePr>
          <p:nvPr/>
        </p:nvGraphicFramePr>
        <p:xfrm>
          <a:off x="548640" y="1371600"/>
          <a:ext cx="6949440" cy="3008376"/>
        </p:xfrm>
        <a:graphic>
          <a:graphicData uri="http://schemas.openxmlformats.org/drawingml/2006/table">
            <a:tbl>
              <a:tblPr firstRow="1" bandRow="1">
                <a:tableStyleId>{5C22544A-7EE6-4342-B048-85BDC9FD1C3A}</a:tableStyleId>
              </a:tblPr>
              <a:tblGrid>
                <a:gridCol w="548640"/>
                <a:gridCol w="2057400"/>
                <a:gridCol w="1737360"/>
                <a:gridCol w="2606040"/>
              </a:tblGrid>
              <a:tr h="429768">
                <a:tc>
                  <a:txBody>
                    <a:bodyPr wrap="square"/>
                    <a:lstStyle/>
                    <a:p>
                      <a:pPr algn="l"/>
                    </a:p>
                  </a:txBody>
                  <a:tcPr marL="109728" marR="109728" marT="54864" marB="54864" anchor="ctr">
                    <a:lnB w="9525" cap="flat">
                      <a:solidFill>
                        <a:srgbClr val="D5DBDB"/>
                      </a:solidFill>
                    </a:lnB>
                    <a:solidFill>
                      <a:srgbClr val="F2F5F8"/>
                    </a:solidFill>
                  </a:tcPr>
                </a:tc>
                <a:tc>
                  <a:txBody>
                    <a:bodyPr wrap="square"/>
                    <a:lstStyle/>
                    <a:p>
                      <a:pPr algn="l"/>
                      <a:r>
                        <a:rPr sz="1250" b="1">
                          <a:solidFill>
                            <a:srgbClr val="5D6D7E"/>
                          </a:solidFill>
                          <a:latin typeface="Arial"/>
                        </a:rPr>
                        <a:t>Images</a:t>
                      </a:r>
                    </a:p>
                  </a:txBody>
                  <a:tcPr marL="109728" marR="109728" marT="54864" marB="54864" anchor="ctr">
                    <a:lnB w="9525" cap="flat">
                      <a:solidFill>
                        <a:srgbClr val="D5DBDB"/>
                      </a:solidFill>
                    </a:lnB>
                    <a:solidFill>
                      <a:srgbClr val="F2F5F8"/>
                    </a:solidFill>
                  </a:tcPr>
                </a:tc>
                <a:tc>
                  <a:txBody>
                    <a:bodyPr wrap="square"/>
                    <a:lstStyle/>
                    <a:p>
                      <a:pPr algn="l"/>
                      <a:r>
                        <a:rPr sz="1250" b="1">
                          <a:solidFill>
                            <a:srgbClr val="5D6D7E"/>
                          </a:solidFill>
                          <a:latin typeface="Arial"/>
                        </a:rPr>
                        <a:t>Trained on</a:t>
                      </a:r>
                    </a:p>
                  </a:txBody>
                  <a:tcPr marL="109728" marR="109728" marT="54864" marB="54864" anchor="ctr">
                    <a:lnB w="9525" cap="flat">
                      <a:solidFill>
                        <a:srgbClr val="D5DBDB"/>
                      </a:solidFill>
                    </a:lnB>
                    <a:solidFill>
                      <a:srgbClr val="F2F5F8"/>
                    </a:solidFill>
                  </a:tcPr>
                </a:tc>
                <a:tc>
                  <a:txBody>
                    <a:bodyPr wrap="square"/>
                    <a:lstStyle/>
                    <a:p>
                      <a:pPr algn="l"/>
                      <a:r>
                        <a:rPr sz="1250" b="1">
                          <a:solidFill>
                            <a:srgbClr val="5D6D7E"/>
                          </a:solidFill>
                          <a:latin typeface="Arial"/>
                        </a:rPr>
                        <a:t>Why it matters</a:t>
                      </a:r>
                    </a:p>
                  </a:txBody>
                  <a:tcPr marL="109728" marR="109728" marT="54864" marB="54864" anchor="ctr">
                    <a:lnB w="9525" cap="flat">
                      <a:solidFill>
                        <a:srgbClr val="D5DBDB"/>
                      </a:solidFill>
                    </a:lnB>
                    <a:solidFill>
                      <a:srgbClr val="F2F5F8"/>
                    </a:solidFill>
                  </a:tcPr>
                </a:tc>
              </a:tr>
              <a:tr h="429768">
                <a:tc>
                  <a:txBody>
                    <a:bodyPr wrap="square"/>
                    <a:lstStyle/>
                    <a:p>
                      <a:pPr algn="l"/>
                      <a:r>
                        <a:rPr sz="1350" b="1">
                          <a:solidFill>
                            <a:srgbClr val="1C2833"/>
                          </a:solidFill>
                          <a:latin typeface="Arial"/>
                        </a:rPr>
                        <a:t>E1</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clean (C0)</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all 3 generators</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is there any signal?</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E2</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reals JPEG, fakes PNG</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all 3</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how an unfair pipeline cheats</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E3</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both JPEG 90 / 75 / 50</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all 3</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real images are compressed</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E4</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clean (C0)</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SD v1.4 held out</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 generator never seen</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E5</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JPEG 75</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SD v1.4 held out</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both stresses (headline)</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B2182B"/>
                          </a:solidFill>
                          <a:latin typeface="Arial"/>
                        </a:rPr>
                        <a:t>R</a:t>
                      </a:r>
                    </a:p>
                  </a:txBody>
                  <a:tcPr marL="109728" marR="109728" marT="54864" marB="54864" anchor="ctr">
                    <a:lnB w="9525" cap="flat">
                      <a:solidFill>
                        <a:srgbClr val="D5DBDB"/>
                      </a:solidFill>
                    </a:lnB>
                    <a:solidFill>
                      <a:srgbClr val="FBEEF0"/>
                    </a:solidFill>
                  </a:tcPr>
                </a:tc>
                <a:tc>
                  <a:txBody>
                    <a:bodyPr wrap="square"/>
                    <a:lstStyle/>
                    <a:p>
                      <a:pPr algn="l"/>
                      <a:r>
                        <a:rPr sz="1350" b="0">
                          <a:solidFill>
                            <a:srgbClr val="B2182B"/>
                          </a:solidFill>
                          <a:latin typeface="Arial"/>
                        </a:rPr>
                        <a:t>native crop + shared 2x resize</a:t>
                      </a:r>
                    </a:p>
                  </a:txBody>
                  <a:tcPr marL="109728" marR="109728" marT="54864" marB="54864" anchor="ctr">
                    <a:lnB w="9525" cap="flat">
                      <a:solidFill>
                        <a:srgbClr val="D5DBDB"/>
                      </a:solidFill>
                    </a:lnB>
                    <a:solidFill>
                      <a:srgbClr val="FBEEF0"/>
                    </a:solidFill>
                  </a:tcPr>
                </a:tc>
                <a:tc>
                  <a:txBody>
                    <a:bodyPr wrap="square"/>
                    <a:lstStyle/>
                    <a:p>
                      <a:pPr algn="l"/>
                      <a:r>
                        <a:rPr sz="1350" b="0">
                          <a:solidFill>
                            <a:srgbClr val="B2182B"/>
                          </a:solidFill>
                          <a:latin typeface="Arial"/>
                        </a:rPr>
                        <a:t>as E1 and E4</a:t>
                      </a:r>
                    </a:p>
                  </a:txBody>
                  <a:tcPr marL="109728" marR="109728" marT="54864" marB="54864" anchor="ctr">
                    <a:lnB w="9525" cap="flat">
                      <a:solidFill>
                        <a:srgbClr val="D5DBDB"/>
                      </a:solidFill>
                    </a:lnB>
                    <a:solidFill>
                      <a:srgbClr val="FBEEF0"/>
                    </a:solidFill>
                  </a:tcPr>
                </a:tc>
                <a:tc>
                  <a:txBody>
                    <a:bodyPr wrap="square"/>
                    <a:lstStyle/>
                    <a:p>
                      <a:pPr algn="l"/>
                      <a:r>
                        <a:rPr sz="1350" b="0">
                          <a:solidFill>
                            <a:srgbClr val="B2182B"/>
                          </a:solidFill>
                          <a:latin typeface="Arial"/>
                        </a:rPr>
                        <a:t>is it resampling history?</a:t>
                      </a:r>
                    </a:p>
                  </a:txBody>
                  <a:tcPr marL="109728" marR="109728" marT="54864" marB="54864" anchor="ctr">
                    <a:lnB w="9525" cap="flat">
                      <a:solidFill>
                        <a:srgbClr val="D5DBDB"/>
                      </a:solidFill>
                    </a:lnB>
                    <a:solidFill>
                      <a:srgbClr val="FBEEF0"/>
                    </a:solidFill>
                  </a:tcPr>
                </a:tc>
              </a:tr>
            </a:tbl>
          </a:graphicData>
        </a:graphic>
      </p:graphicFrame>
      <p:pic>
        <p:nvPicPr>
          <p:cNvPr id="14" name="Picture 13" descr="jpeg_strip.png"/>
          <p:cNvPicPr>
            <a:picLocks noChangeAspect="1"/>
          </p:cNvPicPr>
          <p:nvPr/>
        </p:nvPicPr>
        <p:blipFill>
          <a:blip r:embed="rId2"/>
          <a:stretch>
            <a:fillRect/>
          </a:stretch>
        </p:blipFill>
        <p:spPr>
          <a:xfrm>
            <a:off x="1326442" y="4663440"/>
            <a:ext cx="5393835" cy="1691640"/>
          </a:xfrm>
          <a:prstGeom prst="rect">
            <a:avLst/>
          </a:prstGeom>
          <a:ln w="9525">
            <a:solidFill>
              <a:srgbClr val="D5DBDB"/>
            </a:solidFill>
          </a:ln>
        </p:spPr>
      </p:pic>
      <p:sp>
        <p:nvSpPr>
          <p:cNvPr id="15" name="TextBox 14"/>
          <p:cNvSpPr txBox="1"/>
          <p:nvPr/>
        </p:nvSpPr>
        <p:spPr>
          <a:xfrm>
            <a:off x="7772400" y="1417320"/>
            <a:ext cx="3886200" cy="274320"/>
          </a:xfrm>
          <a:prstGeom prst="rect">
            <a:avLst/>
          </a:prstGeom>
          <a:noFill/>
        </p:spPr>
        <p:txBody>
          <a:bodyPr wrap="square" lIns="0" rIns="0" tIns="0" bIns="0">
            <a:spAutoFit/>
          </a:bodyPr>
          <a:lstStyle/>
          <a:p>
            <a:pPr algn="l"/>
            <a:r>
              <a:rPr sz="1350" b="1" i="0">
                <a:solidFill>
                  <a:srgbClr val="B2182B"/>
                </a:solidFill>
                <a:latin typeface="Arial"/>
              </a:rPr>
              <a:t>R: exploratory crop + resampling</a:t>
            </a:r>
          </a:p>
        </p:txBody>
      </p:sp>
      <p:sp>
        <p:nvSpPr>
          <p:cNvPr id="16" name="Rounded Rectangle 15"/>
          <p:cNvSpPr/>
          <p:nvPr/>
        </p:nvSpPr>
        <p:spPr>
          <a:xfrm>
            <a:off x="7772400" y="1828800"/>
            <a:ext cx="3886200" cy="530352"/>
          </a:xfrm>
          <a:prstGeom prst="roundRect">
            <a:avLst>
              <a:gd name="adj" fmla="val 12000"/>
            </a:avLst>
          </a:prstGeom>
          <a:solidFill>
            <a:srgbClr val="FFFFFF"/>
          </a:solidFill>
          <a:ln w="15875">
            <a:solidFill>
              <a:srgbClr val="D5DBDB"/>
            </a:solidFill>
          </a:ln>
          <a:effectLst/>
        </p:spPr>
        <p:txBody>
          <a:bodyPr rtlCol="0" anchor="ctr" wrap="square" lIns="73152" rIns="73152" tIns="27432" bIns="27432"/>
          <a:lstStyle/>
          <a:p>
            <a:pPr algn="ctr"/>
            <a:r>
              <a:rPr sz="1400" b="1">
                <a:solidFill>
                  <a:srgbClr val="1C2833"/>
                </a:solidFill>
                <a:latin typeface="Arial"/>
              </a:rPr>
              <a:t>native image</a:t>
            </a:r>
          </a:p>
          <a:p>
            <a:pPr algn="ctr"/>
            <a:r>
              <a:rPr sz="1150" b="0">
                <a:solidFill>
                  <a:srgbClr val="5D6D7E"/>
                </a:solidFill>
                <a:latin typeface="Arial"/>
              </a:rPr>
              <a:t>no resize</a:t>
            </a:r>
          </a:p>
        </p:txBody>
      </p:sp>
      <p:cxnSp>
        <p:nvCxnSpPr>
          <p:cNvPr id="17" name="Connector 16"/>
          <p:cNvCxnSpPr/>
          <p:nvPr/>
        </p:nvCxnSpPr>
        <p:spPr>
          <a:xfrm>
            <a:off x="9710928" y="2359152"/>
            <a:ext cx="0" cy="182880"/>
          </a:xfrm>
          <a:prstGeom prst="line">
            <a:avLst/>
          </a:prstGeom>
          <a:ln w="22225">
            <a:solidFill>
              <a:srgbClr val="5D6D7E"/>
            </a:solidFill>
            <a:tailEnd type="triangle" w="med" len="med"/>
          </a:ln>
        </p:spPr>
      </p:cxnSp>
      <p:sp>
        <p:nvSpPr>
          <p:cNvPr id="18" name="Rounded Rectangle 17"/>
          <p:cNvSpPr/>
          <p:nvPr/>
        </p:nvSpPr>
        <p:spPr>
          <a:xfrm>
            <a:off x="7772400" y="2542032"/>
            <a:ext cx="3886200" cy="530352"/>
          </a:xfrm>
          <a:prstGeom prst="roundRect">
            <a:avLst>
              <a:gd name="adj" fmla="val 12000"/>
            </a:avLst>
          </a:prstGeom>
          <a:solidFill>
            <a:srgbClr val="FFFFFF"/>
          </a:solidFill>
          <a:ln w="15875">
            <a:solidFill>
              <a:srgbClr val="D5DBDB"/>
            </a:solidFill>
          </a:ln>
          <a:effectLst/>
        </p:spPr>
        <p:txBody>
          <a:bodyPr rtlCol="0" anchor="ctr" wrap="square" lIns="73152" rIns="73152" tIns="27432" bIns="27432"/>
          <a:lstStyle/>
          <a:p>
            <a:pPr algn="ctr"/>
            <a:r>
              <a:rPr sz="1400" b="1">
                <a:solidFill>
                  <a:srgbClr val="1C2833"/>
                </a:solidFill>
                <a:latin typeface="Arial"/>
              </a:rPr>
              <a:t>crop 128 x 128</a:t>
            </a:r>
          </a:p>
          <a:p>
            <a:pPr algn="ctr"/>
            <a:r>
              <a:rPr sz="1150" b="0">
                <a:solidFill>
                  <a:srgbClr val="5D6D7E"/>
                </a:solidFill>
                <a:latin typeface="Arial"/>
              </a:rPr>
              <a:t>native pixels</a:t>
            </a:r>
          </a:p>
        </p:txBody>
      </p:sp>
      <p:cxnSp>
        <p:nvCxnSpPr>
          <p:cNvPr id="19" name="Connector 18"/>
          <p:cNvCxnSpPr/>
          <p:nvPr/>
        </p:nvCxnSpPr>
        <p:spPr>
          <a:xfrm>
            <a:off x="9710928" y="3072384"/>
            <a:ext cx="0" cy="182880"/>
          </a:xfrm>
          <a:prstGeom prst="line">
            <a:avLst/>
          </a:prstGeom>
          <a:ln w="22225">
            <a:solidFill>
              <a:srgbClr val="5D6D7E"/>
            </a:solidFill>
            <a:tailEnd type="triangle" w="med" len="med"/>
          </a:ln>
        </p:spPr>
      </p:cxnSp>
      <p:sp>
        <p:nvSpPr>
          <p:cNvPr id="20" name="Rounded Rectangle 19"/>
          <p:cNvSpPr/>
          <p:nvPr/>
        </p:nvSpPr>
        <p:spPr>
          <a:xfrm>
            <a:off x="7772400" y="3255264"/>
            <a:ext cx="3886200" cy="530352"/>
          </a:xfrm>
          <a:prstGeom prst="roundRect">
            <a:avLst>
              <a:gd name="adj" fmla="val 12000"/>
            </a:avLst>
          </a:prstGeom>
          <a:solidFill>
            <a:srgbClr val="FFFFFF"/>
          </a:solidFill>
          <a:ln w="15875">
            <a:solidFill>
              <a:srgbClr val="B2182B"/>
            </a:solidFill>
          </a:ln>
          <a:effectLst/>
        </p:spPr>
        <p:txBody>
          <a:bodyPr rtlCol="0" anchor="ctr" wrap="square" lIns="73152" rIns="73152" tIns="27432" bIns="27432"/>
          <a:lstStyle/>
          <a:p>
            <a:pPr algn="ctr"/>
            <a:r>
              <a:rPr sz="1400" b="1">
                <a:solidFill>
                  <a:srgbClr val="1C2833"/>
                </a:solidFill>
                <a:latin typeface="Arial"/>
              </a:rPr>
              <a:t>enlarge 2x</a:t>
            </a:r>
          </a:p>
          <a:p>
            <a:pPr algn="ctr"/>
            <a:r>
              <a:rPr sz="1150" b="0">
                <a:solidFill>
                  <a:srgbClr val="5D6D7E"/>
                </a:solidFill>
                <a:latin typeface="Arial"/>
              </a:rPr>
              <a:t>bicubic, all classes</a:t>
            </a:r>
          </a:p>
        </p:txBody>
      </p:sp>
      <p:sp>
        <p:nvSpPr>
          <p:cNvPr id="21" name="TextBox 20"/>
          <p:cNvSpPr txBox="1"/>
          <p:nvPr/>
        </p:nvSpPr>
        <p:spPr>
          <a:xfrm>
            <a:off x="7772400" y="4114800"/>
            <a:ext cx="3886200" cy="1463040"/>
          </a:xfrm>
          <a:prstGeom prst="rect">
            <a:avLst/>
          </a:prstGeom>
          <a:noFill/>
        </p:spPr>
        <p:txBody>
          <a:bodyPr wrap="square" lIns="0" rIns="0" tIns="0" bIns="0">
            <a:spAutoFit/>
          </a:bodyPr>
          <a:lstStyle/>
          <a:p>
            <a:pPr algn="l">
              <a:lnSpc>
                <a:spcPct val="120000"/>
              </a:lnSpc>
            </a:pPr>
            <a:r>
              <a:rPr sz="1300" b="0" i="0">
                <a:solidFill>
                  <a:srgbClr val="5D6D7E"/>
                </a:solidFill>
                <a:latin typeface="Arial"/>
              </a:rPr>
              <a:t>E1–E5 were fixed in advance.</a:t>
            </a:r>
          </a:p>
          <a:p>
            <a:pPr algn="l">
              <a:lnSpc>
                <a:spcPct val="120000"/>
              </a:lnSpc>
            </a:pPr>
            <a:r>
              <a:rPr sz="1300" b="0" i="0">
                <a:solidFill>
                  <a:srgbClr val="5D6D7E"/>
                </a:solidFill>
                <a:latin typeface="Arial"/>
              </a:rPr>
              <a:t>R was added after the results: exploratory.</a:t>
            </a:r>
          </a:p>
          <a:p>
            <a:pPr algn="l">
              <a:lnSpc>
                <a:spcPct val="120000"/>
              </a:lnSpc>
            </a:pPr>
            <a:r>
              <a:rPr sz="1300" b="0" i="0">
                <a:solidFill>
                  <a:srgbClr val="5D6D7E"/>
                </a:solidFill>
                <a:latin typeface="Arial"/>
              </a:rPr>
              <a:t>BigGAN (128 px) is pixel-identical in C0 and R.</a:t>
            </a:r>
          </a:p>
        </p:txBody>
      </p:sp>
      <p:sp>
        <p:nvSpPr>
          <p:cNvPr id="22" name="TextBox 21"/>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3" name="TextBox 22"/>
          <p:cNvSpPr txBox="1"/>
          <p:nvPr/>
        </p:nvSpPr>
        <p:spPr>
          <a:xfrm>
            <a:off x="10362895" y="6510528"/>
            <a:ext cx="1280160" cy="237744"/>
          </a:xfrm>
          <a:prstGeom prst="rect">
            <a:avLst/>
          </a:prstGeom>
          <a:noFill/>
        </p:spPr>
        <p:txBody>
          <a:bodyPr wrap="square" lIns="0" rIns="0" tIns="0" bIns="0">
            <a:spAutoFit/>
          </a:bodyPr>
          <a:lstStyle/>
          <a:p>
            <a:r>
              <a:t>6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Results: combined wins pooled — not everywhere</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pic>
        <p:nvPicPr>
          <p:cNvPr id="13" name="Picture 12" descr="auroc_matrix.png"/>
          <p:cNvPicPr>
            <a:picLocks noChangeAspect="1"/>
          </p:cNvPicPr>
          <p:nvPr/>
        </p:nvPicPr>
        <p:blipFill>
          <a:blip r:embed="rId2"/>
          <a:stretch>
            <a:fillRect/>
          </a:stretch>
        </p:blipFill>
        <p:spPr>
          <a:xfrm>
            <a:off x="548640" y="1570362"/>
            <a:ext cx="6675120" cy="3872724"/>
          </a:xfrm>
          <a:prstGeom prst="rect">
            <a:avLst/>
          </a:prstGeom>
          <a:ln w="9525">
            <a:solidFill>
              <a:srgbClr val="D5DBDB"/>
            </a:solidFill>
          </a:ln>
        </p:spPr>
      </p:pic>
      <p:sp>
        <p:nvSpPr>
          <p:cNvPr id="14" name="TextBox 13"/>
          <p:cNvSpPr txBox="1"/>
          <p:nvPr/>
        </p:nvSpPr>
        <p:spPr>
          <a:xfrm>
            <a:off x="548640" y="5552814"/>
            <a:ext cx="6675120" cy="621792"/>
          </a:xfrm>
          <a:prstGeom prst="rect">
            <a:avLst/>
          </a:prstGeom>
          <a:noFill/>
        </p:spPr>
        <p:txBody>
          <a:bodyPr wrap="square" lIns="0" rIns="0" tIns="0" bIns="0">
            <a:spAutoFit/>
          </a:bodyPr>
          <a:lstStyle/>
          <a:p>
            <a:pPr algn="ctr">
              <a:lnSpc>
                <a:spcPct val="105000"/>
              </a:lnSpc>
            </a:pPr>
            <a:r>
              <a:rPr sz="1200" b="0" i="0">
                <a:solidFill>
                  <a:srgbClr val="5D6D7E"/>
                </a:solidFill>
                <a:latin typeface="Arial"/>
              </a:rPr>
              <a:t>Test AUROC (0.5 = chance). E5: SD v1.4 never seen in training, JPEG 75.</a:t>
            </a:r>
          </a:p>
          <a:p>
            <a:pPr algn="ctr">
              <a:lnSpc>
                <a:spcPct val="105000"/>
              </a:lnSpc>
            </a:pPr>
            <a:r>
              <a:rPr sz="1200" b="0" i="0">
                <a:solidFill>
                  <a:srgbClr val="5D6D7E"/>
                </a:solidFill>
                <a:latin typeface="Arial"/>
              </a:rPr>
              <a:t>Source: results/*.csv, results/diagnostics/ (config 87f5489e9d59)</a:t>
            </a:r>
          </a:p>
        </p:txBody>
      </p:sp>
      <p:sp>
        <p:nvSpPr>
          <p:cNvPr id="15" name="TextBox 14"/>
          <p:cNvSpPr txBox="1"/>
          <p:nvPr/>
        </p:nvSpPr>
        <p:spPr>
          <a:xfrm>
            <a:off x="7589520" y="1463040"/>
            <a:ext cx="4023360" cy="320040"/>
          </a:xfrm>
          <a:prstGeom prst="rect">
            <a:avLst/>
          </a:prstGeom>
          <a:noFill/>
        </p:spPr>
        <p:txBody>
          <a:bodyPr wrap="square" lIns="0" rIns="0" tIns="0" bIns="0">
            <a:spAutoFit/>
          </a:bodyPr>
          <a:lstStyle/>
          <a:p>
            <a:pPr algn="l"/>
            <a:r>
              <a:rPr sz="1500" b="1" i="0">
                <a:solidFill>
                  <a:srgbClr val="1F3A5F"/>
                </a:solidFill>
                <a:latin typeface="Arial"/>
              </a:rPr>
              <a:t>Controls (matched conditions)</a:t>
            </a:r>
          </a:p>
        </p:txBody>
      </p:sp>
      <p:sp>
        <p:nvSpPr>
          <p:cNvPr id="16" name="TextBox 15"/>
          <p:cNvSpPr txBox="1"/>
          <p:nvPr/>
        </p:nvSpPr>
        <p:spPr>
          <a:xfrm>
            <a:off x="7589520" y="1920240"/>
            <a:ext cx="2560320" cy="320040"/>
          </a:xfrm>
          <a:prstGeom prst="rect">
            <a:avLst/>
          </a:prstGeom>
          <a:noFill/>
        </p:spPr>
        <p:txBody>
          <a:bodyPr wrap="square" lIns="0" rIns="0" tIns="0" bIns="0">
            <a:spAutoFit/>
          </a:bodyPr>
          <a:lstStyle/>
          <a:p>
            <a:pPr algn="l"/>
            <a:r>
              <a:rPr sz="1400" b="0" i="0">
                <a:solidFill>
                  <a:srgbClr val="1C2833"/>
                </a:solidFill>
                <a:latin typeface="Arial"/>
              </a:rPr>
              <a:t>Always guess</a:t>
            </a:r>
          </a:p>
        </p:txBody>
      </p:sp>
      <p:sp>
        <p:nvSpPr>
          <p:cNvPr id="17" name="TextBox 16"/>
          <p:cNvSpPr txBox="1"/>
          <p:nvPr/>
        </p:nvSpPr>
        <p:spPr>
          <a:xfrm>
            <a:off x="10241280" y="1920240"/>
            <a:ext cx="1371600" cy="320040"/>
          </a:xfrm>
          <a:prstGeom prst="rect">
            <a:avLst/>
          </a:prstGeom>
          <a:noFill/>
        </p:spPr>
        <p:txBody>
          <a:bodyPr wrap="square" lIns="0" rIns="0" tIns="0" bIns="0">
            <a:spAutoFit/>
          </a:bodyPr>
          <a:lstStyle/>
          <a:p>
            <a:pPr algn="r"/>
            <a:r>
              <a:rPr sz="1400" b="1" i="0">
                <a:solidFill>
                  <a:srgbClr val="1C2833"/>
                </a:solidFill>
                <a:latin typeface="Arial"/>
              </a:rPr>
              <a:t>0.500</a:t>
            </a:r>
          </a:p>
        </p:txBody>
      </p:sp>
      <p:sp>
        <p:nvSpPr>
          <p:cNvPr id="18" name="TextBox 17"/>
          <p:cNvSpPr txBox="1"/>
          <p:nvPr/>
        </p:nvSpPr>
        <p:spPr>
          <a:xfrm>
            <a:off x="7589520" y="2395728"/>
            <a:ext cx="2560320" cy="320040"/>
          </a:xfrm>
          <a:prstGeom prst="rect">
            <a:avLst/>
          </a:prstGeom>
          <a:noFill/>
        </p:spPr>
        <p:txBody>
          <a:bodyPr wrap="square" lIns="0" rIns="0" tIns="0" bIns="0">
            <a:spAutoFit/>
          </a:bodyPr>
          <a:lstStyle/>
          <a:p>
            <a:pPr algn="l"/>
            <a:r>
              <a:rPr sz="1400" b="0" i="0">
                <a:solidFill>
                  <a:srgbClr val="1C2833"/>
                </a:solidFill>
                <a:latin typeface="Arial"/>
              </a:rPr>
              <a:t>File history (matched only)</a:t>
            </a:r>
          </a:p>
        </p:txBody>
      </p:sp>
      <p:sp>
        <p:nvSpPr>
          <p:cNvPr id="19" name="TextBox 18"/>
          <p:cNvSpPr txBox="1"/>
          <p:nvPr/>
        </p:nvSpPr>
        <p:spPr>
          <a:xfrm>
            <a:off x="10241280" y="2395728"/>
            <a:ext cx="1371600" cy="320040"/>
          </a:xfrm>
          <a:prstGeom prst="rect">
            <a:avLst/>
          </a:prstGeom>
          <a:noFill/>
        </p:spPr>
        <p:txBody>
          <a:bodyPr wrap="square" lIns="0" rIns="0" tIns="0" bIns="0">
            <a:spAutoFit/>
          </a:bodyPr>
          <a:lstStyle/>
          <a:p>
            <a:pPr algn="r"/>
            <a:r>
              <a:rPr sz="1400" b="1" i="0">
                <a:solidFill>
                  <a:srgbClr val="1C2833"/>
                </a:solidFill>
                <a:latin typeface="Arial"/>
              </a:rPr>
              <a:t>0.500</a:t>
            </a:r>
          </a:p>
        </p:txBody>
      </p:sp>
      <p:sp>
        <p:nvSpPr>
          <p:cNvPr id="20" name="TextBox 19"/>
          <p:cNvSpPr txBox="1"/>
          <p:nvPr/>
        </p:nvSpPr>
        <p:spPr>
          <a:xfrm>
            <a:off x="7589520" y="2871216"/>
            <a:ext cx="2560320" cy="320040"/>
          </a:xfrm>
          <a:prstGeom prst="rect">
            <a:avLst/>
          </a:prstGeom>
          <a:noFill/>
        </p:spPr>
        <p:txBody>
          <a:bodyPr wrap="square" lIns="0" rIns="0" tIns="0" bIns="0">
            <a:spAutoFit/>
          </a:bodyPr>
          <a:lstStyle/>
          <a:p>
            <a:pPr algn="l"/>
            <a:r>
              <a:rPr sz="1400" b="0" i="0">
                <a:solidFill>
                  <a:srgbClr val="1C2833"/>
                </a:solidFill>
                <a:latin typeface="Arial"/>
              </a:rPr>
              <a:t>Shuffled labels (×200)</a:t>
            </a:r>
          </a:p>
        </p:txBody>
      </p:sp>
      <p:sp>
        <p:nvSpPr>
          <p:cNvPr id="21" name="TextBox 20"/>
          <p:cNvSpPr txBox="1"/>
          <p:nvPr/>
        </p:nvSpPr>
        <p:spPr>
          <a:xfrm>
            <a:off x="10241280" y="2871216"/>
            <a:ext cx="1371600" cy="320040"/>
          </a:xfrm>
          <a:prstGeom prst="rect">
            <a:avLst/>
          </a:prstGeom>
          <a:noFill/>
        </p:spPr>
        <p:txBody>
          <a:bodyPr wrap="square" lIns="0" rIns="0" tIns="0" bIns="0">
            <a:spAutoFit/>
          </a:bodyPr>
          <a:lstStyle/>
          <a:p>
            <a:pPr algn="r"/>
            <a:r>
              <a:rPr sz="1400" b="1" i="0">
                <a:solidFill>
                  <a:srgbClr val="1C2833"/>
                </a:solidFill>
                <a:latin typeface="Arial"/>
              </a:rPr>
              <a:t>0.50–0.52</a:t>
            </a:r>
          </a:p>
        </p:txBody>
      </p:sp>
      <p:sp>
        <p:nvSpPr>
          <p:cNvPr id="22" name="TextBox 21"/>
          <p:cNvSpPr txBox="1"/>
          <p:nvPr/>
        </p:nvSpPr>
        <p:spPr>
          <a:xfrm>
            <a:off x="7589520" y="3346704"/>
            <a:ext cx="2560320" cy="320040"/>
          </a:xfrm>
          <a:prstGeom prst="rect">
            <a:avLst/>
          </a:prstGeom>
          <a:noFill/>
        </p:spPr>
        <p:txBody>
          <a:bodyPr wrap="square" lIns="0" rIns="0" tIns="0" bIns="0">
            <a:spAutoFit/>
          </a:bodyPr>
          <a:lstStyle/>
          <a:p>
            <a:pPr algn="l"/>
            <a:r>
              <a:rPr sz="1400" b="0" i="0">
                <a:solidFill>
                  <a:srgbClr val="1C2833"/>
                </a:solidFill>
                <a:latin typeface="Arial"/>
              </a:rPr>
              <a:t>Original file facts</a:t>
            </a:r>
          </a:p>
        </p:txBody>
      </p:sp>
      <p:sp>
        <p:nvSpPr>
          <p:cNvPr id="23" name="TextBox 22"/>
          <p:cNvSpPr txBox="1"/>
          <p:nvPr/>
        </p:nvSpPr>
        <p:spPr>
          <a:xfrm>
            <a:off x="10241280" y="3346704"/>
            <a:ext cx="1371600" cy="320040"/>
          </a:xfrm>
          <a:prstGeom prst="rect">
            <a:avLst/>
          </a:prstGeom>
          <a:noFill/>
        </p:spPr>
        <p:txBody>
          <a:bodyPr wrap="square" lIns="0" rIns="0" tIns="0" bIns="0">
            <a:spAutoFit/>
          </a:bodyPr>
          <a:lstStyle/>
          <a:p>
            <a:pPr algn="r"/>
            <a:r>
              <a:rPr sz="1400" b="1" i="0">
                <a:solidFill>
                  <a:srgbClr val="B2182B"/>
                </a:solidFill>
                <a:latin typeface="Arial"/>
              </a:rPr>
              <a:t>1.000</a:t>
            </a:r>
          </a:p>
        </p:txBody>
      </p:sp>
      <p:graphicFrame>
        <p:nvGraphicFramePr>
          <p:cNvPr id="24" name="Table 23"/>
          <p:cNvGraphicFramePr>
            <a:graphicFrameLocks noGrp="1"/>
          </p:cNvGraphicFramePr>
          <p:nvPr/>
        </p:nvGraphicFramePr>
        <p:xfrm>
          <a:off x="7589520" y="4069080"/>
          <a:ext cx="4023360" cy="1316736"/>
        </p:xfrm>
        <a:graphic>
          <a:graphicData uri="http://schemas.openxmlformats.org/drawingml/2006/table">
            <a:tbl>
              <a:tblPr firstRow="1" bandRow="1">
                <a:tableStyleId>{5C22544A-7EE6-4342-B048-85BDC9FD1C3A}</a:tableStyleId>
              </a:tblPr>
              <a:tblGrid>
                <a:gridCol w="2377440"/>
                <a:gridCol w="1645920"/>
              </a:tblGrid>
              <a:tr h="438912">
                <a:tc>
                  <a:txBody>
                    <a:bodyPr wrap="square"/>
                    <a:lstStyle/>
                    <a:p>
                      <a:pPr algn="l"/>
                      <a:r>
                        <a:rPr sz="1200" b="1">
                          <a:solidFill>
                            <a:srgbClr val="5D6D7E"/>
                          </a:solidFill>
                          <a:latin typeface="Arial"/>
                        </a:rPr>
                        <a:t>Stress</a:t>
                      </a:r>
                    </a:p>
                  </a:txBody>
                  <a:tcPr marL="109728" marR="109728" marT="54864" marB="54864" anchor="ctr">
                    <a:lnB w="9525" cap="flat">
                      <a:solidFill>
                        <a:srgbClr val="D5DBDB"/>
                      </a:solidFill>
                    </a:lnB>
                    <a:solidFill>
                      <a:srgbClr val="F2F5F8"/>
                    </a:solidFill>
                  </a:tcPr>
                </a:tc>
                <a:tc>
                  <a:txBody>
                    <a:bodyPr wrap="square"/>
                    <a:lstStyle/>
                    <a:p>
                      <a:pPr algn="ctr"/>
                      <a:r>
                        <a:rPr sz="1200" b="1">
                          <a:solidFill>
                            <a:srgbClr val="5D6D7E"/>
                          </a:solidFill>
                          <a:latin typeface="Arial"/>
                        </a:rPr>
                        <a:t>AUROC change</a:t>
                      </a:r>
                    </a:p>
                  </a:txBody>
                  <a:tcPr marL="109728" marR="109728" marT="54864" marB="54864" anchor="ctr">
                    <a:lnB w="9525" cap="flat">
                      <a:solidFill>
                        <a:srgbClr val="D5DBDB"/>
                      </a:solidFill>
                    </a:lnB>
                    <a:solidFill>
                      <a:srgbClr val="F2F5F8"/>
                    </a:solidFill>
                  </a:tcPr>
                </a:tc>
              </a:tr>
              <a:tr h="438912">
                <a:tc>
                  <a:txBody>
                    <a:bodyPr wrap="square"/>
                    <a:lstStyle/>
                    <a:p>
                      <a:pPr algn="l"/>
                      <a:r>
                        <a:rPr sz="1300" b="0">
                          <a:solidFill>
                            <a:srgbClr val="1C2833"/>
                          </a:solidFill>
                          <a:latin typeface="Arial"/>
                        </a:rPr>
                        <a:t>Matched JPEG, any arm</a:t>
                      </a:r>
                    </a:p>
                  </a:txBody>
                  <a:tcPr marL="109728" marR="109728" marT="54864" marB="54864" anchor="ctr">
                    <a:lnB w="9525" cap="flat">
                      <a:solidFill>
                        <a:srgbClr val="D5DBDB"/>
                      </a:solidFill>
                    </a:lnB>
                    <a:solidFill>
                      <a:srgbClr val="FFFFFF"/>
                    </a:solidFill>
                  </a:tcPr>
                </a:tc>
                <a:tc>
                  <a:txBody>
                    <a:bodyPr wrap="square"/>
                    <a:lstStyle/>
                    <a:p>
                      <a:pPr algn="ctr"/>
                      <a:r>
                        <a:rPr sz="1300" b="0">
                          <a:solidFill>
                            <a:srgbClr val="1C2833"/>
                          </a:solidFill>
                          <a:latin typeface="Arial"/>
                        </a:rPr>
                        <a:t>at most 0.025</a:t>
                      </a:r>
                    </a:p>
                  </a:txBody>
                  <a:tcPr marL="109728" marR="109728" marT="54864" marB="54864" anchor="ctr">
                    <a:lnB w="9525" cap="flat">
                      <a:solidFill>
                        <a:srgbClr val="D5DBDB"/>
                      </a:solidFill>
                    </a:lnB>
                    <a:solidFill>
                      <a:srgbClr val="FFFFFF"/>
                    </a:solidFill>
                  </a:tcPr>
                </a:tc>
              </a:tr>
              <a:tr h="438912">
                <a:tc>
                  <a:txBody>
                    <a:bodyPr wrap="square"/>
                    <a:lstStyle/>
                    <a:p>
                      <a:pPr algn="l"/>
                      <a:r>
                        <a:rPr sz="1300" b="0">
                          <a:solidFill>
                            <a:srgbClr val="1C2833"/>
                          </a:solidFill>
                          <a:latin typeface="Arial"/>
                        </a:rPr>
                        <a:t>SD v1.4 unseen, combined</a:t>
                      </a:r>
                    </a:p>
                  </a:txBody>
                  <a:tcPr marL="109728" marR="109728" marT="54864" marB="54864" anchor="ctr">
                    <a:lnB w="9525" cap="flat">
                      <a:solidFill>
                        <a:srgbClr val="D5DBDB"/>
                      </a:solidFill>
                    </a:lnB>
                    <a:solidFill>
                      <a:srgbClr val="FFFFFF"/>
                    </a:solidFill>
                  </a:tcPr>
                </a:tc>
                <a:tc>
                  <a:txBody>
                    <a:bodyPr wrap="square"/>
                    <a:lstStyle/>
                    <a:p>
                      <a:pPr algn="ctr"/>
                      <a:r>
                        <a:rPr sz="1300" b="0">
                          <a:solidFill>
                            <a:srgbClr val="1C2833"/>
                          </a:solidFill>
                          <a:latin typeface="Arial"/>
                        </a:rPr>
                        <a:t>−0.078</a:t>
                      </a:r>
                    </a:p>
                  </a:txBody>
                  <a:tcPr marL="109728" marR="109728" marT="54864" marB="54864" anchor="ctr">
                    <a:lnB w="9525" cap="flat">
                      <a:solidFill>
                        <a:srgbClr val="D5DBDB"/>
                      </a:solidFill>
                    </a:lnB>
                    <a:solidFill>
                      <a:srgbClr val="FFFFFF"/>
                    </a:solidFill>
                  </a:tcPr>
                </a:tc>
              </a:tr>
            </a:tbl>
          </a:graphicData>
        </a:graphic>
      </p:graphicFrame>
      <p:sp>
        <p:nvSpPr>
          <p:cNvPr id="25" name="TextBox 2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6" name="TextBox 25"/>
          <p:cNvSpPr txBox="1"/>
          <p:nvPr/>
        </p:nvSpPr>
        <p:spPr>
          <a:xfrm>
            <a:off x="10362895" y="6510528"/>
            <a:ext cx="1280160" cy="237744"/>
          </a:xfrm>
          <a:prstGeom prst="rect">
            <a:avLst/>
          </a:prstGeom>
          <a:noFill/>
        </p:spPr>
        <p:txBody>
          <a:bodyPr wrap="square" lIns="0" rIns="0" tIns="0" bIns="0">
            <a:spAutoFit/>
          </a:bodyPr>
          <a:lstStyle/>
          <a:p>
            <a:r>
              <a:t>7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BigGAN's high-band deficit is consistent with enlargement</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pic>
        <p:nvPicPr>
          <p:cNvPr id="13" name="Picture 12" descr="radial_spectra.png"/>
          <p:cNvPicPr>
            <a:picLocks noChangeAspect="1"/>
          </p:cNvPicPr>
          <p:nvPr/>
        </p:nvPicPr>
        <p:blipFill>
          <a:blip r:embed="rId2"/>
          <a:stretch>
            <a:fillRect/>
          </a:stretch>
        </p:blipFill>
        <p:spPr>
          <a:xfrm>
            <a:off x="548640" y="1429902"/>
            <a:ext cx="11094415" cy="4199364"/>
          </a:xfrm>
          <a:prstGeom prst="rect">
            <a:avLst/>
          </a:prstGeom>
          <a:ln w="9525">
            <a:solidFill>
              <a:srgbClr val="D5DBDB"/>
            </a:solidFill>
          </a:ln>
        </p:spPr>
      </p:pic>
      <p:sp>
        <p:nvSpPr>
          <p:cNvPr id="14" name="TextBox 13"/>
          <p:cNvSpPr txBox="1"/>
          <p:nvPr/>
        </p:nvSpPr>
        <p:spPr>
          <a:xfrm>
            <a:off x="548640" y="5738994"/>
            <a:ext cx="11094415" cy="621792"/>
          </a:xfrm>
          <a:prstGeom prst="rect">
            <a:avLst/>
          </a:prstGeom>
          <a:noFill/>
        </p:spPr>
        <p:txBody>
          <a:bodyPr wrap="square" lIns="0" rIns="0" tIns="0" bIns="0">
            <a:spAutoFit/>
          </a:bodyPr>
          <a:lstStyle/>
          <a:p>
            <a:pPr algn="ctr">
              <a:lnSpc>
                <a:spcPct val="105000"/>
              </a:lnSpc>
            </a:pPr>
            <a:r>
              <a:rPr sz="1200" b="0" i="0">
                <a:solidFill>
                  <a:srgbClr val="5D6D7E"/>
                </a:solidFill>
                <a:latin typeface="Arial"/>
              </a:rPr>
              <a:t>Mean power spectrum per class, all images. Left: BigGAN, the only class enlarged 2x, loses energy above 0.25 cycles/pixel. Right: with the native crop + shared 2x resize, the three fake curves coincide.</a:t>
            </a:r>
          </a:p>
          <a:p>
            <a:pPr algn="ctr">
              <a:lnSpc>
                <a:spcPct val="105000"/>
              </a:lnSpc>
            </a:pPr>
            <a:r>
              <a:rPr sz="1200" b="0" i="0">
                <a:solidFill>
                  <a:srgbClr val="5D6D7E"/>
                </a:solidFill>
                <a:latin typeface="Arial"/>
              </a:rPr>
              <a:t>Source: results/diagnostics/radial_spectra.csv</a:t>
            </a:r>
          </a:p>
        </p:txBody>
      </p:sp>
      <p:sp>
        <p:nvSpPr>
          <p:cNvPr id="15" name="TextBox 1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16" name="TextBox 15"/>
          <p:cNvSpPr txBox="1"/>
          <p:nvPr/>
        </p:nvSpPr>
        <p:spPr>
          <a:xfrm>
            <a:off x="10362895" y="6510528"/>
            <a:ext cx="1280160" cy="237744"/>
          </a:xfrm>
          <a:prstGeom prst="rect">
            <a:avLst/>
          </a:prstGeom>
          <a:noFill/>
        </p:spPr>
        <p:txBody>
          <a:bodyPr wrap="square" lIns="0" rIns="0" tIns="0" bIns="0">
            <a:spAutoFit/>
          </a:bodyPr>
          <a:lstStyle/>
          <a:p>
            <a:r>
              <a:t>Backup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Similar pooled score, different generator results</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pic>
        <p:nvPicPr>
          <p:cNvPr id="13" name="Picture 12" descr="fig_resampling_swap.png"/>
          <p:cNvPicPr>
            <a:picLocks noChangeAspect="1"/>
          </p:cNvPicPr>
          <p:nvPr/>
        </p:nvPicPr>
        <p:blipFill>
          <a:blip r:embed="rId2"/>
          <a:stretch>
            <a:fillRect/>
          </a:stretch>
        </p:blipFill>
        <p:spPr>
          <a:xfrm>
            <a:off x="1092373" y="1325880"/>
            <a:ext cx="10006949" cy="3977639"/>
          </a:xfrm>
          <a:prstGeom prst="rect">
            <a:avLst/>
          </a:prstGeom>
          <a:ln w="9525">
            <a:solidFill>
              <a:srgbClr val="D5DBDB"/>
            </a:solidFill>
          </a:ln>
        </p:spPr>
      </p:pic>
      <p:sp>
        <p:nvSpPr>
          <p:cNvPr id="14" name="TextBox 13"/>
          <p:cNvSpPr txBox="1"/>
          <p:nvPr/>
        </p:nvSpPr>
        <p:spPr>
          <a:xfrm>
            <a:off x="548640" y="5440680"/>
            <a:ext cx="3698138" cy="274320"/>
          </a:xfrm>
          <a:prstGeom prst="rect">
            <a:avLst/>
          </a:prstGeom>
          <a:noFill/>
        </p:spPr>
        <p:txBody>
          <a:bodyPr wrap="square" lIns="0" rIns="0" tIns="0" bIns="0">
            <a:spAutoFit/>
          </a:bodyPr>
          <a:lstStyle/>
          <a:p>
            <a:pPr algn="ctr"/>
            <a:r>
              <a:rPr sz="1250" b="0" i="0">
                <a:solidFill>
                  <a:srgbClr val="5D6D7E"/>
                </a:solidFill>
                <a:latin typeface="Arial"/>
              </a:rPr>
              <a:t>Pooled  ·  combined arm</a:t>
            </a:r>
          </a:p>
        </p:txBody>
      </p:sp>
      <p:sp>
        <p:nvSpPr>
          <p:cNvPr id="15" name="TextBox 14"/>
          <p:cNvSpPr txBox="1"/>
          <p:nvPr/>
        </p:nvSpPr>
        <p:spPr>
          <a:xfrm>
            <a:off x="548640" y="5715000"/>
            <a:ext cx="3698138" cy="457200"/>
          </a:xfrm>
          <a:prstGeom prst="rect">
            <a:avLst/>
          </a:prstGeom>
          <a:noFill/>
        </p:spPr>
        <p:txBody>
          <a:bodyPr wrap="square" lIns="0" rIns="0" tIns="0" bIns="0">
            <a:spAutoFit/>
          </a:bodyPr>
          <a:lstStyle/>
          <a:p>
            <a:pPr algn="ctr"/>
            <a:r>
              <a:rPr sz="2400" b="1" i="0">
                <a:solidFill>
                  <a:srgbClr val="0E7A53"/>
                </a:solidFill>
                <a:latin typeface="Arial"/>
              </a:rPr>
              <a:t>0.796 → 0.802</a:t>
            </a:r>
          </a:p>
        </p:txBody>
      </p:sp>
      <p:sp>
        <p:nvSpPr>
          <p:cNvPr id="16" name="TextBox 15"/>
          <p:cNvSpPr txBox="1"/>
          <p:nvPr/>
        </p:nvSpPr>
        <p:spPr>
          <a:xfrm>
            <a:off x="4246778" y="5440680"/>
            <a:ext cx="3698138" cy="274320"/>
          </a:xfrm>
          <a:prstGeom prst="rect">
            <a:avLst/>
          </a:prstGeom>
          <a:noFill/>
        </p:spPr>
        <p:txBody>
          <a:bodyPr wrap="square" lIns="0" rIns="0" tIns="0" bIns="0">
            <a:spAutoFit/>
          </a:bodyPr>
          <a:lstStyle/>
          <a:p>
            <a:pPr algn="ctr"/>
            <a:r>
              <a:rPr sz="1250" b="0" i="0">
                <a:solidFill>
                  <a:srgbClr val="5D6D7E"/>
                </a:solidFill>
                <a:latin typeface="Arial"/>
              </a:rPr>
              <a:t>BigGAN  ·  frequency arm</a:t>
            </a:r>
          </a:p>
        </p:txBody>
      </p:sp>
      <p:sp>
        <p:nvSpPr>
          <p:cNvPr id="17" name="TextBox 16"/>
          <p:cNvSpPr txBox="1"/>
          <p:nvPr/>
        </p:nvSpPr>
        <p:spPr>
          <a:xfrm>
            <a:off x="4246778" y="5715000"/>
            <a:ext cx="3698138" cy="457200"/>
          </a:xfrm>
          <a:prstGeom prst="rect">
            <a:avLst/>
          </a:prstGeom>
          <a:noFill/>
        </p:spPr>
        <p:txBody>
          <a:bodyPr wrap="square" lIns="0" rIns="0" tIns="0" bIns="0">
            <a:spAutoFit/>
          </a:bodyPr>
          <a:lstStyle/>
          <a:p>
            <a:pPr algn="ctr"/>
            <a:r>
              <a:rPr sz="2400" b="1" i="0">
                <a:solidFill>
                  <a:srgbClr val="B54819"/>
                </a:solidFill>
                <a:latin typeface="Arial"/>
              </a:rPr>
              <a:t>1.000 → 0.828</a:t>
            </a:r>
          </a:p>
        </p:txBody>
      </p:sp>
      <p:sp>
        <p:nvSpPr>
          <p:cNvPr id="18" name="TextBox 17"/>
          <p:cNvSpPr txBox="1"/>
          <p:nvPr/>
        </p:nvSpPr>
        <p:spPr>
          <a:xfrm>
            <a:off x="7944916" y="5440680"/>
            <a:ext cx="3698138" cy="274320"/>
          </a:xfrm>
          <a:prstGeom prst="rect">
            <a:avLst/>
          </a:prstGeom>
          <a:noFill/>
        </p:spPr>
        <p:txBody>
          <a:bodyPr wrap="square" lIns="0" rIns="0" tIns="0" bIns="0">
            <a:spAutoFit/>
          </a:bodyPr>
          <a:lstStyle/>
          <a:p>
            <a:pPr algn="ctr"/>
            <a:r>
              <a:rPr sz="1250" b="0" i="0">
                <a:solidFill>
                  <a:srgbClr val="5D6D7E"/>
                </a:solidFill>
                <a:latin typeface="Arial"/>
              </a:rPr>
              <a:t>Unseen SD v1.4  ·  pixel arm</a:t>
            </a:r>
          </a:p>
        </p:txBody>
      </p:sp>
      <p:sp>
        <p:nvSpPr>
          <p:cNvPr id="19" name="TextBox 18"/>
          <p:cNvSpPr txBox="1"/>
          <p:nvPr/>
        </p:nvSpPr>
        <p:spPr>
          <a:xfrm>
            <a:off x="7944916" y="5715000"/>
            <a:ext cx="3698138" cy="457200"/>
          </a:xfrm>
          <a:prstGeom prst="rect">
            <a:avLst/>
          </a:prstGeom>
          <a:noFill/>
        </p:spPr>
        <p:txBody>
          <a:bodyPr wrap="square" lIns="0" rIns="0" tIns="0" bIns="0">
            <a:spAutoFit/>
          </a:bodyPr>
          <a:lstStyle/>
          <a:p>
            <a:pPr algn="ctr"/>
            <a:r>
              <a:rPr sz="2400" b="1" i="0">
                <a:solidFill>
                  <a:srgbClr val="1F63B8"/>
                </a:solidFill>
                <a:latin typeface="Arial"/>
              </a:rPr>
              <a:t>0.477 → 0.771</a:t>
            </a:r>
          </a:p>
        </p:txBody>
      </p:sp>
      <p:sp>
        <p:nvSpPr>
          <p:cNvPr id="20" name="TextBox 19"/>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1" name="TextBox 20"/>
          <p:cNvSpPr txBox="1"/>
          <p:nvPr/>
        </p:nvSpPr>
        <p:spPr>
          <a:xfrm>
            <a:off x="10362895" y="6510528"/>
            <a:ext cx="1280160" cy="237744"/>
          </a:xfrm>
          <a:prstGeom prst="rect">
            <a:avLst/>
          </a:prstGeom>
          <a:noFill/>
        </p:spPr>
        <p:txBody>
          <a:bodyPr wrap="square" lIns="0" rIns="0" tIns="0" bIns="0">
            <a:spAutoFit/>
          </a:bodyPr>
          <a:lstStyle/>
          <a:p>
            <a:r>
              <a:t>8 / 11</a:t>
            </a:r>
          </a:p>
        </p:txBody>
      </p:sp>
      <p:sp>
        <p:nvSpPr>
          <p:cNvPr id="22" name="TextBox 21"/>
          <p:cNvSpPr txBox="1"/>
          <p:nvPr/>
        </p:nvSpPr>
        <p:spPr>
          <a:xfrm>
            <a:off x="548640" y="5166360"/>
            <a:ext cx="11064240" cy="210312"/>
          </a:xfrm>
          <a:prstGeom prst="rect">
            <a:avLst/>
          </a:prstGeom>
          <a:noFill/>
        </p:spPr>
        <p:txBody>
          <a:bodyPr wrap="none">
            <a:spAutoFit/>
          </a:bodyPr>
          <a:lstStyle/>
          <a:p>
            <a:r>
              <a:rPr sz="1100">
                <a:solidFill>
                  <a:srgbClr val="5D6D7E"/>
                </a:solidFill>
              </a:rPr>
              <a:t>Exploratory D1: 599 test images; crop, reference images and fitted models also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Processing changes scores and decisions</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pic>
        <p:nvPicPr>
          <p:cNvPr id="13" name="Picture 12" descr="fig_effect_sizes.png"/>
          <p:cNvPicPr>
            <a:picLocks noChangeAspect="1"/>
          </p:cNvPicPr>
          <p:nvPr/>
        </p:nvPicPr>
        <p:blipFill>
          <a:blip r:embed="rId2"/>
          <a:stretch>
            <a:fillRect/>
          </a:stretch>
        </p:blipFill>
        <p:spPr>
          <a:xfrm>
            <a:off x="548640" y="1539716"/>
            <a:ext cx="5394960" cy="3934015"/>
          </a:xfrm>
          <a:prstGeom prst="rect">
            <a:avLst/>
          </a:prstGeom>
          <a:ln w="9525">
            <a:solidFill>
              <a:srgbClr val="D5DBDB"/>
            </a:solidFill>
          </a:ln>
        </p:spPr>
      </p:pic>
      <p:sp>
        <p:nvSpPr>
          <p:cNvPr id="14" name="TextBox 13"/>
          <p:cNvSpPr txBox="1"/>
          <p:nvPr/>
        </p:nvSpPr>
        <p:spPr>
          <a:xfrm>
            <a:off x="548640" y="5583459"/>
            <a:ext cx="5394960" cy="621792"/>
          </a:xfrm>
          <a:prstGeom prst="rect">
            <a:avLst/>
          </a:prstGeom>
          <a:noFill/>
        </p:spPr>
        <p:txBody>
          <a:bodyPr wrap="square" lIns="0" rIns="0" tIns="0" bIns="0">
            <a:spAutoFit/>
          </a:bodyPr>
          <a:lstStyle/>
          <a:p>
            <a:pPr algn="ctr">
              <a:lnSpc>
                <a:spcPct val="105000"/>
              </a:lnSpc>
            </a:pPr>
            <a:r>
              <a:rPr sz="1200" b="0" i="0">
                <a:solidFill>
                  <a:srgbClr val="5D6D7E"/>
                </a:solidFill>
                <a:latin typeface="Arial"/>
              </a:rPr>
              <a:t>Each dot: one feature set on one generator; tick = pooled.</a:t>
            </a:r>
          </a:p>
        </p:txBody>
      </p:sp>
      <p:sp>
        <p:nvSpPr>
          <p:cNvPr id="15" name="TextBox 14"/>
          <p:cNvSpPr txBox="1"/>
          <p:nvPr/>
        </p:nvSpPr>
        <p:spPr>
          <a:xfrm>
            <a:off x="6309360" y="1417320"/>
            <a:ext cx="5303520" cy="320040"/>
          </a:xfrm>
          <a:prstGeom prst="rect">
            <a:avLst/>
          </a:prstGeom>
          <a:noFill/>
        </p:spPr>
        <p:txBody>
          <a:bodyPr wrap="square" lIns="0" rIns="0" tIns="0" bIns="0">
            <a:spAutoFit/>
          </a:bodyPr>
          <a:lstStyle/>
          <a:p>
            <a:pPr algn="l"/>
            <a:r>
              <a:rPr sz="1450" b="1" i="0">
                <a:solidFill>
                  <a:srgbClr val="1F3A5F"/>
                </a:solidFill>
                <a:latin typeface="Arial"/>
              </a:rPr>
              <a:t>Which arm looks stronger?  pixel − frequency</a:t>
            </a:r>
          </a:p>
        </p:txBody>
      </p:sp>
      <p:graphicFrame>
        <p:nvGraphicFramePr>
          <p:cNvPr id="16" name="Table 15"/>
          <p:cNvGraphicFramePr>
            <a:graphicFrameLocks noGrp="1"/>
          </p:cNvGraphicFramePr>
          <p:nvPr/>
        </p:nvGraphicFramePr>
        <p:xfrm>
          <a:off x="6309360" y="1828800"/>
          <a:ext cx="5303520" cy="1371600"/>
        </p:xfrm>
        <a:graphic>
          <a:graphicData uri="http://schemas.openxmlformats.org/drawingml/2006/table">
            <a:tbl>
              <a:tblPr firstRow="1" bandRow="1">
                <a:tableStyleId>{5C22544A-7EE6-4342-B048-85BDC9FD1C3A}</a:tableStyleId>
              </a:tblPr>
              <a:tblGrid>
                <a:gridCol w="2011680"/>
                <a:gridCol w="3291840"/>
              </a:tblGrid>
              <a:tr h="457200">
                <a:tc>
                  <a:txBody>
                    <a:bodyPr wrap="square"/>
                    <a:lstStyle/>
                    <a:p>
                      <a:pPr algn="l"/>
                      <a:r>
                        <a:rPr sz="1250" b="1">
                          <a:solidFill>
                            <a:srgbClr val="5D6D7E"/>
                          </a:solidFill>
                          <a:latin typeface="Arial"/>
                        </a:rPr>
                        <a:t>Pipeline</a:t>
                      </a:r>
                    </a:p>
                  </a:txBody>
                  <a:tcPr marL="109728" marR="109728" marT="54864" marB="54864" anchor="ctr">
                    <a:lnB w="9525" cap="flat">
                      <a:solidFill>
                        <a:srgbClr val="D5DBDB"/>
                      </a:solidFill>
                    </a:lnB>
                    <a:solidFill>
                      <a:srgbClr val="F2F5F8"/>
                    </a:solidFill>
                  </a:tcPr>
                </a:tc>
                <a:tc>
                  <a:txBody>
                    <a:bodyPr wrap="square"/>
                    <a:lstStyle/>
                    <a:p>
                      <a:pPr algn="ctr"/>
                      <a:r>
                        <a:rPr sz="1250" b="1">
                          <a:solidFill>
                            <a:srgbClr val="5D6D7E"/>
                          </a:solidFill>
                          <a:latin typeface="Arial"/>
                        </a:rPr>
                        <a:t>AUROC difference [95% CI]</a:t>
                      </a:r>
                    </a:p>
                  </a:txBody>
                  <a:tcPr marL="109728" marR="109728" marT="54864" marB="54864" anchor="ctr">
                    <a:lnB w="9525" cap="flat">
                      <a:solidFill>
                        <a:srgbClr val="D5DBDB"/>
                      </a:solidFill>
                    </a:lnB>
                    <a:solidFill>
                      <a:srgbClr val="F2F5F8"/>
                    </a:solidFill>
                  </a:tcPr>
                </a:tc>
              </a:tr>
              <a:tr h="457200">
                <a:tc>
                  <a:txBody>
                    <a:bodyPr wrap="square"/>
                    <a:lstStyle/>
                    <a:p>
                      <a:pPr algn="l"/>
                      <a:r>
                        <a:rPr sz="1350" b="0">
                          <a:solidFill>
                            <a:srgbClr val="1C2833"/>
                          </a:solidFill>
                          <a:latin typeface="Arial"/>
                        </a:rPr>
                        <a:t>Accepted resize</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B2182B"/>
                          </a:solidFill>
                          <a:latin typeface="Arial"/>
                        </a:rPr>
                        <a:t>−0.088 [−0.130, −0.045]</a:t>
                      </a:r>
                    </a:p>
                  </a:txBody>
                  <a:tcPr marL="109728" marR="109728" marT="54864" marB="54864" anchor="ctr">
                    <a:lnB w="9525" cap="flat">
                      <a:solidFill>
                        <a:srgbClr val="D5DBDB"/>
                      </a:solidFill>
                    </a:lnB>
                    <a:solidFill>
                      <a:srgbClr val="FFFFFF"/>
                    </a:solidFill>
                  </a:tcPr>
                </a:tc>
              </a:tr>
              <a:tr h="457200">
                <a:tc>
                  <a:txBody>
                    <a:bodyPr wrap="square"/>
                    <a:lstStyle/>
                    <a:p>
                      <a:pPr algn="l"/>
                      <a:r>
                        <a:rPr sz="1350" b="0">
                          <a:solidFill>
                            <a:srgbClr val="1C2833"/>
                          </a:solidFill>
                          <a:latin typeface="Arial"/>
                        </a:rPr>
                        <a:t>Same resampling</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+0.022 [−0.015, 0.056]</a:t>
                      </a:r>
                    </a:p>
                  </a:txBody>
                  <a:tcPr marL="109728" marR="109728" marT="54864" marB="54864" anchor="ctr">
                    <a:lnB w="9525" cap="flat">
                      <a:solidFill>
                        <a:srgbClr val="D5DBDB"/>
                      </a:solidFill>
                    </a:lnB>
                    <a:solidFill>
                      <a:srgbClr val="FFFFFF"/>
                    </a:solidFill>
                  </a:tcPr>
                </a:tc>
              </a:tr>
            </a:tbl>
          </a:graphicData>
        </a:graphic>
      </p:graphicFrame>
      <p:sp>
        <p:nvSpPr>
          <p:cNvPr id="17" name="TextBox 16"/>
          <p:cNvSpPr txBox="1"/>
          <p:nvPr/>
        </p:nvSpPr>
        <p:spPr>
          <a:xfrm>
            <a:off x="6309360" y="3520440"/>
            <a:ext cx="5303520" cy="320040"/>
          </a:xfrm>
          <a:prstGeom prst="rect">
            <a:avLst/>
          </a:prstGeom>
          <a:noFill/>
        </p:spPr>
        <p:txBody>
          <a:bodyPr wrap="square" lIns="0" rIns="0" tIns="0" bIns="0">
            <a:spAutoFit/>
          </a:bodyPr>
          <a:lstStyle/>
          <a:p>
            <a:pPr algn="l"/>
            <a:r>
              <a:rPr sz="1450" b="1" i="0">
                <a:solidFill>
                  <a:srgbClr val="1F3A5F"/>
                </a:solidFill>
                <a:latin typeface="Arial"/>
              </a:rPr>
              <a:t>JPEG q50 on the clean model: reals flagged as fake</a:t>
            </a:r>
          </a:p>
        </p:txBody>
      </p:sp>
      <p:graphicFrame>
        <p:nvGraphicFramePr>
          <p:cNvPr id="18" name="Table 17"/>
          <p:cNvGraphicFramePr>
            <a:graphicFrameLocks noGrp="1"/>
          </p:cNvGraphicFramePr>
          <p:nvPr/>
        </p:nvGraphicFramePr>
        <p:xfrm>
          <a:off x="6309360" y="3931920"/>
          <a:ext cx="5303520" cy="1755648"/>
        </p:xfrm>
        <a:graphic>
          <a:graphicData uri="http://schemas.openxmlformats.org/drawingml/2006/table">
            <a:tbl>
              <a:tblPr firstRow="1" bandRow="1">
                <a:tableStyleId>{5C22544A-7EE6-4342-B048-85BDC9FD1C3A}</a:tableStyleId>
              </a:tblPr>
              <a:tblGrid>
                <a:gridCol w="2011680"/>
                <a:gridCol w="1645920"/>
                <a:gridCol w="1645920"/>
              </a:tblGrid>
              <a:tr h="438912">
                <a:tc>
                  <a:txBody>
                    <a:bodyPr wrap="square"/>
                    <a:lstStyle/>
                    <a:p>
                      <a:pPr algn="l"/>
                      <a:r>
                        <a:rPr sz="1250" b="1">
                          <a:solidFill>
                            <a:srgbClr val="5D6D7E"/>
                          </a:solidFill>
                          <a:latin typeface="Arial"/>
                        </a:rPr>
                        <a:t>Arm</a:t>
                      </a:r>
                    </a:p>
                  </a:txBody>
                  <a:tcPr marL="109728" marR="109728" marT="54864" marB="54864" anchor="ctr">
                    <a:lnB w="9525" cap="flat">
                      <a:solidFill>
                        <a:srgbClr val="D5DBDB"/>
                      </a:solidFill>
                    </a:lnB>
                    <a:solidFill>
                      <a:srgbClr val="F2F5F8"/>
                    </a:solidFill>
                  </a:tcPr>
                </a:tc>
                <a:tc>
                  <a:txBody>
                    <a:bodyPr wrap="square"/>
                    <a:lstStyle/>
                    <a:p>
                      <a:pPr algn="ctr"/>
                      <a:r>
                        <a:rPr sz="1250" b="1">
                          <a:solidFill>
                            <a:srgbClr val="5D6D7E"/>
                          </a:solidFill>
                          <a:latin typeface="Arial"/>
                        </a:rPr>
                        <a:t>clean</a:t>
                      </a:r>
                    </a:p>
                  </a:txBody>
                  <a:tcPr marL="109728" marR="109728" marT="54864" marB="54864" anchor="ctr">
                    <a:lnB w="9525" cap="flat">
                      <a:solidFill>
                        <a:srgbClr val="D5DBDB"/>
                      </a:solidFill>
                    </a:lnB>
                    <a:solidFill>
                      <a:srgbClr val="F2F5F8"/>
                    </a:solidFill>
                  </a:tcPr>
                </a:tc>
                <a:tc>
                  <a:txBody>
                    <a:bodyPr wrap="square"/>
                    <a:lstStyle/>
                    <a:p>
                      <a:pPr algn="ctr"/>
                      <a:r>
                        <a:rPr sz="1250" b="1">
                          <a:solidFill>
                            <a:srgbClr val="5D6D7E"/>
                          </a:solidFill>
                          <a:latin typeface="Arial"/>
                        </a:rPr>
                        <a:t>JPEG q50</a:t>
                      </a:r>
                    </a:p>
                  </a:txBody>
                  <a:tcPr marL="109728" marR="109728" marT="54864" marB="54864" anchor="ctr">
                    <a:lnB w="9525" cap="flat">
                      <a:solidFill>
                        <a:srgbClr val="D5DBDB"/>
                      </a:solidFill>
                    </a:lnB>
                    <a:solidFill>
                      <a:srgbClr val="F2F5F8"/>
                    </a:solidFill>
                  </a:tcPr>
                </a:tc>
              </a:tr>
              <a:tr h="438912">
                <a:tc>
                  <a:txBody>
                    <a:bodyPr wrap="square"/>
                    <a:lstStyle/>
                    <a:p>
                      <a:pPr algn="l"/>
                      <a:r>
                        <a:rPr sz="1350" b="0">
                          <a:solidFill>
                            <a:srgbClr val="1C2833"/>
                          </a:solidFill>
                          <a:latin typeface="Arial"/>
                        </a:rPr>
                        <a:t>Pixel</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98 / 300</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B2182B"/>
                          </a:solidFill>
                          <a:latin typeface="Arial"/>
                        </a:rPr>
                        <a:t>157 / 300</a:t>
                      </a:r>
                    </a:p>
                  </a:txBody>
                  <a:tcPr marL="109728" marR="109728" marT="54864" marB="54864" anchor="ctr">
                    <a:lnB w="9525" cap="flat">
                      <a:solidFill>
                        <a:srgbClr val="D5DBDB"/>
                      </a:solidFill>
                    </a:lnB>
                    <a:solidFill>
                      <a:srgbClr val="FFFFFF"/>
                    </a:solidFill>
                  </a:tcPr>
                </a:tc>
              </a:tr>
              <a:tr h="438912">
                <a:tc>
                  <a:txBody>
                    <a:bodyPr wrap="square"/>
                    <a:lstStyle/>
                    <a:p>
                      <a:pPr algn="l"/>
                      <a:r>
                        <a:rPr sz="1350" b="0">
                          <a:solidFill>
                            <a:srgbClr val="1C2833"/>
                          </a:solidFill>
                          <a:latin typeface="Arial"/>
                        </a:rPr>
                        <a:t>Frequency</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14 / 300</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16 / 300</a:t>
                      </a:r>
                    </a:p>
                  </a:txBody>
                  <a:tcPr marL="109728" marR="109728" marT="54864" marB="54864" anchor="ctr">
                    <a:lnB w="9525" cap="flat">
                      <a:solidFill>
                        <a:srgbClr val="D5DBDB"/>
                      </a:solidFill>
                    </a:lnB>
                    <a:solidFill>
                      <a:srgbClr val="FFFFFF"/>
                    </a:solidFill>
                  </a:tcPr>
                </a:tc>
              </a:tr>
              <a:tr h="438912">
                <a:tc>
                  <a:txBody>
                    <a:bodyPr wrap="square"/>
                    <a:lstStyle/>
                    <a:p>
                      <a:pPr algn="l"/>
                      <a:r>
                        <a:rPr sz="1350" b="0">
                          <a:solidFill>
                            <a:srgbClr val="1C2833"/>
                          </a:solidFill>
                          <a:latin typeface="Arial"/>
                        </a:rPr>
                        <a:t>Combined</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37 / 300</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42 / 300</a:t>
                      </a:r>
                    </a:p>
                  </a:txBody>
                  <a:tcPr marL="109728" marR="109728" marT="54864" marB="54864" anchor="ctr">
                    <a:lnB w="9525" cap="flat">
                      <a:solidFill>
                        <a:srgbClr val="D5DBDB"/>
                      </a:solidFill>
                    </a:lnB>
                    <a:solidFill>
                      <a:srgbClr val="FFFFFF"/>
                    </a:solidFill>
                  </a:tcPr>
                </a:tc>
              </a:tr>
            </a:tbl>
          </a:graphicData>
        </a:graphic>
      </p:graphicFrame>
      <p:sp>
        <p:nvSpPr>
          <p:cNvPr id="19" name="TextBox 18"/>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0" name="TextBox 19"/>
          <p:cNvSpPr txBox="1"/>
          <p:nvPr/>
        </p:nvSpPr>
        <p:spPr>
          <a:xfrm>
            <a:off x="10362895" y="6510528"/>
            <a:ext cx="1280160" cy="237744"/>
          </a:xfrm>
          <a:prstGeom prst="rect">
            <a:avLst/>
          </a:prstGeom>
          <a:noFill/>
        </p:spPr>
        <p:txBody>
          <a:bodyPr wrap="square" lIns="0" rIns="0" tIns="0" bIns="0">
            <a:spAutoFit/>
          </a:bodyPr>
          <a:lstStyle/>
          <a:p>
            <a:r>
              <a:t>9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7" name="TextBox 6"/>
          <p:cNvSpPr txBox="1"/>
          <p:nvPr/>
        </p:nvSpPr>
        <p:spPr>
          <a:xfrm>
            <a:off x="8473222" y="256032"/>
            <a:ext cx="1584916" cy="274320"/>
          </a:xfrm>
          <a:prstGeom prst="rect">
            <a:avLst/>
          </a:prstGeom>
          <a:noFill/>
        </p:spPr>
        <p:txBody>
          <a:bodyPr wrap="square" lIns="0" rIns="0" tIns="0" bIns="0">
            <a:spAutoFit/>
          </a:bodyPr>
          <a:lstStyle/>
          <a:p>
            <a:pPr algn="ctr"/>
            <a:r>
              <a:rPr sz="1050" b="1" i="0">
                <a:solidFill>
                  <a:srgbClr val="B2182B"/>
                </a:solidFill>
                <a:latin typeface="Arial"/>
              </a:rPr>
              <a:t>LIMITATIONS</a:t>
            </a:r>
          </a:p>
        </p:txBody>
      </p:sp>
      <p:sp>
        <p:nvSpPr>
          <p:cNvPr id="8" name="Rectangle 7"/>
          <p:cNvSpPr/>
          <p:nvPr/>
        </p:nvSpPr>
        <p:spPr>
          <a:xfrm>
            <a:off x="8701822" y="548640"/>
            <a:ext cx="1127716" cy="28575"/>
          </a:xfrm>
          <a:prstGeom prst="rect">
            <a:avLst/>
          </a:prstGeom>
          <a:solidFill>
            <a:srgbClr val="B2182B"/>
          </a:solidFill>
          <a:ln>
            <a:noFill/>
          </a:ln>
        </p:spPr>
        <p:txBody>
          <a:bodyPr rtlCol="0" anchor="ctr"/>
          <a:lstStyle/>
          <a:p>
            <a:pPr algn="ct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1" i="0">
                <a:solidFill>
                  <a:srgbClr val="B2182B"/>
                </a:solidFill>
                <a:latin typeface="Arial"/>
              </a:rPr>
              <a:t>FUTURE</a:t>
            </a:r>
          </a:p>
        </p:txBody>
      </p:sp>
      <p:sp>
        <p:nvSpPr>
          <p:cNvPr id="10" name="Rectangle 9"/>
          <p:cNvSpPr/>
          <p:nvPr/>
        </p:nvSpPr>
        <p:spPr>
          <a:xfrm>
            <a:off x="10286738" y="548640"/>
            <a:ext cx="1127716" cy="28575"/>
          </a:xfrm>
          <a:prstGeom prst="rect">
            <a:avLst/>
          </a:prstGeom>
          <a:solidFill>
            <a:srgbClr val="B2182B"/>
          </a:solidFill>
          <a:ln>
            <a:noFill/>
          </a:ln>
        </p:spPr>
        <p:txBody>
          <a:bodyPr rtlCol="0" anchor="ctr"/>
          <a:lstStyle/>
          <a:p>
            <a:pPr algn="ctr"/>
          </a:p>
        </p:txBody>
      </p:sp>
      <p:sp>
        <p:nvSpPr>
          <p:cNvPr id="11" name="Rectangle 10"/>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2" name="TextBox 11"/>
          <p:cNvSpPr txBox="1"/>
          <p:nvPr/>
        </p:nvSpPr>
        <p:spPr>
          <a:xfrm>
            <a:off x="548640" y="713232"/>
            <a:ext cx="9144000" cy="548640"/>
          </a:xfrm>
          <a:prstGeom prst="rect">
            <a:avLst/>
          </a:prstGeom>
          <a:noFill/>
        </p:spPr>
        <p:txBody>
          <a:bodyPr wrap="square" lIns="0" rIns="0" tIns="0" bIns="0">
            <a:spAutoFit/>
          </a:bodyPr>
          <a:lstStyle/>
          <a:p>
            <a:pPr algn="l"/>
            <a:r>
              <a:rPr sz="2400" b="1" i="0">
                <a:solidFill>
                  <a:srgbClr val="1F3A5F"/>
                </a:solidFill>
                <a:latin typeface="Georgia"/>
              </a:rPr>
              <a:t>Limitations and planned extensions</a:t>
            </a:r>
          </a:p>
        </p:txBody>
      </p:sp>
      <p:sp>
        <p:nvSpPr>
          <p:cNvPr id="13" name="TextBox 12"/>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sp>
        <p:nvSpPr>
          <p:cNvPr id="14" name="TextBox 13"/>
          <p:cNvSpPr txBox="1"/>
          <p:nvPr/>
        </p:nvSpPr>
        <p:spPr>
          <a:xfrm>
            <a:off x="548640" y="1417320"/>
            <a:ext cx="4846320" cy="320040"/>
          </a:xfrm>
          <a:prstGeom prst="rect">
            <a:avLst/>
          </a:prstGeom>
          <a:noFill/>
        </p:spPr>
        <p:txBody>
          <a:bodyPr wrap="square" lIns="0" rIns="0" tIns="0" bIns="0">
            <a:spAutoFit/>
          </a:bodyPr>
          <a:lstStyle/>
          <a:p>
            <a:pPr algn="l"/>
            <a:r>
              <a:rPr sz="1500" b="1" i="0">
                <a:solidFill>
                  <a:srgbClr val="B2182B"/>
                </a:solidFill>
                <a:latin typeface="Arial"/>
              </a:rPr>
              <a:t>Limitation</a:t>
            </a:r>
          </a:p>
        </p:txBody>
      </p:sp>
      <p:sp>
        <p:nvSpPr>
          <p:cNvPr id="15" name="TextBox 14"/>
          <p:cNvSpPr txBox="1"/>
          <p:nvPr/>
        </p:nvSpPr>
        <p:spPr>
          <a:xfrm>
            <a:off x="6720840" y="1417320"/>
            <a:ext cx="4846320" cy="320040"/>
          </a:xfrm>
          <a:prstGeom prst="rect">
            <a:avLst/>
          </a:prstGeom>
          <a:noFill/>
        </p:spPr>
        <p:txBody>
          <a:bodyPr wrap="square" lIns="0" rIns="0" tIns="0" bIns="0">
            <a:spAutoFit/>
          </a:bodyPr>
          <a:lstStyle/>
          <a:p>
            <a:pPr algn="l"/>
            <a:r>
              <a:rPr sz="1500" b="1" i="0">
                <a:solidFill>
                  <a:srgbClr val="1F3A5F"/>
                </a:solidFill>
                <a:latin typeface="Arial"/>
              </a:rPr>
              <a:t>Planned extension</a:t>
            </a:r>
          </a:p>
        </p:txBody>
      </p:sp>
      <p:sp>
        <p:nvSpPr>
          <p:cNvPr id="16" name="Rounded Rectangle 15"/>
          <p:cNvSpPr/>
          <p:nvPr/>
        </p:nvSpPr>
        <p:spPr>
          <a:xfrm>
            <a:off x="548640" y="1828800"/>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R is post-hoc; crop and models also change</a:t>
            </a:r>
          </a:p>
        </p:txBody>
      </p:sp>
      <p:cxnSp>
        <p:nvCxnSpPr>
          <p:cNvPr id="17" name="Connector 16"/>
          <p:cNvCxnSpPr/>
          <p:nvPr/>
        </p:nvCxnSpPr>
        <p:spPr>
          <a:xfrm>
            <a:off x="5577840" y="2148840"/>
            <a:ext cx="1051560" cy="0"/>
          </a:xfrm>
          <a:prstGeom prst="line">
            <a:avLst/>
          </a:prstGeom>
          <a:ln w="22225">
            <a:solidFill>
              <a:srgbClr val="5D6D7E"/>
            </a:solidFill>
            <a:tailEnd type="triangle" w="med" len="med"/>
          </a:ln>
        </p:spPr>
      </p:cxnSp>
      <p:sp>
        <p:nvSpPr>
          <p:cNvPr id="18" name="Rounded Rectangle 17"/>
          <p:cNvSpPr/>
          <p:nvPr/>
        </p:nvSpPr>
        <p:spPr>
          <a:xfrm>
            <a:off x="6720840" y="1828800"/>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pre-specify comparison with matched field of view</a:t>
            </a:r>
          </a:p>
        </p:txBody>
      </p:sp>
      <p:sp>
        <p:nvSpPr>
          <p:cNvPr id="19" name="Rounded Rectangle 18"/>
          <p:cNvSpPr/>
          <p:nvPr/>
        </p:nvSpPr>
        <p:spPr>
          <a:xfrm>
            <a:off x="548640" y="2670048"/>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only SD v1.4 held out</a:t>
            </a:r>
          </a:p>
        </p:txBody>
      </p:sp>
      <p:cxnSp>
        <p:nvCxnSpPr>
          <p:cNvPr id="20" name="Connector 19"/>
          <p:cNvCxnSpPr/>
          <p:nvPr/>
        </p:nvCxnSpPr>
        <p:spPr>
          <a:xfrm>
            <a:off x="5577840" y="2990088"/>
            <a:ext cx="1051560" cy="0"/>
          </a:xfrm>
          <a:prstGeom prst="line">
            <a:avLst/>
          </a:prstGeom>
          <a:ln w="22225">
            <a:solidFill>
              <a:srgbClr val="5D6D7E"/>
            </a:solidFill>
            <a:tailEnd type="triangle" w="med" len="med"/>
          </a:ln>
        </p:spPr>
      </p:cxnSp>
      <p:sp>
        <p:nvSpPr>
          <p:cNvPr id="21" name="Rounded Rectangle 20"/>
          <p:cNvSpPr/>
          <p:nvPr/>
        </p:nvSpPr>
        <p:spPr>
          <a:xfrm>
            <a:off x="6720840" y="2670048"/>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hold out each generator in turn</a:t>
            </a:r>
          </a:p>
        </p:txBody>
      </p:sp>
      <p:sp>
        <p:nvSpPr>
          <p:cNvPr id="22" name="Rounded Rectangle 21"/>
          <p:cNvSpPr/>
          <p:nvPr/>
        </p:nvSpPr>
        <p:spPr>
          <a:xfrm>
            <a:off x="548640" y="3511296"/>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real and fake content not matched</a:t>
            </a:r>
          </a:p>
        </p:txBody>
      </p:sp>
      <p:cxnSp>
        <p:nvCxnSpPr>
          <p:cNvPr id="23" name="Connector 22"/>
          <p:cNvCxnSpPr/>
          <p:nvPr/>
        </p:nvCxnSpPr>
        <p:spPr>
          <a:xfrm>
            <a:off x="5577840" y="3831336"/>
            <a:ext cx="1051560" cy="0"/>
          </a:xfrm>
          <a:prstGeom prst="line">
            <a:avLst/>
          </a:prstGeom>
          <a:ln w="22225">
            <a:solidFill>
              <a:srgbClr val="5D6D7E"/>
            </a:solidFill>
            <a:tailEnd type="triangle" w="med" len="med"/>
          </a:ln>
        </p:spPr>
      </p:cxnSp>
      <p:sp>
        <p:nvSpPr>
          <p:cNvPr id="24" name="Rounded Rectangle 23"/>
          <p:cNvSpPr/>
          <p:nvPr/>
        </p:nvSpPr>
        <p:spPr>
          <a:xfrm>
            <a:off x="6720840" y="3511296"/>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content-matched real / fake pairs</a:t>
            </a:r>
          </a:p>
        </p:txBody>
      </p:sp>
      <p:sp>
        <p:nvSpPr>
          <p:cNvPr id="25" name="Rounded Rectangle 24"/>
          <p:cNvSpPr/>
          <p:nvPr/>
        </p:nvSpPr>
        <p:spPr>
          <a:xfrm>
            <a:off x="548640" y="4352544"/>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one JPEG encoder (Pillow 4:2:0)</a:t>
            </a:r>
          </a:p>
        </p:txBody>
      </p:sp>
      <p:cxnSp>
        <p:nvCxnSpPr>
          <p:cNvPr id="26" name="Connector 25"/>
          <p:cNvCxnSpPr/>
          <p:nvPr/>
        </p:nvCxnSpPr>
        <p:spPr>
          <a:xfrm>
            <a:off x="5577840" y="4672584"/>
            <a:ext cx="1051560" cy="0"/>
          </a:xfrm>
          <a:prstGeom prst="line">
            <a:avLst/>
          </a:prstGeom>
          <a:ln w="22225">
            <a:solidFill>
              <a:srgbClr val="5D6D7E"/>
            </a:solidFill>
            <a:tailEnd type="triangle" w="med" len="med"/>
          </a:ln>
        </p:spPr>
      </p:cxnSp>
      <p:sp>
        <p:nvSpPr>
          <p:cNvPr id="27" name="Rounded Rectangle 26"/>
          <p:cNvSpPr/>
          <p:nvPr/>
        </p:nvSpPr>
        <p:spPr>
          <a:xfrm>
            <a:off x="6720840" y="4352544"/>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a second encoder and subsampling</a:t>
            </a:r>
          </a:p>
        </p:txBody>
      </p:sp>
      <p:sp>
        <p:nvSpPr>
          <p:cNvPr id="28" name="Rounded Rectangle 27"/>
          <p:cNvSpPr/>
          <p:nvPr/>
        </p:nvSpPr>
        <p:spPr>
          <a:xfrm>
            <a:off x="548640" y="5193792"/>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one dataset, one random split</a:t>
            </a:r>
          </a:p>
        </p:txBody>
      </p:sp>
      <p:cxnSp>
        <p:nvCxnSpPr>
          <p:cNvPr id="29" name="Connector 28"/>
          <p:cNvCxnSpPr/>
          <p:nvPr/>
        </p:nvCxnSpPr>
        <p:spPr>
          <a:xfrm>
            <a:off x="5577840" y="5513832"/>
            <a:ext cx="1051560" cy="0"/>
          </a:xfrm>
          <a:prstGeom prst="line">
            <a:avLst/>
          </a:prstGeom>
          <a:ln w="22225">
            <a:solidFill>
              <a:srgbClr val="5D6D7E"/>
            </a:solidFill>
            <a:tailEnd type="triangle" w="med" len="med"/>
          </a:ln>
        </p:spPr>
      </p:cxnSp>
      <p:sp>
        <p:nvSpPr>
          <p:cNvPr id="30" name="Rounded Rectangle 29"/>
          <p:cNvSpPr/>
          <p:nvPr/>
        </p:nvSpPr>
        <p:spPr>
          <a:xfrm>
            <a:off x="6720840" y="5193792"/>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repeated splits and a second dataset</a:t>
            </a:r>
          </a:p>
        </p:txBody>
      </p:sp>
      <p:sp>
        <p:nvSpPr>
          <p:cNvPr id="31" name="TextBox 30"/>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32" name="TextBox 31"/>
          <p:cNvSpPr txBox="1"/>
          <p:nvPr/>
        </p:nvSpPr>
        <p:spPr>
          <a:xfrm>
            <a:off x="10362895" y="6510528"/>
            <a:ext cx="1280160" cy="237744"/>
          </a:xfrm>
          <a:prstGeom prst="rect">
            <a:avLst/>
          </a:prstGeom>
          <a:noFill/>
        </p:spPr>
        <p:txBody>
          <a:bodyPr wrap="square" lIns="0" rIns="0" tIns="0" bIns="0">
            <a:spAutoFit/>
          </a:bodyPr>
          <a:lstStyle/>
          <a:p>
            <a:r>
              <a:t>10 /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p:spPr>
        <p:txBody>
          <a:bodyPr rtlCol="0" anchor="ctr"/>
          <a:lstStyle/>
          <a:p>
            <a:pPr algn="ctr"/>
          </a:p>
        </p:txBody>
      </p:sp>
      <p:sp>
        <p:nvSpPr>
          <p:cNvPr id="3" name="TextBox 2"/>
          <p:cNvSpPr txBox="1"/>
          <p:nvPr/>
        </p:nvSpPr>
        <p:spPr>
          <a:xfrm>
            <a:off x="548640" y="1463040"/>
            <a:ext cx="10972800" cy="1508760"/>
          </a:xfrm>
          <a:prstGeom prst="rect">
            <a:avLst/>
          </a:prstGeom>
          <a:noFill/>
        </p:spPr>
        <p:txBody>
          <a:bodyPr wrap="square" lIns="0" rIns="0" tIns="0" bIns="0">
            <a:spAutoFit/>
          </a:bodyPr>
          <a:lstStyle/>
          <a:p>
            <a:pPr algn="l">
              <a:lnSpc>
                <a:spcPct val="110000"/>
              </a:lnSpc>
            </a:pPr>
            <a:r>
              <a:rPr sz="3600" b="1" i="0">
                <a:solidFill>
                  <a:srgbClr val="FFFFFF"/>
                </a:solidFill>
                <a:latin typeface="Georgia"/>
              </a:rPr>
              <a:t>A pooled score cannot tell you what</a:t>
            </a:r>
          </a:p>
          <a:p>
            <a:pPr algn="l">
              <a:lnSpc>
                <a:spcPct val="110000"/>
              </a:lnSpc>
            </a:pPr>
            <a:r>
              <a:rPr sz="3600" b="1" i="0">
                <a:solidFill>
                  <a:srgbClr val="FFFFFF"/>
                </a:solidFill>
                <a:latin typeface="Georgia"/>
              </a:rPr>
              <a:t>simple features detect.</a:t>
            </a:r>
          </a:p>
        </p:txBody>
      </p:sp>
      <p:sp>
        <p:nvSpPr>
          <p:cNvPr id="4" name="TextBox 3"/>
          <p:cNvSpPr txBox="1"/>
          <p:nvPr/>
        </p:nvSpPr>
        <p:spPr>
          <a:xfrm>
            <a:off x="548640" y="3063240"/>
            <a:ext cx="10972800" cy="457200"/>
          </a:xfrm>
          <a:prstGeom prst="rect">
            <a:avLst/>
          </a:prstGeom>
          <a:noFill/>
        </p:spPr>
        <p:txBody>
          <a:bodyPr wrap="square" lIns="0" rIns="0" tIns="0" bIns="0">
            <a:spAutoFit/>
          </a:bodyPr>
          <a:lstStyle/>
          <a:p>
            <a:pPr algn="l"/>
            <a:r>
              <a:rPr sz="2000" b="0" i="0">
                <a:solidFill>
                  <a:srgbClr val="ABB7C4"/>
                </a:solidFill>
                <a:latin typeface="Arial"/>
              </a:rPr>
              <a:t>Report resampling history, and report per generator.</a:t>
            </a:r>
          </a:p>
        </p:txBody>
      </p:sp>
      <p:sp>
        <p:nvSpPr>
          <p:cNvPr id="5" name="TextBox 4"/>
          <p:cNvSpPr txBox="1"/>
          <p:nvPr/>
        </p:nvSpPr>
        <p:spPr>
          <a:xfrm>
            <a:off x="548640" y="4069080"/>
            <a:ext cx="10515600" cy="914400"/>
          </a:xfrm>
          <a:prstGeom prst="rect">
            <a:avLst/>
          </a:prstGeom>
          <a:noFill/>
        </p:spPr>
        <p:txBody>
          <a:bodyPr wrap="square" lIns="0" rIns="0" tIns="0" bIns="0">
            <a:spAutoFit/>
          </a:bodyPr>
          <a:lstStyle/>
          <a:p>
            <a:pPr algn="l">
              <a:lnSpc>
                <a:spcPct val="130000"/>
              </a:lnSpc>
            </a:pPr>
            <a:r>
              <a:rPr sz="1600" b="0">
                <a:solidFill>
                  <a:srgbClr val="ABB7C4"/>
                </a:solidFill>
                <a:latin typeface="Arial"/>
              </a:rPr>
              <a:t>Combined features scored best pooled (</a:t>
            </a:r>
            <a:r>
              <a:rPr sz="1600" b="1">
                <a:solidFill>
                  <a:srgbClr val="FFFFFF"/>
                </a:solidFill>
                <a:latin typeface="Arial"/>
              </a:rPr>
              <a:t>0.793</a:t>
            </a:r>
            <a:r>
              <a:rPr sz="1600" b="0">
                <a:solidFill>
                  <a:srgbClr val="ABB7C4"/>
                </a:solidFill>
                <a:latin typeface="Arial"/>
              </a:rPr>
              <a:t>; </a:t>
            </a:r>
            <a:r>
              <a:rPr sz="1600" b="1">
                <a:solidFill>
                  <a:srgbClr val="FFFFFF"/>
                </a:solidFill>
                <a:latin typeface="Arial"/>
              </a:rPr>
              <a:t>0.629</a:t>
            </a:r>
            <a:r>
              <a:rPr sz="1600" b="0">
                <a:solidFill>
                  <a:srgbClr val="ABB7C4"/>
                </a:solidFill>
                <a:latin typeface="Arial"/>
              </a:rPr>
              <a:t> on an unseen generator under JPEG 75), yet the same pooled score hid per-generator changes of </a:t>
            </a:r>
            <a:r>
              <a:rPr sz="1600" b="1">
                <a:solidFill>
                  <a:srgbClr val="FFFFFF"/>
                </a:solidFill>
                <a:latin typeface="Arial"/>
              </a:rPr>
              <a:t>−0.17 to +0.30</a:t>
            </a:r>
            <a:r>
              <a:rPr sz="1600" b="0">
                <a:solidFill>
                  <a:srgbClr val="ABB7C4"/>
                </a:solidFill>
                <a:latin typeface="Arial"/>
              </a:rPr>
              <a:t>.</a:t>
            </a:r>
          </a:p>
        </p:txBody>
      </p:sp>
      <p:sp>
        <p:nvSpPr>
          <p:cNvPr id="6" name="TextBox 5"/>
          <p:cNvSpPr txBox="1"/>
          <p:nvPr/>
        </p:nvSpPr>
        <p:spPr>
          <a:xfrm>
            <a:off x="548640" y="5669280"/>
            <a:ext cx="10972800" cy="365760"/>
          </a:xfrm>
          <a:prstGeom prst="rect">
            <a:avLst/>
          </a:prstGeom>
          <a:noFill/>
        </p:spPr>
        <p:txBody>
          <a:bodyPr wrap="square" lIns="0" rIns="0" tIns="0" bIns="0">
            <a:spAutoFit/>
          </a:bodyPr>
          <a:lstStyle/>
          <a:p>
            <a:pPr algn="l"/>
            <a:r>
              <a:rPr sz="1800" b="1" i="0">
                <a:solidFill>
                  <a:srgbClr val="FFFFFF"/>
                </a:solidFill>
                <a:latin typeface="Georgia"/>
              </a:rPr>
              <a:t>Thank you  ·  questions?</a:t>
            </a:r>
          </a:p>
        </p:txBody>
      </p:sp>
      <p:sp>
        <p:nvSpPr>
          <p:cNvPr id="7" name="TextBox 6"/>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ABB7C4"/>
                </a:solidFill>
                <a:latin typeface="Arial"/>
              </a:rPr>
              <a:t>CSE 4883 Digital Image Processing  ·  Same score, different story</a:t>
            </a:r>
          </a:p>
        </p:txBody>
      </p:sp>
      <p:sp>
        <p:nvSpPr>
          <p:cNvPr id="8" name="TextBox 7"/>
          <p:cNvSpPr txBox="1"/>
          <p:nvPr/>
        </p:nvSpPr>
        <p:spPr>
          <a:xfrm>
            <a:off x="10362895" y="6510528"/>
            <a:ext cx="1280160" cy="237744"/>
          </a:xfrm>
          <a:prstGeom prst="rect">
            <a:avLst/>
          </a:prstGeom>
          <a:noFill/>
        </p:spPr>
        <p:txBody>
          <a:bodyPr wrap="square" lIns="0" rIns="0" tIns="0" bIns="0">
            <a:spAutoFit/>
          </a:bodyPr>
          <a:lstStyle/>
          <a:p>
            <a: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